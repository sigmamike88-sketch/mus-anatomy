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353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3" r:id="rId21"/>
    <p:sldId id="384" r:id="rId22"/>
    <p:sldId id="385" r:id="rId23"/>
    <p:sldId id="386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394" r:id="rId32"/>
    <p:sldId id="396" r:id="rId33"/>
    <p:sldId id="397" r:id="rId35"/>
    <p:sldId id="398" r:id="rId36"/>
    <p:sldId id="399" r:id="rId37"/>
    <p:sldId id="400" r:id="rId38"/>
    <p:sldId id="401" r:id="rId39"/>
    <p:sldId id="402" r:id="rId40"/>
    <p:sldId id="404" r:id="rId41"/>
    <p:sldId id="405" r:id="rId42"/>
    <p:sldId id="406" r:id="rId43"/>
    <p:sldId id="407" r:id="rId44"/>
    <p:sldId id="408" r:id="rId45"/>
    <p:sldId id="409" r:id="rId46"/>
    <p:sldId id="410" r:id="rId47"/>
    <p:sldId id="411" r:id="rId48"/>
    <p:sldId id="412" r:id="rId49"/>
    <p:sldId id="413" r:id="rId50"/>
    <p:sldId id="414" r:id="rId51"/>
    <p:sldId id="41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862D-8B54-4CDD-8F85-E7AD9CD9322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F300F-BBDA-4407-AF8A-C7FA6ABBCE8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A79F4-6704-450A-AD32-4D29671138E9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4C11-C584-4F7E-B6BF-F773E27A3577}" type="datetime1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ABE656-228C-406A-9A57-1E237FF79507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2B08-2F63-41F8-A383-29486B53222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B01A-E40F-41B6-A05B-AE2D1C4DEEC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CA23-3469-43D1-A552-179F4BEC6B6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B66BE-CE19-4735-90F2-231AC62970B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1C05-A31B-4359-8FAE-3CB8B5CFDAF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3FAE-45AF-439C-A762-EC6468E0908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5D080-A202-46A6-BCC7-3C49A4836C8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E182-3362-4A56-A8EC-155D9CF3D658}" type="datetime1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>
                <a:solidFill>
                  <a:srgbClr val="F4E7ED"/>
                </a:solidFill>
              </a:rPr>
              <a:t>By: Rebuma S(MSc, MPHE)</a:t>
            </a:r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2A81-38DA-4869-99E7-93B9EF4336C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2914-A835-49B3-B46C-8AF56C7D74A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B9E90-4952-4089-8DAF-AC643F5A865A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F5B8F-EA73-40E0-A31A-5073FE3D67FE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740CBA6-71A9-4133-9A2A-719A02FDF8B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69D8412-A232-4D6F-BEE2-F8F1A41323B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0887C-0AD0-4570-984E-713F7989786D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85E59-99A9-49A2-B699-54E56DB16675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243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168A5B9-7AF8-4CD4-82E5-647AB487994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959A138-7F5E-44B8-877C-D89754D9637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A59C65B-B0B8-4F08-B9D0-2B8B50D824D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F273128-4E4D-489D-882C-97F09F4242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229600" cy="6096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br>
              <a:rPr lang="en-US" sz="3200" b="1" dirty="0" smtClean="0">
                <a:solidFill>
                  <a:srgbClr val="FF0000"/>
                </a:solidFill>
              </a:rPr>
            </a:br>
            <a:r>
              <a:rPr lang="en-US" sz="3200" b="1" dirty="0" smtClean="0">
                <a:solidFill>
                  <a:srgbClr val="FF0000"/>
                </a:solidFill>
              </a:rPr>
              <a:t>Anterior Axio-Appendicular Muscles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305800" cy="51054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 dirty="0" smtClean="0"/>
              <a:t>Four muscles that move the pectoral girdle</a:t>
            </a:r>
            <a:endParaRPr lang="en-US" sz="3200" dirty="0" smtClean="0"/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Pectoralis major </a:t>
            </a:r>
            <a:endParaRPr lang="en-US" sz="2800" dirty="0" smtClean="0">
              <a:solidFill>
                <a:schemeClr val="tx1"/>
              </a:solidFill>
            </a:endParaRP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Pectoralis minor</a:t>
            </a:r>
            <a:endParaRPr lang="en-US" sz="2800" dirty="0" smtClean="0">
              <a:solidFill>
                <a:schemeClr val="tx1"/>
              </a:solidFill>
            </a:endParaRP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Subclavius</a:t>
            </a:r>
            <a:endParaRPr lang="en-US" sz="2800" dirty="0" smtClean="0">
              <a:solidFill>
                <a:schemeClr val="tx1"/>
              </a:solidFill>
            </a:endParaRP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Serratus anterior</a:t>
            </a:r>
            <a:endParaRPr lang="en-US" sz="28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BAC9D-C102-4EB6-A6D7-607A9A62535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868362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FF0000"/>
                </a:solidFill>
                <a:latin typeface="Bookman Old Style" panose="02050604050505020204" pitchFamily="18" charset="0"/>
              </a:rPr>
              <a:t>        Pectoralis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major</a:t>
            </a:r>
            <a:endParaRPr lang="en-US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3D9D-5F09-4031-BECA-180D58359154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001000" cy="5486400"/>
          </a:xfrm>
          <a:ln>
            <a:noFill/>
          </a:ln>
        </p:spPr>
        <p:txBody>
          <a:bodyPr>
            <a:normAutofit lnSpcReduction="10000"/>
          </a:bodyPr>
          <a:lstStyle/>
          <a:p>
            <a:r>
              <a:rPr lang="en-US" sz="2800" dirty="0"/>
              <a:t>Fan-shaped</a:t>
            </a:r>
            <a:endParaRPr lang="en-US" sz="2800" dirty="0"/>
          </a:p>
          <a:p>
            <a:r>
              <a:rPr lang="en-US" sz="2800" dirty="0"/>
              <a:t>Covers superior part of thorax</a:t>
            </a:r>
            <a:endParaRPr lang="en-US" sz="2800" dirty="0"/>
          </a:p>
          <a:p>
            <a:r>
              <a:rPr lang="en-US" sz="2800" dirty="0"/>
              <a:t>Lateral border forms anterior wall of axilla (anterior axillary fold)</a:t>
            </a:r>
            <a:endParaRPr lang="en-US" sz="2800" dirty="0"/>
          </a:p>
          <a:p>
            <a:r>
              <a:rPr lang="en-US" sz="2800" dirty="0"/>
              <a:t>With deltoid form </a:t>
            </a:r>
            <a:r>
              <a:rPr lang="en-US" sz="2800" dirty="0">
                <a:solidFill>
                  <a:srgbClr val="FF0000"/>
                </a:solidFill>
              </a:rPr>
              <a:t>deltopectoral</a:t>
            </a:r>
            <a:r>
              <a:rPr lang="en-US" sz="2800" dirty="0"/>
              <a:t> groove</a:t>
            </a:r>
            <a:endParaRPr lang="en-US" sz="2800" dirty="0"/>
          </a:p>
          <a:p>
            <a:pPr lvl="2"/>
            <a:r>
              <a:rPr lang="en-US" sz="2200" dirty="0" smtClean="0"/>
              <a:t>In which the cephalic vein runs</a:t>
            </a:r>
            <a:endParaRPr lang="en-US" sz="2200" dirty="0" smtClean="0"/>
          </a:p>
          <a:p>
            <a:r>
              <a:rPr lang="en-US" sz="2800" dirty="0" smtClean="0"/>
              <a:t>diverge slightly from deltoid superiorly and, along with the clavicle, form the </a:t>
            </a:r>
            <a:r>
              <a:rPr lang="en-US" sz="2800" b="1" dirty="0" err="1" smtClean="0">
                <a:solidFill>
                  <a:srgbClr val="FF0000"/>
                </a:solidFill>
              </a:rPr>
              <a:t>clavipectoral</a:t>
            </a:r>
            <a:r>
              <a:rPr lang="en-US" sz="2800" b="1" dirty="0" smtClean="0">
                <a:solidFill>
                  <a:srgbClr val="FF0000"/>
                </a:solidFill>
              </a:rPr>
              <a:t> (</a:t>
            </a:r>
            <a:r>
              <a:rPr lang="en-US" sz="2800" b="1" dirty="0" err="1" smtClean="0">
                <a:solidFill>
                  <a:srgbClr val="FF0000"/>
                </a:solidFill>
              </a:rPr>
              <a:t>deltopectoral</a:t>
            </a:r>
            <a:r>
              <a:rPr lang="en-US" sz="2800" b="1" dirty="0" smtClean="0">
                <a:solidFill>
                  <a:srgbClr val="FF0000"/>
                </a:solidFill>
              </a:rPr>
              <a:t>) triangle.</a:t>
            </a:r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dirty="0"/>
              <a:t>Origin </a:t>
            </a:r>
            <a:endParaRPr lang="en-US" sz="2800" dirty="0"/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Clavicular head: medial half of clavicle 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Sternocostal head: sternum, superior six costal cartilages, aponeurosis of external oblique muscle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3B2B-9691-4A08-A84F-437C14D54BC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Pectoralis major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33400" y="1061319"/>
            <a:ext cx="8305800" cy="50716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D976-64D5-440A-A8CA-5CED65F149C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B801-46EC-47AF-BAE9-073C0A78AACB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417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8229600" cy="3505200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Insertion 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 err="1"/>
              <a:t>Intertubercular</a:t>
            </a:r>
            <a:r>
              <a:rPr lang="en-US" dirty="0"/>
              <a:t> groove of humerus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Innervation 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Lateral and medial pectoral nerves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Action   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b="1" dirty="0"/>
              <a:t>Adducts and medially rotates humerus; draws scapula anteriorly and inferiorly</a:t>
            </a:r>
            <a:endParaRPr lang="en-US" b="1" dirty="0"/>
          </a:p>
          <a:p>
            <a:pPr lvl="1"/>
            <a:r>
              <a:rPr lang="en-US" b="1" dirty="0"/>
              <a:t>Acting alone, </a:t>
            </a:r>
            <a:r>
              <a:rPr lang="en-US" b="1" dirty="0" err="1">
                <a:solidFill>
                  <a:srgbClr val="FF0000"/>
                </a:solidFill>
              </a:rPr>
              <a:t>clavicular</a:t>
            </a:r>
            <a:r>
              <a:rPr lang="en-US" b="1" dirty="0"/>
              <a:t> head </a:t>
            </a:r>
            <a:r>
              <a:rPr lang="en-US" b="1" dirty="0">
                <a:solidFill>
                  <a:srgbClr val="FF0000"/>
                </a:solidFill>
              </a:rPr>
              <a:t>flexes</a:t>
            </a:r>
            <a:r>
              <a:rPr lang="en-US" b="1" dirty="0"/>
              <a:t> humerus and </a:t>
            </a:r>
            <a:r>
              <a:rPr lang="en-US" b="1" dirty="0">
                <a:solidFill>
                  <a:srgbClr val="FF0000"/>
                </a:solidFill>
              </a:rPr>
              <a:t>sternocostal</a:t>
            </a:r>
            <a:r>
              <a:rPr lang="en-US" b="1" dirty="0"/>
              <a:t> head </a:t>
            </a:r>
            <a:r>
              <a:rPr lang="en-US" b="1" dirty="0">
                <a:solidFill>
                  <a:srgbClr val="FF0000"/>
                </a:solidFill>
              </a:rPr>
              <a:t>extends</a:t>
            </a:r>
            <a:r>
              <a:rPr lang="en-US" b="1" dirty="0"/>
              <a:t> it from the flexed position </a:t>
            </a:r>
            <a:endParaRPr lang="en-US" b="1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653160" y="3505200"/>
            <a:ext cx="5490839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23F2-6328-4DA8-A022-64BAB794E45A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3260" y="152400"/>
            <a:ext cx="8892858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0FEC-C5FD-4F36-85E9-22F12F6B68B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609600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  <a:latin typeface="Bookman Old Style" panose="02050604050505020204" pitchFamily="18" charset="0"/>
              </a:rPr>
              <a:t>Pectoralis</a:t>
            </a:r>
            <a:r>
              <a:rPr lang="en-US" b="1" dirty="0" smtClean="0">
                <a:solidFill>
                  <a:srgbClr val="FF0000"/>
                </a:solidFill>
                <a:latin typeface="Bookman Old Style" panose="02050604050505020204" pitchFamily="18" charset="0"/>
              </a:rPr>
              <a:t> minor</a:t>
            </a:r>
            <a:endParaRPr lang="en-US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838200"/>
            <a:ext cx="4724400" cy="5486400"/>
          </a:xfrm>
          <a:ln>
            <a:noFill/>
          </a:ln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Triangular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Lies in anterior wall of </a:t>
            </a:r>
            <a:r>
              <a:rPr lang="en-US" dirty="0" err="1" smtClean="0"/>
              <a:t>axilla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Covered by pectoralis major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Origin</a:t>
            </a:r>
            <a:r>
              <a:rPr lang="en-US" dirty="0" smtClean="0"/>
              <a:t>: 3rd to 5th ribs near their costal cartilages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Insertion</a:t>
            </a:r>
            <a:r>
              <a:rPr lang="en-US" dirty="0" smtClean="0"/>
              <a:t>: coracoid process of scapula 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Innervation</a:t>
            </a:r>
            <a:r>
              <a:rPr lang="en-US" dirty="0" smtClean="0"/>
              <a:t>: Medial pectoral nerve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Action</a:t>
            </a:r>
            <a:r>
              <a:rPr lang="en-US" dirty="0" smtClean="0"/>
              <a:t>: 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Stabilizes scapula by drawing it inferiorly and anteriorly against thoracic wall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Elevates ribs in forced inspiration 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724400" y="1106260"/>
            <a:ext cx="4419599" cy="575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724400" y="5842337"/>
            <a:ext cx="4191000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It is used when stretching the upper limb forward to touch an object that is just out of reach. 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DC22-831B-4EEE-8190-DA8A80E6A6A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762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                  </a:t>
            </a:r>
            <a:r>
              <a:rPr lang="en-US" b="1" dirty="0" smtClean="0">
                <a:solidFill>
                  <a:srgbClr val="FF0000"/>
                </a:solidFill>
                <a:latin typeface="Bookman Old Style" panose="02050604050505020204" pitchFamily="18" charset="0"/>
              </a:rPr>
              <a:t>Subclavius</a:t>
            </a:r>
            <a:endParaRPr lang="en-US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762000"/>
            <a:ext cx="4648200" cy="6096000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Lies horizontally inferior to clavicle 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Small, round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Protect subclavian vessels and superior trunk of brachial plexus 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Origin</a:t>
            </a:r>
            <a:r>
              <a:rPr lang="en-US" dirty="0" smtClean="0"/>
              <a:t>: Junction of 1st rib and its costal cartilage 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Insertion</a:t>
            </a:r>
            <a:r>
              <a:rPr lang="en-US" dirty="0" smtClean="0"/>
              <a:t>: Inferior surface of middle third of clavicle 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Innervation</a:t>
            </a:r>
            <a:r>
              <a:rPr lang="en-US" dirty="0" smtClean="0"/>
              <a:t>: Nerve to subclavius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Action: Anchors and depresses clavicle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200" y="1295400"/>
            <a:ext cx="4495800" cy="55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8F066-6BD1-42E9-B7AB-8747403DD3C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  <a:latin typeface="Bookman Old Style" panose="02050604050505020204" pitchFamily="18" charset="0"/>
              </a:rPr>
              <a:t>Serratus</a:t>
            </a:r>
            <a:r>
              <a:rPr lang="en-US" b="1" dirty="0" smtClean="0">
                <a:solidFill>
                  <a:srgbClr val="FF0000"/>
                </a:solidFill>
                <a:latin typeface="Bookman Old Style" panose="02050604050505020204" pitchFamily="18" charset="0"/>
              </a:rPr>
              <a:t> anterior</a:t>
            </a:r>
            <a:endParaRPr lang="en-US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838200"/>
            <a:ext cx="4876800" cy="6019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 smtClean="0"/>
              <a:t>Overlies lateral part of thorax</a:t>
            </a:r>
            <a:endParaRPr lang="en-US" sz="2400" dirty="0" smtClean="0"/>
          </a:p>
          <a:p>
            <a:r>
              <a:rPr lang="en-US" sz="2400" dirty="0" smtClean="0"/>
              <a:t>Forms medial wall of </a:t>
            </a:r>
            <a:r>
              <a:rPr lang="en-US" sz="2400" dirty="0" err="1" smtClean="0"/>
              <a:t>axilla</a:t>
            </a:r>
            <a:endParaRPr lang="en-US" sz="2400" dirty="0" smtClean="0"/>
          </a:p>
          <a:p>
            <a:r>
              <a:rPr lang="en-US" sz="2400" dirty="0" smtClean="0"/>
              <a:t>Anchors scapula, enabling other muscles to use it as a fixed bone for movement of humerus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Origin</a:t>
            </a:r>
            <a:r>
              <a:rPr lang="en-US" sz="2400" dirty="0" smtClean="0"/>
              <a:t>: External surfaces of lateral parts of 1st to 8th ribs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Insertion</a:t>
            </a:r>
            <a:r>
              <a:rPr lang="en-US" sz="2400" dirty="0" smtClean="0"/>
              <a:t>: Anterior surface of medial border of scapula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Innervation</a:t>
            </a:r>
            <a:r>
              <a:rPr lang="en-US" sz="2400" dirty="0" smtClean="0"/>
              <a:t>: Long thoracic nerve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Action</a:t>
            </a:r>
            <a:r>
              <a:rPr lang="en-US" sz="2400" dirty="0" smtClean="0"/>
              <a:t>: Protracts scapula and holds it against thoracic wall; rotates scapula </a:t>
            </a:r>
            <a:endParaRPr lang="en-US" sz="2400" dirty="0" smtClean="0"/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76708" y="1752600"/>
            <a:ext cx="4267292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BF34-153E-4C7B-AD48-FB43A542C1F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8153400" cy="76200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rgbClr val="FF0000"/>
                </a:solidFill>
                <a:latin typeface="Bookman Old Style" panose="02050604050505020204" pitchFamily="18" charset="0"/>
              </a:rPr>
              <a:t>Paralysis </a:t>
            </a:r>
            <a:r>
              <a:rPr lang="en-US" sz="3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of </a:t>
            </a:r>
            <a:r>
              <a:rPr lang="en-US" sz="32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serratus</a:t>
            </a:r>
            <a:r>
              <a:rPr lang="en-US" sz="3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anterior </a:t>
            </a:r>
            <a:endParaRPr lang="en-US" sz="32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3258-5908-4EEA-9CBD-286958738A9F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8499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>
          <a:xfrm>
            <a:off x="1264953" y="2406482"/>
            <a:ext cx="3048568" cy="2654636"/>
          </a:xfrm>
          <a:noFill/>
          <a:ln>
            <a:noFill/>
          </a:ln>
        </p:spPr>
      </p:pic>
      <p:sp>
        <p:nvSpPr>
          <p:cNvPr id="84996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0" y="762000"/>
            <a:ext cx="4572000" cy="6096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/>
              <a:t>long thoracic nerve </a:t>
            </a:r>
            <a:r>
              <a:rPr lang="en-US" dirty="0" smtClean="0">
                <a:solidFill>
                  <a:srgbClr val="FF0000"/>
                </a:solidFill>
              </a:rPr>
              <a:t>pass on the superficial aspect of </a:t>
            </a:r>
            <a:r>
              <a:rPr lang="en-US" dirty="0" err="1" smtClean="0">
                <a:solidFill>
                  <a:srgbClr val="FF0000"/>
                </a:solidFill>
              </a:rPr>
              <a:t>serratus</a:t>
            </a:r>
            <a:r>
              <a:rPr lang="en-US" dirty="0" smtClean="0">
                <a:solidFill>
                  <a:srgbClr val="FF0000"/>
                </a:solidFill>
              </a:rPr>
              <a:t> anterior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Due to injury of long thoracic nerve</a:t>
            </a:r>
            <a:endParaRPr lang="en-US" dirty="0" smtClean="0"/>
          </a:p>
          <a:p>
            <a:r>
              <a:rPr lang="en-US" dirty="0" smtClean="0"/>
              <a:t>Medial </a:t>
            </a:r>
            <a:r>
              <a:rPr lang="en-US" dirty="0"/>
              <a:t>border of the scapula moves laterally and posteriorly away from thoracic wall</a:t>
            </a:r>
            <a:endParaRPr lang="en-US" dirty="0"/>
          </a:p>
          <a:p>
            <a:pPr lvl="1"/>
            <a:r>
              <a:rPr lang="en-US" sz="2800" b="1" dirty="0">
                <a:solidFill>
                  <a:srgbClr val="FF0000"/>
                </a:solidFill>
              </a:rPr>
              <a:t>winged scapula</a:t>
            </a:r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dirty="0"/>
              <a:t>Arm cannot be abducted above horizontal </a:t>
            </a:r>
            <a:r>
              <a:rPr lang="en-US" dirty="0" smtClean="0"/>
              <a:t>position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5A82-6CE0-42D4-B959-51922DC1FC1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8153400" cy="76200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2800" b="1" dirty="0" smtClean="0">
                <a:solidFill>
                  <a:srgbClr val="FF0000"/>
                </a:solidFill>
                <a:latin typeface="Baskerville Old Face" panose="02020602080505020303" pitchFamily="18" charset="0"/>
              </a:rPr>
              <a:t>  Posterior </a:t>
            </a:r>
            <a:r>
              <a:rPr lang="en-US" sz="28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Axioappendicular Muscles</a:t>
            </a:r>
            <a:endParaRPr lang="en-US" sz="2800" b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3FD07-7E4F-4A14-A972-151ED125EBC2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914400"/>
            <a:ext cx="8229600" cy="59436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Attach the superior appendicular skeleton to the axial skeleton  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Divided into three groups </a:t>
            </a:r>
            <a:endParaRPr lang="en-US" dirty="0">
              <a:effectLst/>
            </a:endParaRPr>
          </a:p>
          <a:p>
            <a:pPr lvl="1"/>
            <a:endParaRPr lang="en-US" dirty="0" smtClean="0">
              <a:effectLst/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  <a:effectLst/>
              </a:rPr>
              <a:t>Superficial</a:t>
            </a:r>
            <a:r>
              <a:rPr lang="en-US" dirty="0" smtClean="0">
                <a:effectLst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</a:rPr>
              <a:t>(extrinsic shoulder) muscles : </a:t>
            </a:r>
            <a:r>
              <a:rPr lang="en-US" dirty="0" err="1">
                <a:solidFill>
                  <a:schemeClr val="tx1"/>
                </a:solidFill>
                <a:effectLst/>
              </a:rPr>
              <a:t>trapezius</a:t>
            </a:r>
            <a:r>
              <a:rPr lang="en-US" dirty="0">
                <a:solidFill>
                  <a:schemeClr val="tx1"/>
                </a:solidFill>
                <a:effectLst/>
              </a:rPr>
              <a:t> and </a:t>
            </a:r>
            <a:r>
              <a:rPr lang="en-US" dirty="0" err="1">
                <a:solidFill>
                  <a:schemeClr val="tx1"/>
                </a:solidFill>
                <a:effectLst/>
              </a:rPr>
              <a:t>latissimus</a:t>
            </a:r>
            <a:r>
              <a:rPr lang="en-US" dirty="0">
                <a:solidFill>
                  <a:schemeClr val="tx1"/>
                </a:solidFill>
                <a:effectLst/>
              </a:rPr>
              <a:t> dorsi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/>
            <a:endParaRPr lang="en-US" dirty="0" smtClean="0">
              <a:effectLst/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  <a:effectLst/>
              </a:rPr>
              <a:t>Deep</a:t>
            </a:r>
            <a:r>
              <a:rPr lang="en-US" dirty="0" smtClean="0">
                <a:effectLst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</a:rPr>
              <a:t>(extrinsic shoulder) muscles : levator scapulae and rhomboids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/>
            <a:endParaRPr lang="en-US" dirty="0" smtClean="0">
              <a:effectLst/>
            </a:endParaRPr>
          </a:p>
          <a:p>
            <a:pPr lvl="1"/>
            <a:r>
              <a:rPr lang="en-US" dirty="0" err="1" smtClean="0">
                <a:solidFill>
                  <a:srgbClr val="FF0000"/>
                </a:solidFill>
                <a:effectLst/>
              </a:rPr>
              <a:t>Scapulohumeral</a:t>
            </a:r>
            <a:r>
              <a:rPr lang="en-US" dirty="0" smtClean="0">
                <a:effectLst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</a:rPr>
              <a:t>(intrinsic shoulder) muscles: deltoid, </a:t>
            </a:r>
            <a:r>
              <a:rPr lang="en-US" dirty="0" err="1">
                <a:solidFill>
                  <a:schemeClr val="tx1"/>
                </a:solidFill>
                <a:effectLst/>
              </a:rPr>
              <a:t>teres</a:t>
            </a:r>
            <a:r>
              <a:rPr lang="en-US" dirty="0">
                <a:solidFill>
                  <a:schemeClr val="tx1"/>
                </a:solidFill>
                <a:effectLst/>
              </a:rPr>
              <a:t> major, and the four rotator cuff muscles (</a:t>
            </a:r>
            <a:r>
              <a:rPr lang="en-US" dirty="0" err="1">
                <a:solidFill>
                  <a:schemeClr val="tx1"/>
                </a:solidFill>
                <a:effectLst/>
              </a:rPr>
              <a:t>supraspinatus</a:t>
            </a:r>
            <a:r>
              <a:rPr lang="en-US" dirty="0">
                <a:solidFill>
                  <a:schemeClr val="tx1"/>
                </a:solidFill>
                <a:effectLst/>
              </a:rPr>
              <a:t>, </a:t>
            </a:r>
            <a:r>
              <a:rPr lang="en-US" dirty="0" err="1">
                <a:solidFill>
                  <a:schemeClr val="tx1"/>
                </a:solidFill>
                <a:effectLst/>
              </a:rPr>
              <a:t>infraspinatus</a:t>
            </a:r>
            <a:r>
              <a:rPr lang="en-US" dirty="0">
                <a:solidFill>
                  <a:schemeClr val="tx1"/>
                </a:solidFill>
                <a:effectLst/>
              </a:rPr>
              <a:t>, </a:t>
            </a:r>
            <a:r>
              <a:rPr lang="en-US" dirty="0" err="1">
                <a:solidFill>
                  <a:schemeClr val="tx1"/>
                </a:solidFill>
                <a:effectLst/>
              </a:rPr>
              <a:t>teres</a:t>
            </a:r>
            <a:r>
              <a:rPr lang="en-US" dirty="0">
                <a:solidFill>
                  <a:schemeClr val="tx1"/>
                </a:solidFill>
                <a:effectLst/>
              </a:rPr>
              <a:t> minor, and </a:t>
            </a:r>
            <a:r>
              <a:rPr lang="en-US" dirty="0" err="1">
                <a:solidFill>
                  <a:schemeClr val="tx1"/>
                </a:solidFill>
                <a:effectLst/>
              </a:rPr>
              <a:t>subscapularis</a:t>
            </a:r>
            <a:r>
              <a:rPr lang="en-US" dirty="0">
                <a:solidFill>
                  <a:schemeClr val="tx1"/>
                </a:solidFill>
                <a:effectLst/>
              </a:rPr>
              <a:t>)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/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9C57E-72AA-490E-B0F7-F0F6F101C98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152400"/>
            <a:ext cx="91440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BD1A2-1E74-4023-98C2-C48CC93D7DC6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077200" cy="685800"/>
          </a:xfrm>
          <a:ln>
            <a:noFill/>
          </a:ln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rgbClr val="FF0000"/>
                </a:solidFill>
                <a:latin typeface="Baskerville Old Face" panose="02020602080505020303" pitchFamily="18" charset="0"/>
              </a:rPr>
              <a:t>Superficial </a:t>
            </a:r>
            <a:r>
              <a:rPr lang="en-US" sz="4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Muscles</a:t>
            </a:r>
            <a:endParaRPr lang="en-US" sz="4000" b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7E4D-ECAB-45FE-878B-8563D99D0C1F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685800"/>
            <a:ext cx="5029200" cy="6019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FF0000"/>
                </a:solidFill>
              </a:rPr>
              <a:t>Trapezius</a:t>
            </a:r>
            <a:endParaRPr lang="en-US" sz="4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/>
              <a:t>Provides direct attachment of pectoral girdle to trunk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Covers posterior part of neck and superior half of trunk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Attach pectoral girdle to cranium and vertebral column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Fibers are divided into 3 parts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Superior part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Middle part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Inferior part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181600" y="2209800"/>
            <a:ext cx="3962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814B-05FA-4509-A63D-372BDF75E73E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E304-F0CA-4BF8-AFA7-47D61E7E1550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418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8001000" cy="6477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Origin</a:t>
            </a:r>
            <a:r>
              <a:rPr lang="en-US" sz="2800" dirty="0"/>
              <a:t>: Medial third of superior </a:t>
            </a:r>
            <a:r>
              <a:rPr lang="en-US" sz="2800" dirty="0" err="1"/>
              <a:t>nuchal</a:t>
            </a:r>
            <a:r>
              <a:rPr lang="en-US" sz="2800" dirty="0"/>
              <a:t> line; external occipital protuberance; </a:t>
            </a:r>
            <a:r>
              <a:rPr lang="en-US" sz="2800" dirty="0" err="1"/>
              <a:t>nuchal</a:t>
            </a:r>
            <a:r>
              <a:rPr lang="en-US" sz="2800" dirty="0"/>
              <a:t> ligament; </a:t>
            </a:r>
            <a:r>
              <a:rPr lang="en-US" sz="2800" dirty="0" err="1"/>
              <a:t>spinous</a:t>
            </a:r>
            <a:r>
              <a:rPr lang="en-US" sz="2800" dirty="0"/>
              <a:t> processes of C7 to T12 vertebrae 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Insertion</a:t>
            </a:r>
            <a:r>
              <a:rPr lang="en-US" sz="2800" dirty="0"/>
              <a:t>: Lateral third of clavicle; </a:t>
            </a:r>
            <a:r>
              <a:rPr lang="en-US" sz="2800" dirty="0" err="1"/>
              <a:t>acromion</a:t>
            </a:r>
            <a:r>
              <a:rPr lang="en-US" sz="2800" dirty="0"/>
              <a:t> and spine of scapula 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Innervation</a:t>
            </a:r>
            <a:r>
              <a:rPr lang="en-US" sz="2800" dirty="0"/>
              <a:t>: Accessory nerve (CN XI) (motor fibers) and C3, C4 spinal nerves (pain and proprioceptive fibers) 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Action</a:t>
            </a:r>
            <a:r>
              <a:rPr lang="en-US" sz="2800" dirty="0"/>
              <a:t>: </a:t>
            </a:r>
            <a:endParaRPr lang="en-US" sz="2800" dirty="0"/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descending part elevates scapula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ascending part depresses scapula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middle part (or all parts together) retracts scapula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descending and ascending parts act together to rotate </a:t>
            </a:r>
            <a:r>
              <a:rPr lang="en-US" sz="2400" dirty="0" err="1">
                <a:solidFill>
                  <a:schemeClr val="tx1"/>
                </a:solidFill>
              </a:rPr>
              <a:t>glenoid</a:t>
            </a:r>
            <a:r>
              <a:rPr lang="en-US" sz="2400" dirty="0">
                <a:solidFill>
                  <a:schemeClr val="tx1"/>
                </a:solidFill>
              </a:rPr>
              <a:t> cavity superiorly 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BF62-02B6-446A-9C90-1D306F5221A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815EC-2A03-4681-97BD-8D1BAAF8AD22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45158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90600" y="-22309"/>
            <a:ext cx="7443015" cy="68803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21A74-4CD9-42BC-8758-CE652086501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2F199-E5CA-431C-88D0-8182C27373C3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88066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4572000" cy="6858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36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Latissimus dorsi</a:t>
            </a:r>
            <a:endParaRPr lang="en-US" sz="3600" b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r>
              <a:rPr lang="en-US" sz="2800" dirty="0"/>
              <a:t>Fan-shaped</a:t>
            </a:r>
            <a:endParaRPr lang="en-US" sz="2800" dirty="0"/>
          </a:p>
          <a:p>
            <a:r>
              <a:rPr lang="en-US" sz="2800" dirty="0"/>
              <a:t>Covers wide area of back</a:t>
            </a:r>
            <a:endParaRPr lang="en-US" sz="2800" dirty="0"/>
          </a:p>
          <a:p>
            <a:r>
              <a:rPr lang="en-US" sz="2800" dirty="0"/>
              <a:t>Passes from trunk to humerus</a:t>
            </a:r>
            <a:endParaRPr lang="en-US" sz="2800" dirty="0"/>
          </a:p>
          <a:p>
            <a:r>
              <a:rPr lang="en-US" sz="2800" dirty="0"/>
              <a:t>Raises trunk to the arm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Origin</a:t>
            </a:r>
            <a:r>
              <a:rPr lang="en-US" sz="2800" dirty="0"/>
              <a:t>: Spinous processes of inferior 6 thoracic vertebrae, thoracolumbar fascia, iliac crest, and inferior 3 or 4 ribs 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Insertion</a:t>
            </a:r>
            <a:r>
              <a:rPr lang="en-US" sz="2800" dirty="0"/>
              <a:t>: intertubercular groove of humerus 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Innervation</a:t>
            </a:r>
            <a:r>
              <a:rPr lang="en-US" sz="2800" dirty="0"/>
              <a:t>: Thoracodorsal nerve 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Action</a:t>
            </a:r>
            <a:r>
              <a:rPr lang="en-US" sz="2800" dirty="0"/>
              <a:t>: Extends, adducts, and medially rotates humerus; raises body toward arms during climbing </a:t>
            </a:r>
            <a:endParaRPr lang="en-US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581525" y="1800225"/>
            <a:ext cx="4562475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5F51-98A3-4784-9043-6E5BD5A307B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001000" cy="685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rgbClr val="FF0000"/>
                </a:solidFill>
                <a:latin typeface="Baskerville Old Face" panose="02020602080505020303" pitchFamily="18" charset="0"/>
              </a:rPr>
              <a:t>Deep </a:t>
            </a:r>
            <a:r>
              <a:rPr lang="en-US" sz="4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Muscles</a:t>
            </a:r>
            <a:endParaRPr lang="en-US" sz="4000" b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B91B-91EB-406B-9BFD-2AE7CEB41F2C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685800"/>
            <a:ext cx="4495800" cy="6172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Levator scapulae</a:t>
            </a:r>
            <a:r>
              <a:rPr lang="en-US" sz="2800" b="1" dirty="0">
                <a:solidFill>
                  <a:srgbClr val="FF0000"/>
                </a:solidFill>
                <a:effectLst/>
                <a:latin typeface="Baskerville Old Face" panose="02020602080505020303" pitchFamily="18" charset="0"/>
              </a:rPr>
              <a:t> </a:t>
            </a:r>
            <a:endParaRPr lang="en-US" sz="2800" b="1" dirty="0">
              <a:solidFill>
                <a:srgbClr val="FF0000"/>
              </a:solidFill>
              <a:effectLst/>
              <a:latin typeface="Baskerville Old Face" panose="02020602080505020303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ffectLst/>
              </a:rPr>
              <a:t>Lies deep to SCM and trapezius</a:t>
            </a:r>
            <a:endParaRPr lang="en-US" sz="28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Origin</a:t>
            </a:r>
            <a:r>
              <a:rPr lang="en-US" sz="2800" dirty="0"/>
              <a:t>: Transverse processes of C1 to C4 vertebrae 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Insertion</a:t>
            </a:r>
            <a:r>
              <a:rPr lang="en-US" sz="2800" dirty="0"/>
              <a:t>: Medial border of scapula superior to root of spine 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Innervation</a:t>
            </a:r>
            <a:r>
              <a:rPr lang="en-US" sz="2800" dirty="0"/>
              <a:t>: Dorsal scapular (C5) and cervical (C3, C4) nerves 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Action</a:t>
            </a:r>
            <a:r>
              <a:rPr lang="en-US" sz="2800" dirty="0"/>
              <a:t>: 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Elevates scapula and tilts its glenoid cavity inferiorly by rotating scapula w</a:t>
            </a:r>
            <a:r>
              <a:rPr lang="en-US" sz="2400" dirty="0">
                <a:solidFill>
                  <a:schemeClr val="tx1"/>
                </a:solidFill>
                <a:effectLst/>
              </a:rPr>
              <a:t>ith the rhomboid and pectoralis minor </a:t>
            </a:r>
            <a:endParaRPr lang="en-US" sz="2400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effectLst/>
              </a:rPr>
              <a:t>Acting bilaterally, extend the neck</a:t>
            </a:r>
            <a:endParaRPr lang="en-US" sz="2400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effectLst/>
              </a:rPr>
              <a:t>Acting unilaterally, contribute to lateral flexion of the neck</a:t>
            </a:r>
            <a:endParaRPr lang="en-US" sz="2400" dirty="0">
              <a:solidFill>
                <a:schemeClr val="tx1"/>
              </a:solidFill>
              <a:effectLst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72000" y="2590800"/>
            <a:ext cx="45720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BEA8-9687-4C3F-BCF4-E2C670DBDED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2599-3239-48C8-8896-7BB754998F35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5029200" cy="6858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4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Rhomboids (major and minor)</a:t>
            </a:r>
            <a:r>
              <a:rPr lang="en-US" sz="4000" b="1" dirty="0">
                <a:solidFill>
                  <a:srgbClr val="FF0000"/>
                </a:solidFill>
                <a:effectLst/>
                <a:latin typeface="Baskerville Old Face" panose="02020602080505020303" pitchFamily="18" charset="0"/>
              </a:rPr>
              <a:t> </a:t>
            </a:r>
            <a:endParaRPr lang="en-US" sz="4000" b="1" dirty="0">
              <a:solidFill>
                <a:srgbClr val="FF0000"/>
              </a:solidFill>
              <a:effectLst/>
              <a:latin typeface="Baskerville Old Face" panose="02020602080505020303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800" dirty="0">
                <a:effectLst/>
              </a:rPr>
              <a:t>Lie deep to trapezius </a:t>
            </a:r>
            <a:endParaRPr lang="en-US" sz="28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sz="2800" dirty="0">
                <a:effectLst/>
              </a:rPr>
              <a:t>Form parallel bands that pass inferolaterally from vertebrae to medial border of the scapula</a:t>
            </a:r>
            <a:endParaRPr lang="en-US" sz="28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Origin</a:t>
            </a:r>
            <a:r>
              <a:rPr lang="en-US" sz="2800" dirty="0"/>
              <a:t>: 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Minor: nuchal ligament; spinous processes of C7 and T1 vertebrae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Major: spinous processes of </a:t>
            </a:r>
            <a:r>
              <a:rPr lang="en-US" sz="2400" dirty="0" smtClean="0">
                <a:solidFill>
                  <a:schemeClr val="tx1"/>
                </a:solidFill>
              </a:rPr>
              <a:t> T2 </a:t>
            </a:r>
            <a:r>
              <a:rPr lang="en-US" sz="2400" dirty="0">
                <a:solidFill>
                  <a:schemeClr val="tx1"/>
                </a:solidFill>
              </a:rPr>
              <a:t>to T5 vertebrae 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Insertion</a:t>
            </a:r>
            <a:r>
              <a:rPr lang="en-US" sz="2800" dirty="0"/>
              <a:t>: 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Minor: medial end of scapular spine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Major: medial border of scapula from level of spine to inferior angle 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Innervation</a:t>
            </a:r>
            <a:r>
              <a:rPr lang="en-US" sz="2800" dirty="0"/>
              <a:t>: Dorsal scapular nerve</a:t>
            </a: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Action</a:t>
            </a:r>
            <a:r>
              <a:rPr lang="en-US" sz="2800" dirty="0"/>
              <a:t>: 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Retract scapula and rotate it to depress glenoid cavity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chemeClr val="tx1"/>
                </a:solidFill>
              </a:rPr>
              <a:t>fix scapula to thoracic wall </a:t>
            </a:r>
            <a:r>
              <a:rPr lang="en-US" sz="2400" dirty="0">
                <a:solidFill>
                  <a:schemeClr val="tx1"/>
                </a:solidFill>
                <a:effectLst/>
              </a:rPr>
              <a:t>during movements of upper limb</a:t>
            </a:r>
            <a:endParaRPr lang="en-US" sz="2400" dirty="0">
              <a:solidFill>
                <a:schemeClr val="tx1"/>
              </a:solidFill>
              <a:effectLst/>
            </a:endParaRPr>
          </a:p>
          <a:p>
            <a:pPr>
              <a:lnSpc>
                <a:spcPct val="80000"/>
              </a:lnSpc>
            </a:pPr>
            <a:endParaRPr lang="en-US" sz="2800" dirty="0">
              <a:effectLst/>
            </a:endParaRPr>
          </a:p>
          <a:p>
            <a:pPr>
              <a:lnSpc>
                <a:spcPct val="80000"/>
              </a:lnSpc>
            </a:pPr>
            <a:endParaRPr lang="en-US" sz="28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105400" y="1066800"/>
            <a:ext cx="403860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0166-3B6E-4336-B08D-42F58292BC4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8153400" cy="685800"/>
          </a:xfrm>
          <a:ln>
            <a:noFill/>
          </a:ln>
        </p:spPr>
        <p:txBody>
          <a:bodyPr>
            <a:normAutofit fontScale="90000"/>
          </a:bodyPr>
          <a:lstStyle/>
          <a:p>
            <a:pPr algn="l"/>
            <a:r>
              <a:rPr lang="en-US" b="1" dirty="0" err="1" smtClean="0">
                <a:solidFill>
                  <a:srgbClr val="FF0000"/>
                </a:solidFill>
                <a:latin typeface="Baskerville Old Face" panose="02020602080505020303" pitchFamily="18" charset="0"/>
              </a:rPr>
              <a:t>Scapulohumeral</a:t>
            </a:r>
            <a:r>
              <a:rPr lang="en-US" b="1" dirty="0" smtClean="0">
                <a:solidFill>
                  <a:srgbClr val="FF0000"/>
                </a:solidFill>
                <a:latin typeface="Baskerville Old Face" panose="02020602080505020303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Muscles</a:t>
            </a:r>
            <a:endParaRPr lang="en-US" b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9EF9-7890-4D0C-8F57-4055FB3E5569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609600"/>
            <a:ext cx="3810000" cy="62484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sz="3200" dirty="0">
                <a:solidFill>
                  <a:srgbClr val="FF0000"/>
                </a:solidFill>
                <a:effectLst/>
              </a:rPr>
              <a:t>Six muscles </a:t>
            </a:r>
            <a:endParaRPr lang="en-US" sz="3200" dirty="0">
              <a:solidFill>
                <a:srgbClr val="FF0000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effectLst/>
              </a:rPr>
              <a:t>Deltoid </a:t>
            </a:r>
            <a:endParaRPr lang="en-US" sz="3200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effectLst/>
              </a:rPr>
              <a:t>Teres major</a:t>
            </a:r>
            <a:endParaRPr lang="en-US" sz="3200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effectLst/>
              </a:rPr>
              <a:t>Supraspinatus</a:t>
            </a:r>
            <a:endParaRPr lang="en-US" sz="3200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effectLst/>
              </a:rPr>
              <a:t>Infraspinatus</a:t>
            </a:r>
            <a:endParaRPr lang="en-US" sz="3200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effectLst/>
              </a:rPr>
              <a:t>Subscapularis</a:t>
            </a:r>
            <a:endParaRPr lang="en-US" sz="3200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effectLst/>
              </a:rPr>
              <a:t>Teres minor</a:t>
            </a:r>
            <a:endParaRPr lang="en-US" sz="3200" dirty="0">
              <a:solidFill>
                <a:schemeClr val="tx1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dirty="0">
                <a:effectLst/>
              </a:rPr>
              <a:t>Short muscles that pass from scapula to humerus </a:t>
            </a:r>
            <a:endParaRPr lang="en-US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dirty="0">
                <a:effectLst/>
              </a:rPr>
              <a:t>Act on glenohumeral joint</a:t>
            </a:r>
            <a:endParaRPr lang="en-US" dirty="0">
              <a:effectLst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62400" y="990600"/>
            <a:ext cx="5181600" cy="58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AC5A-D65C-4D60-8B32-67482E6FD4B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411A-5B15-4E5A-A04C-0928EAF46425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4210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4419600" cy="6858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4400" dirty="0">
                <a:solidFill>
                  <a:srgbClr val="FF0000"/>
                </a:solidFill>
              </a:rPr>
              <a:t>Deltoid muscle</a:t>
            </a:r>
            <a:r>
              <a:rPr lang="en-US" sz="2800" dirty="0">
                <a:solidFill>
                  <a:srgbClr val="FF0000"/>
                </a:solidFill>
                <a:effectLst/>
              </a:rPr>
              <a:t> </a:t>
            </a:r>
            <a:endParaRPr lang="en-US" sz="2800" dirty="0">
              <a:solidFill>
                <a:srgbClr val="FF0000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ffectLst/>
              </a:rPr>
              <a:t>Thick powerful muscle forming the rounded contour of the shoulder</a:t>
            </a:r>
            <a:endParaRPr lang="en-US" sz="28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ffectLst/>
              </a:rPr>
              <a:t>Divided into clavicular (anterior), acromial (middle), and spinal (posterior) parts that can act separately or as a whole </a:t>
            </a:r>
            <a:endParaRPr lang="en-US" sz="28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ffectLst/>
              </a:rPr>
              <a:t>When </a:t>
            </a:r>
            <a:r>
              <a:rPr lang="en-US" sz="2800" dirty="0">
                <a:solidFill>
                  <a:srgbClr val="FF0000"/>
                </a:solidFill>
                <a:effectLst/>
              </a:rPr>
              <a:t>all three parts </a:t>
            </a:r>
            <a:r>
              <a:rPr lang="en-US" sz="2800" dirty="0">
                <a:effectLst/>
              </a:rPr>
              <a:t>contract simultaneously, the arm is </a:t>
            </a:r>
            <a:r>
              <a:rPr lang="en-US" sz="2800" dirty="0">
                <a:solidFill>
                  <a:srgbClr val="FF0000"/>
                </a:solidFill>
                <a:effectLst/>
              </a:rPr>
              <a:t>abducted</a:t>
            </a:r>
            <a:endParaRPr lang="en-US" sz="2800" dirty="0">
              <a:solidFill>
                <a:srgbClr val="FF0000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ffectLst/>
              </a:rPr>
              <a:t>The clavicular and spinal parts steady the arm as it is abducted</a:t>
            </a:r>
            <a:endParaRPr lang="en-US" sz="28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ffectLst/>
              </a:rPr>
              <a:t>Act as a shunt muscle, resisting inferior displacement of the head of the humerus from the glenoid cavity</a:t>
            </a:r>
            <a:endParaRPr lang="en-US" sz="2800" dirty="0">
              <a:effectLst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18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495800" y="1371600"/>
            <a:ext cx="46482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84C5-B6EC-4B5C-82D1-B9A170F9104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CB07-3667-4551-89AA-0F178EEC8260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20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4343400" cy="6858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Origin</a:t>
            </a:r>
            <a:r>
              <a:rPr lang="en-US" dirty="0"/>
              <a:t>: Lateral third of clavicle; acromion and spine of scapula 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Insertion</a:t>
            </a:r>
            <a:r>
              <a:rPr lang="en-US" dirty="0"/>
              <a:t>: Deltoid tuberosity of humerus 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Innervation</a:t>
            </a:r>
            <a:r>
              <a:rPr lang="en-US" dirty="0"/>
              <a:t>: Axillary nerve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Action</a:t>
            </a:r>
            <a:r>
              <a:rPr lang="en-US" dirty="0"/>
              <a:t>: </a:t>
            </a:r>
            <a:endParaRPr lang="en-US" dirty="0"/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Anterior part: </a:t>
            </a:r>
            <a:r>
              <a:rPr lang="en-US" sz="2400" dirty="0">
                <a:solidFill>
                  <a:schemeClr val="tx1"/>
                </a:solidFill>
              </a:rPr>
              <a:t>flexes and medially rotates arm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Middle part: </a:t>
            </a:r>
            <a:r>
              <a:rPr lang="en-US" sz="2400" dirty="0">
                <a:solidFill>
                  <a:schemeClr val="tx1"/>
                </a:solidFill>
              </a:rPr>
              <a:t>abducts arm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Posterior part: </a:t>
            </a:r>
            <a:r>
              <a:rPr lang="en-US" sz="2400" dirty="0">
                <a:solidFill>
                  <a:schemeClr val="tx1"/>
                </a:solidFill>
              </a:rPr>
              <a:t>extends and laterally rotates arm 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419600" y="1219200"/>
            <a:ext cx="47244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FDF5-B9B7-44F4-A2CD-C038FDCF4916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F642A-75CF-41F4-B01B-11733C10ECB4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8153400" cy="3657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3000" b="1" dirty="0">
                <a:solidFill>
                  <a:srgbClr val="FF0000"/>
                </a:solidFill>
              </a:rPr>
              <a:t>Teres major</a:t>
            </a:r>
            <a:r>
              <a:rPr lang="en-US" sz="3000" b="1" dirty="0">
                <a:solidFill>
                  <a:srgbClr val="FF0000"/>
                </a:solidFill>
                <a:effectLst/>
              </a:rPr>
              <a:t> </a:t>
            </a:r>
            <a:endParaRPr lang="en-US" sz="3000" b="1" dirty="0">
              <a:solidFill>
                <a:srgbClr val="FF0000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dirty="0">
                <a:effectLst/>
              </a:rPr>
              <a:t>Thick rounded muscle that lies on the inferolateral third of the scapula </a:t>
            </a:r>
            <a:endParaRPr lang="en-US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dirty="0">
                <a:effectLst/>
              </a:rPr>
              <a:t>Along with the deltoid and rotator cuff muscles it is an </a:t>
            </a:r>
            <a:r>
              <a:rPr lang="en-US" dirty="0">
                <a:solidFill>
                  <a:srgbClr val="FF0000"/>
                </a:solidFill>
                <a:effectLst/>
              </a:rPr>
              <a:t>important stabilizer of the humeral head in the glenoid cavity</a:t>
            </a:r>
            <a:r>
              <a:rPr lang="en-US" dirty="0">
                <a:effectLst/>
              </a:rPr>
              <a:t> during movement</a:t>
            </a:r>
            <a:endParaRPr lang="en-US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Origin</a:t>
            </a:r>
            <a:r>
              <a:rPr lang="en-US" dirty="0"/>
              <a:t>: Posterior surface of inferior angle of scapula 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Insertion</a:t>
            </a:r>
            <a:r>
              <a:rPr lang="en-US" dirty="0"/>
              <a:t>: </a:t>
            </a:r>
            <a:r>
              <a:rPr lang="en-US" dirty="0" smtClean="0"/>
              <a:t> Medial lip of </a:t>
            </a:r>
            <a:r>
              <a:rPr lang="en-US" dirty="0" smtClean="0">
                <a:solidFill>
                  <a:srgbClr val="0000CC"/>
                </a:solidFill>
              </a:rPr>
              <a:t>intertubercular </a:t>
            </a:r>
            <a:r>
              <a:rPr lang="en-US" dirty="0"/>
              <a:t>groove of humerus 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Innervation</a:t>
            </a:r>
            <a:r>
              <a:rPr lang="en-US" dirty="0"/>
              <a:t>: Lower subscapular nerve  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Action</a:t>
            </a:r>
            <a:r>
              <a:rPr lang="en-US" dirty="0"/>
              <a:t>: Adducts and medially rotates arm </a:t>
            </a:r>
            <a:endParaRPr lang="en-US" dirty="0">
              <a:effectLst/>
            </a:endParaRP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1600" y="3733800"/>
            <a:ext cx="5029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1CEC-A9EE-44CE-971F-9BDC36A74CD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C15B0-5577-4ECD-AE94-DA4DE36D554F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6258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8077200" cy="6858000"/>
          </a:xfrm>
          <a:ln>
            <a:noFill/>
          </a:ln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rgbClr val="FF0000"/>
                </a:solidFill>
              </a:rPr>
              <a:t>Rotator cuff muscles </a:t>
            </a:r>
            <a:r>
              <a:rPr lang="en-US" sz="2800" b="1" dirty="0" smtClean="0">
                <a:solidFill>
                  <a:srgbClr val="FF0000"/>
                </a:solidFill>
              </a:rPr>
              <a:t>– SITS mm</a:t>
            </a:r>
            <a:endParaRPr lang="en-US" sz="28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Four of the scapulohumeral muscles: supraspinatus, infraspinatus, teres minor, and subscapularis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Called rotator cuff because they form a musculotendinous cuff around glenohumeral joint 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All except the </a:t>
            </a:r>
            <a:r>
              <a:rPr lang="en-US" sz="2400" b="1" dirty="0">
                <a:solidFill>
                  <a:srgbClr val="00B050"/>
                </a:solidFill>
                <a:effectLst/>
              </a:rPr>
              <a:t>supraspinatus</a:t>
            </a:r>
            <a:r>
              <a:rPr lang="en-US" sz="2400" dirty="0">
                <a:effectLst/>
              </a:rPr>
              <a:t> are rotators of the humerus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effectLst/>
              </a:rPr>
              <a:t>The supraspinatus initiates and assists the deltoid in the abduction of the arm</a:t>
            </a:r>
            <a:endParaRPr lang="en-US" sz="2400" dirty="0">
              <a:solidFill>
                <a:srgbClr val="FF0000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The tendons of the rotator cuff muscles blend with the joint capsule of the glenohumeral joint, which protects the joint and gives it </a:t>
            </a:r>
            <a:r>
              <a:rPr lang="en-US" sz="2400" dirty="0" smtClean="0">
                <a:effectLst/>
              </a:rPr>
              <a:t>stability</a:t>
            </a:r>
            <a:endParaRPr lang="en-US" sz="2400" dirty="0" smtClean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 smtClean="0"/>
              <a:t>Strengthen the shoulder joint anywhere, </a:t>
            </a:r>
            <a:r>
              <a:rPr lang="en-US" sz="2400" dirty="0" smtClean="0">
                <a:solidFill>
                  <a:srgbClr val="FF0000"/>
                </a:solidFill>
              </a:rPr>
              <a:t>except inferiorly</a:t>
            </a:r>
            <a:endParaRPr lang="en-US" sz="2400" dirty="0">
              <a:solidFill>
                <a:srgbClr val="FF0000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Tonic contraction of these muscles holds the relatively large head of the humerus firmly against the small and shallow glenoid cavity during arm movements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4B0-28BB-42A9-AFBD-309F741AA7E3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B138A-D9FC-4DF2-82EA-6DEC74487383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pic>
        <p:nvPicPr>
          <p:cNvPr id="47206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4800" y="0"/>
            <a:ext cx="8839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C24E-EF12-4B78-8B31-59EFDC0C0D6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914400" y="954107"/>
            <a:ext cx="7772400" cy="514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prstClr val="black"/>
                </a:solidFill>
                <a:cs typeface="Times New Roman" panose="02020603050405020304" charset="0"/>
              </a:rPr>
              <a:t>Rotator cuff muscles that provides active support for the glenohumeral joint</a:t>
            </a:r>
            <a:endParaRPr lang="en-US" sz="2800" b="1" dirty="0">
              <a:solidFill>
                <a:prstClr val="black"/>
              </a:solidFill>
              <a:cs typeface="Times New Roman" panose="0202060305040502030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FA4D7-8B05-4B07-A00C-A13E19290BEA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C1D5-F1A9-4222-B99A-9772804A80C4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24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4267200" cy="6858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FF0000"/>
                </a:solidFill>
              </a:rPr>
              <a:t>Supraspinatus</a:t>
            </a:r>
            <a:endParaRPr lang="en-US" sz="4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Origin</a:t>
            </a:r>
            <a:r>
              <a:rPr lang="en-US" sz="2800" dirty="0"/>
              <a:t>: Supraspinous fossa of scapula 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Insertion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0000CC"/>
                </a:solidFill>
              </a:rPr>
              <a:t>greater tubercle </a:t>
            </a:r>
            <a:r>
              <a:rPr lang="en-US" sz="2800" dirty="0"/>
              <a:t>of humerus 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Innervation</a:t>
            </a:r>
            <a:r>
              <a:rPr lang="en-US" sz="2800" dirty="0"/>
              <a:t>: Suprascapular nerve 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Action</a:t>
            </a:r>
            <a:r>
              <a:rPr lang="en-US" sz="2800" dirty="0"/>
              <a:t>: </a:t>
            </a:r>
            <a:r>
              <a:rPr lang="en-US" sz="2800" dirty="0">
                <a:effectLst/>
              </a:rPr>
              <a:t>Initiates and assists deltoid in abduction of arm and acts with rotator cuff muscles</a:t>
            </a:r>
            <a:endParaRPr lang="en-US" sz="2800" dirty="0">
              <a:effectLst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FF0000"/>
                </a:solidFill>
              </a:rPr>
              <a:t>Infraspinatus</a:t>
            </a:r>
            <a:endParaRPr lang="en-US" sz="4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Origin</a:t>
            </a:r>
            <a:r>
              <a:rPr lang="en-US" sz="2800" dirty="0"/>
              <a:t>: Infraspinous fossa of scapula 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Insertion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0000CC"/>
                </a:solidFill>
              </a:rPr>
              <a:t>greater tubercle </a:t>
            </a:r>
            <a:r>
              <a:rPr lang="en-US" sz="2800" dirty="0"/>
              <a:t>of humerus 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Innervation</a:t>
            </a:r>
            <a:r>
              <a:rPr lang="en-US" sz="2800" dirty="0"/>
              <a:t>: Suprascapular nerve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Action</a:t>
            </a:r>
            <a:r>
              <a:rPr lang="en-US" sz="2800" dirty="0"/>
              <a:t>: Laterally rotate arm; help hold humeral head in glenoid cavity of scapula</a:t>
            </a:r>
            <a:endParaRPr lang="en-US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276725" y="2057400"/>
            <a:ext cx="4867275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68C3-486F-4144-8F27-A255F19AD16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FF3B-2E55-43CC-8712-52CD3B0A976B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22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4495800" cy="66294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FF0000"/>
                </a:solidFill>
              </a:rPr>
              <a:t>Teres minor</a:t>
            </a:r>
            <a:endParaRPr lang="en-US" sz="40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00B050"/>
                </a:solidFill>
              </a:rPr>
              <a:t>Origin</a:t>
            </a:r>
            <a:r>
              <a:rPr lang="en-US" sz="2800" dirty="0"/>
              <a:t>: Middle part of lateral border of scapula </a:t>
            </a:r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Insertion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0000CC"/>
                </a:solidFill>
              </a:rPr>
              <a:t>greater tubercle </a:t>
            </a:r>
            <a:r>
              <a:rPr lang="en-US" sz="2800" dirty="0"/>
              <a:t>of humerus </a:t>
            </a:r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Innervation</a:t>
            </a:r>
            <a:r>
              <a:rPr lang="en-US" sz="2800" dirty="0"/>
              <a:t>: Axillary nerve</a:t>
            </a:r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Action</a:t>
            </a:r>
            <a:r>
              <a:rPr lang="en-US" sz="2800" dirty="0"/>
              <a:t>: Laterally rotate arm; help hold humeral head in glenoid cavity of scapula </a:t>
            </a:r>
            <a:endParaRPr lang="en-US" sz="2800" dirty="0">
              <a:effectLst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FF0000"/>
                </a:solidFill>
              </a:rPr>
              <a:t>Subscapularis</a:t>
            </a:r>
            <a:endParaRPr lang="en-US" sz="40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00B050"/>
                </a:solidFill>
              </a:rPr>
              <a:t>Origin</a:t>
            </a:r>
            <a:r>
              <a:rPr lang="en-US" sz="2800" dirty="0"/>
              <a:t>: Subscapular fossa </a:t>
            </a:r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Insertion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0000CC"/>
                </a:solidFill>
              </a:rPr>
              <a:t>Lesser tubercle </a:t>
            </a:r>
            <a:r>
              <a:rPr lang="en-US" sz="2800" dirty="0"/>
              <a:t>of humerus </a:t>
            </a:r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Innervation</a:t>
            </a:r>
            <a:r>
              <a:rPr lang="en-US" sz="2800" dirty="0"/>
              <a:t>: Upper and lower subscapular nerves </a:t>
            </a:r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Action</a:t>
            </a:r>
            <a:r>
              <a:rPr lang="en-US" sz="2800" dirty="0"/>
              <a:t>: </a:t>
            </a:r>
            <a:r>
              <a:rPr lang="en-US" sz="2800" dirty="0">
                <a:effectLst/>
              </a:rPr>
              <a:t>Medially rotates and adduct arm; helps hold humeral head in glenoid cavity</a:t>
            </a:r>
            <a:endParaRPr lang="en-US" sz="2400" dirty="0"/>
          </a:p>
          <a:p>
            <a:endParaRPr lang="en-US" sz="2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19625" y="3629025"/>
            <a:ext cx="4524375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0"/>
            <a:ext cx="4867275" cy="358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5679-EA9C-48E9-A9C0-AE212DCC1A3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8153400" cy="76200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FF0000"/>
                </a:solidFill>
                <a:latin typeface="Baskerville Old Face" panose="02020602080505020303" pitchFamily="18" charset="0"/>
              </a:rPr>
              <a:t>Injury </a:t>
            </a:r>
            <a:r>
              <a:rPr lang="en-US" sz="4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to axillary nerve</a:t>
            </a:r>
            <a:endParaRPr lang="en-US" sz="4000" b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82FB-DF0E-4109-A212-47036B9C24E6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762000"/>
            <a:ext cx="4572000" cy="6096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Occur when surgical neck of humerus is fractured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Results in atrophy of deltoid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Rounded contour of shoulder disappears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To test deltoid (function of axillary nerve) the arm is abducted against resistance</a:t>
            </a:r>
            <a:endParaRPr 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FF0000"/>
                </a:solidFill>
              </a:rPr>
              <a:t>Rotator cuff injuries</a:t>
            </a:r>
            <a:endParaRPr lang="en-US" sz="4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/>
              <a:t>Produce instability of glenohumeral joint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Rapture of </a:t>
            </a:r>
            <a:r>
              <a:rPr lang="en-US" b="1" dirty="0" err="1" smtClean="0">
                <a:solidFill>
                  <a:srgbClr val="0000CC"/>
                </a:solidFill>
              </a:rPr>
              <a:t>supraspinatus</a:t>
            </a:r>
            <a:r>
              <a:rPr lang="en-US" dirty="0" smtClean="0"/>
              <a:t> </a:t>
            </a:r>
            <a:r>
              <a:rPr lang="en-US" dirty="0"/>
              <a:t>tendon is the most common injury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>
              <a:solidFill>
                <a:srgbClr val="FF9966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200" y="762000"/>
            <a:ext cx="4495800" cy="498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724400" y="5943600"/>
            <a:ext cx="441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prstClr val="black"/>
                </a:solidFill>
              </a:rPr>
              <a:t>Rapture of supraspinous tendon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C5F0-C49D-4EA9-BEBA-369E0306317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C6FCB1-C3DE-4209-9F8A-EA5114EFC6D6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4572000" cy="6858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 2" panose="05020102010507070707" pitchFamily="18" charset="2"/>
              <a:buNone/>
              <a:defRPr/>
            </a:pPr>
            <a:r>
              <a:rPr lang="en-US" b="1" dirty="0" smtClean="0">
                <a:solidFill>
                  <a:srgbClr val="0070C0"/>
                </a:solidFill>
              </a:rPr>
              <a:t> Anatomical space on the back of the shoulder</a:t>
            </a:r>
            <a:endParaRPr lang="en-US" b="1" dirty="0" smtClean="0">
              <a:solidFill>
                <a:srgbClr val="0070C0"/>
              </a:solidFill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b="1" dirty="0" smtClean="0">
                <a:solidFill>
                  <a:srgbClr val="FF0000"/>
                </a:solidFill>
              </a:rPr>
              <a:t>Quadrangular space: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514350" indent="-514350">
              <a:defRPr/>
            </a:pPr>
            <a:r>
              <a:rPr lang="en-US" sz="2400" dirty="0" smtClean="0"/>
              <a:t>a potential intermuscular space </a:t>
            </a:r>
            <a:endParaRPr lang="en-US" sz="2400" dirty="0" smtClean="0"/>
          </a:p>
          <a:p>
            <a:pPr marL="514350" indent="-514350">
              <a:defRPr/>
            </a:pPr>
            <a:r>
              <a:rPr lang="en-US" sz="2400" dirty="0" smtClean="0"/>
              <a:t>Boundaries </a:t>
            </a:r>
            <a:endParaRPr lang="en-US" sz="2400" dirty="0" smtClean="0"/>
          </a:p>
          <a:p>
            <a:pPr lvl="2"/>
            <a:r>
              <a:rPr lang="en-US" sz="2400" dirty="0" smtClean="0">
                <a:solidFill>
                  <a:schemeClr val="tx1"/>
                </a:solidFill>
              </a:rPr>
              <a:t>Superiorly- </a:t>
            </a:r>
            <a:r>
              <a:rPr lang="en-US" sz="2400" dirty="0" err="1" smtClean="0">
                <a:solidFill>
                  <a:schemeClr val="tx1"/>
                </a:solidFill>
              </a:rPr>
              <a:t>Teres</a:t>
            </a:r>
            <a:r>
              <a:rPr lang="en-US" sz="2400" dirty="0" smtClean="0">
                <a:solidFill>
                  <a:schemeClr val="tx1"/>
                </a:solidFill>
              </a:rPr>
              <a:t> minor</a:t>
            </a:r>
            <a:endParaRPr lang="en-US" sz="2400" dirty="0" smtClean="0">
              <a:solidFill>
                <a:schemeClr val="tx1"/>
              </a:solidFill>
            </a:endParaRPr>
          </a:p>
          <a:p>
            <a:pPr lvl="2"/>
            <a:r>
              <a:rPr lang="en-US" sz="2400" dirty="0" smtClean="0">
                <a:solidFill>
                  <a:schemeClr val="tx1"/>
                </a:solidFill>
              </a:rPr>
              <a:t>Laterally- Surgical neck of the humerus</a:t>
            </a:r>
            <a:endParaRPr lang="en-US" sz="2400" dirty="0" smtClean="0">
              <a:solidFill>
                <a:schemeClr val="tx1"/>
              </a:solidFill>
            </a:endParaRPr>
          </a:p>
          <a:p>
            <a:pPr lvl="2"/>
            <a:r>
              <a:rPr lang="en-US" sz="2400" dirty="0" smtClean="0">
                <a:solidFill>
                  <a:schemeClr val="tx1"/>
                </a:solidFill>
              </a:rPr>
              <a:t>Inferiorly - </a:t>
            </a:r>
            <a:r>
              <a:rPr lang="en-US" sz="2400" dirty="0" err="1" smtClean="0">
                <a:solidFill>
                  <a:schemeClr val="tx1"/>
                </a:solidFill>
              </a:rPr>
              <a:t>Teres</a:t>
            </a:r>
            <a:r>
              <a:rPr lang="en-US" sz="2400" dirty="0" smtClean="0">
                <a:solidFill>
                  <a:schemeClr val="tx1"/>
                </a:solidFill>
              </a:rPr>
              <a:t> major</a:t>
            </a:r>
            <a:endParaRPr lang="en-US" sz="2400" dirty="0" smtClean="0">
              <a:solidFill>
                <a:schemeClr val="tx1"/>
              </a:solidFill>
            </a:endParaRPr>
          </a:p>
          <a:p>
            <a:pPr lvl="2"/>
            <a:r>
              <a:rPr lang="en-US" sz="2400" dirty="0" smtClean="0">
                <a:solidFill>
                  <a:schemeClr val="tx1"/>
                </a:solidFill>
              </a:rPr>
              <a:t>Medially- Long head of triceps </a:t>
            </a:r>
            <a:r>
              <a:rPr lang="en-US" sz="2400" dirty="0" err="1" smtClean="0">
                <a:solidFill>
                  <a:schemeClr val="tx1"/>
                </a:solidFill>
              </a:rPr>
              <a:t>brachii</a:t>
            </a:r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3000" dirty="0" smtClean="0">
                <a:solidFill>
                  <a:schemeClr val="tx1"/>
                </a:solidFill>
              </a:rPr>
              <a:t>Contents </a:t>
            </a:r>
            <a:endParaRPr lang="en-US" sz="3000" dirty="0" smtClean="0">
              <a:solidFill>
                <a:schemeClr val="tx1"/>
              </a:solidFill>
            </a:endParaRPr>
          </a:p>
          <a:p>
            <a:pPr marL="789305" lvl="1" indent="-514350">
              <a:buFont typeface="Wingdings" panose="05000000000000000000" pitchFamily="2" charset="2"/>
              <a:buChar char="ü"/>
              <a:defRPr/>
            </a:pPr>
            <a:r>
              <a:rPr lang="en-US" dirty="0" smtClean="0">
                <a:solidFill>
                  <a:srgbClr val="0070C0"/>
                </a:solidFill>
              </a:rPr>
              <a:t>Axillary nerve  </a:t>
            </a:r>
            <a:endParaRPr lang="en-US" dirty="0" smtClean="0">
              <a:solidFill>
                <a:srgbClr val="0070C0"/>
              </a:solidFill>
            </a:endParaRPr>
          </a:p>
          <a:p>
            <a:pPr marL="789305" lvl="1" indent="-514350">
              <a:buFont typeface="Wingdings" panose="05000000000000000000" pitchFamily="2" charset="2"/>
              <a:buChar char="ü"/>
              <a:defRPr/>
            </a:pPr>
            <a:r>
              <a:rPr lang="en-US" dirty="0" smtClean="0">
                <a:solidFill>
                  <a:srgbClr val="0070C0"/>
                </a:solidFill>
              </a:rPr>
              <a:t>posterior circumflex humeral aa  pass </a:t>
            </a:r>
            <a:endParaRPr lang="en-US" sz="2400" b="1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572000" y="685800"/>
            <a:ext cx="4572000" cy="48006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779B-C2D1-4178-B02B-4FE7E9107597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4495800" cy="6858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514350" indent="-514350">
              <a:buFont typeface="Wingdings 2" panose="05020102010507070707" pitchFamily="18" charset="2"/>
              <a:buNone/>
              <a:defRPr/>
            </a:pPr>
            <a:r>
              <a:rPr lang="en-US" sz="2400" b="1" dirty="0" smtClean="0">
                <a:solidFill>
                  <a:srgbClr val="FF0000"/>
                </a:solidFill>
              </a:rPr>
              <a:t>2. Triangular space     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514350" indent="-514350">
              <a:defRPr/>
            </a:pPr>
            <a:r>
              <a:rPr lang="en-US" sz="2400" b="1" dirty="0" smtClean="0"/>
              <a:t>Boundaries</a:t>
            </a:r>
            <a:endParaRPr lang="en-US" sz="2400" b="1" dirty="0" smtClean="0"/>
          </a:p>
          <a:p>
            <a:pPr marL="998855" lvl="2" indent="-514350">
              <a:defRPr/>
            </a:pPr>
            <a:r>
              <a:rPr lang="en-US" sz="1800" b="1" dirty="0" smtClean="0"/>
              <a:t>superiorly- </a:t>
            </a:r>
            <a:r>
              <a:rPr lang="en-US" sz="1800" b="1" dirty="0" err="1" smtClean="0">
                <a:solidFill>
                  <a:srgbClr val="0070C0"/>
                </a:solidFill>
              </a:rPr>
              <a:t>teres</a:t>
            </a:r>
            <a:r>
              <a:rPr lang="en-US" sz="1800" b="1" dirty="0" smtClean="0">
                <a:solidFill>
                  <a:srgbClr val="0070C0"/>
                </a:solidFill>
              </a:rPr>
              <a:t> minor</a:t>
            </a:r>
            <a:endParaRPr lang="en-US" sz="1800" b="1" dirty="0" smtClean="0">
              <a:solidFill>
                <a:srgbClr val="0070C0"/>
              </a:solidFill>
            </a:endParaRPr>
          </a:p>
          <a:p>
            <a:pPr marL="998855" lvl="2" indent="-514350">
              <a:defRPr/>
            </a:pPr>
            <a:r>
              <a:rPr lang="en-US" sz="2400" b="1" dirty="0" smtClean="0"/>
              <a:t>inferiorly – </a:t>
            </a:r>
            <a:r>
              <a:rPr lang="en-US" sz="2400" b="1" dirty="0" err="1" smtClean="0">
                <a:solidFill>
                  <a:srgbClr val="0070C0"/>
                </a:solidFill>
              </a:rPr>
              <a:t>teres</a:t>
            </a:r>
            <a:r>
              <a:rPr lang="en-US" sz="2400" b="1" dirty="0" smtClean="0">
                <a:solidFill>
                  <a:srgbClr val="0070C0"/>
                </a:solidFill>
              </a:rPr>
              <a:t> major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 marL="998855" lvl="2" indent="-514350">
              <a:defRPr/>
            </a:pPr>
            <a:r>
              <a:rPr lang="en-US" sz="2400" b="1" dirty="0" smtClean="0"/>
              <a:t>laterally -  </a:t>
            </a:r>
            <a:r>
              <a:rPr lang="en-US" sz="2400" b="1" dirty="0" smtClean="0">
                <a:solidFill>
                  <a:srgbClr val="0070C0"/>
                </a:solidFill>
              </a:rPr>
              <a:t>long head of triceps 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 marL="514350" indent="-514350">
              <a:defRPr/>
            </a:pPr>
            <a:r>
              <a:rPr lang="en-US" sz="3000" b="1" dirty="0" smtClean="0">
                <a:solidFill>
                  <a:srgbClr val="0070C0"/>
                </a:solidFill>
              </a:rPr>
              <a:t>Contents </a:t>
            </a:r>
            <a:endParaRPr lang="en-US" sz="3000" b="1" dirty="0" smtClean="0">
              <a:solidFill>
                <a:srgbClr val="0070C0"/>
              </a:solidFill>
            </a:endParaRPr>
          </a:p>
          <a:p>
            <a:pPr marL="789305" lvl="1" indent="-514350">
              <a:buFont typeface="Wingdings" panose="05000000000000000000" pitchFamily="2" charset="2"/>
              <a:buChar char="ü"/>
              <a:defRPr/>
            </a:pPr>
            <a:r>
              <a:rPr lang="en-US" b="1" dirty="0" smtClean="0">
                <a:solidFill>
                  <a:srgbClr val="0070C0"/>
                </a:solidFill>
              </a:rPr>
              <a:t> circumflex scapular </a:t>
            </a:r>
            <a:r>
              <a:rPr lang="en-US" b="1" dirty="0" err="1" smtClean="0">
                <a:solidFill>
                  <a:srgbClr val="0070C0"/>
                </a:solidFill>
              </a:rPr>
              <a:t>aa</a:t>
            </a:r>
            <a:r>
              <a:rPr lang="en-US" b="1" dirty="0" smtClean="0">
                <a:solidFill>
                  <a:srgbClr val="0070C0"/>
                </a:solidFill>
              </a:rPr>
              <a:t> pass thought it</a:t>
            </a:r>
            <a:endParaRPr lang="en-US" b="1" dirty="0" smtClean="0">
              <a:solidFill>
                <a:srgbClr val="0070C0"/>
              </a:solidFill>
            </a:endParaRP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572000" y="685800"/>
            <a:ext cx="4572000" cy="48006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4C0F4-8EF4-451C-BE21-6CD3CB77F6D6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30D3F9-3E00-49B1-B714-DBC24EC82E50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3668" name="TextBox 5"/>
          <p:cNvSpPr txBox="1">
            <a:spLocks noChangeArrowheads="1"/>
          </p:cNvSpPr>
          <p:nvPr/>
        </p:nvSpPr>
        <p:spPr bwMode="auto">
          <a:xfrm>
            <a:off x="0" y="0"/>
            <a:ext cx="8229600" cy="32316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3.  triangular interval</a:t>
            </a:r>
            <a:endParaRPr lang="en-US" sz="32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prstClr val="black"/>
                </a:solidFill>
              </a:rPr>
              <a:t>Boundaries </a:t>
            </a:r>
            <a:endParaRPr lang="en-US" sz="3200" b="1" dirty="0">
              <a:solidFill>
                <a:prstClr val="black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dirty="0" smtClean="0">
                <a:solidFill>
                  <a:prstClr val="black"/>
                </a:solidFill>
              </a:rPr>
              <a:t>superior</a:t>
            </a:r>
            <a:r>
              <a:rPr lang="en-US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prstClr val="black"/>
                </a:solidFill>
              </a:rPr>
              <a:t>– teres major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prstClr val="black"/>
                </a:solidFill>
              </a:rPr>
              <a:t>medial</a:t>
            </a:r>
            <a:r>
              <a:rPr lang="en-US" sz="2800" dirty="0">
                <a:solidFill>
                  <a:prstClr val="black"/>
                </a:solidFill>
              </a:rPr>
              <a:t>– long head of triceps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prstClr val="black"/>
                </a:solidFill>
              </a:rPr>
              <a:t>lateral-</a:t>
            </a:r>
            <a:r>
              <a:rPr lang="en-US" sz="2800" dirty="0">
                <a:solidFill>
                  <a:prstClr val="black"/>
                </a:solidFill>
              </a:rPr>
              <a:t> lateral head of triceps / humerus 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prstClr val="black"/>
                </a:solidFill>
              </a:rPr>
              <a:t>Contents </a:t>
            </a:r>
            <a:endParaRPr lang="en-US" sz="2800" b="1" dirty="0">
              <a:solidFill>
                <a:prstClr val="black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70C0"/>
                </a:solidFill>
              </a:rPr>
              <a:t>Radial</a:t>
            </a:r>
            <a:r>
              <a:rPr lang="en-US" sz="2800" dirty="0">
                <a:solidFill>
                  <a:prstClr val="black"/>
                </a:solidFill>
              </a:rPr>
              <a:t> n and </a:t>
            </a:r>
            <a:r>
              <a:rPr lang="en-US" sz="2800" dirty="0">
                <a:solidFill>
                  <a:srgbClr val="0070C0"/>
                </a:solidFill>
              </a:rPr>
              <a:t>profonda</a:t>
            </a:r>
            <a:r>
              <a:rPr lang="en-US" sz="2800" dirty="0">
                <a:solidFill>
                  <a:prstClr val="black"/>
                </a:solidFill>
              </a:rPr>
              <a:t> brachi aa pass in it</a:t>
            </a:r>
            <a:endParaRPr lang="en-US" sz="3200" dirty="0">
              <a:solidFill>
                <a:prstClr val="black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581400" y="3276600"/>
            <a:ext cx="5616286" cy="35814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677A-F53D-4561-A44D-AE7674DFEB3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br>
              <a:rPr lang="en-US" dirty="0" smtClean="0"/>
            </a:br>
            <a:r>
              <a:rPr lang="en-US" dirty="0" smtClean="0">
                <a:solidFill>
                  <a:srgbClr val="0000CC"/>
                </a:solidFill>
              </a:rPr>
              <a:t>                           </a:t>
            </a:r>
            <a:r>
              <a:rPr lang="en-US" sz="3100" b="1" dirty="0" smtClean="0">
                <a:solidFill>
                  <a:srgbClr val="0000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</a:t>
            </a:r>
            <a:endParaRPr lang="en-US" b="1" dirty="0">
              <a:solidFill>
                <a:srgbClr val="0000C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609600"/>
            <a:ext cx="4724400" cy="62484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Is the pyramidal space b/n glenohumeral joint and skin and axillary fascia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provides a passageway for vessels and nerves going to and from the upper limb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Has an apex, base, and four walls </a:t>
            </a:r>
            <a:endParaRPr lang="en-US" sz="2400" dirty="0" smtClean="0"/>
          </a:p>
          <a:p>
            <a:pPr>
              <a:lnSpc>
                <a:spcPct val="80000"/>
              </a:lnSpc>
              <a:defRPr/>
            </a:pPr>
            <a:r>
              <a:rPr lang="en-US" sz="2800" b="1" dirty="0" smtClean="0">
                <a:solidFill>
                  <a:srgbClr val="002060"/>
                </a:solidFill>
              </a:rPr>
              <a:t>Apex</a:t>
            </a:r>
            <a:endParaRPr lang="en-US" sz="2800" b="1" dirty="0" smtClean="0">
              <a:solidFill>
                <a:srgbClr val="002060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dirty="0" smtClean="0"/>
              <a:t>Is cervicoaxillary canal</a:t>
            </a:r>
            <a:endParaRPr lang="en-US" dirty="0" smtClean="0"/>
          </a:p>
          <a:p>
            <a:pPr lvl="1">
              <a:lnSpc>
                <a:spcPct val="80000"/>
              </a:lnSpc>
              <a:defRPr/>
            </a:pPr>
            <a:r>
              <a:rPr lang="en-US" dirty="0" smtClean="0"/>
              <a:t>Bounded by </a:t>
            </a:r>
            <a:r>
              <a:rPr lang="en-US" b="1" dirty="0" smtClean="0">
                <a:solidFill>
                  <a:srgbClr val="002060"/>
                </a:solidFill>
              </a:rPr>
              <a:t>1st rib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2060"/>
                </a:solidFill>
              </a:rPr>
              <a:t>clavicle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2060"/>
                </a:solidFill>
              </a:rPr>
              <a:t>superior edge of scapula</a:t>
            </a:r>
            <a:endParaRPr lang="en-US" b="1" dirty="0" smtClean="0">
              <a:solidFill>
                <a:srgbClr val="002060"/>
              </a:solidFill>
            </a:endParaRPr>
          </a:p>
          <a:p>
            <a:pPr marL="273050" lvl="1" indent="-273050">
              <a:lnSpc>
                <a:spcPct val="80000"/>
              </a:lnSpc>
              <a:spcBef>
                <a:spcPts val="575"/>
              </a:spcBef>
              <a:buClr>
                <a:schemeClr val="accent1"/>
              </a:buClr>
              <a:defRPr/>
            </a:pPr>
            <a:r>
              <a:rPr lang="en-US" sz="2800" b="1" dirty="0" smtClean="0">
                <a:solidFill>
                  <a:srgbClr val="002060"/>
                </a:solidFill>
              </a:rPr>
              <a:t>Base (</a:t>
            </a:r>
            <a:r>
              <a:rPr lang="en-US" dirty="0" smtClean="0"/>
              <a:t>Axillary fossa)</a:t>
            </a:r>
            <a:endParaRPr lang="en-US" sz="2800" b="1" dirty="0" smtClean="0">
              <a:solidFill>
                <a:srgbClr val="002060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dirty="0" smtClean="0"/>
              <a:t>Formed by concave </a:t>
            </a:r>
            <a:r>
              <a:rPr lang="en-US" b="1" dirty="0" smtClean="0">
                <a:solidFill>
                  <a:srgbClr val="002060"/>
                </a:solidFill>
              </a:rPr>
              <a:t>skin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2060"/>
                </a:solidFill>
              </a:rPr>
              <a:t>subcutaneous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tissue</a:t>
            </a:r>
            <a:r>
              <a:rPr lang="en-US" dirty="0" smtClean="0"/>
              <a:t>, and </a:t>
            </a:r>
            <a:r>
              <a:rPr lang="en-US" b="1" dirty="0" smtClean="0">
                <a:solidFill>
                  <a:srgbClr val="002060"/>
                </a:solidFill>
              </a:rPr>
              <a:t>axillary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fascia</a:t>
            </a:r>
            <a:endParaRPr lang="en-US" b="1" dirty="0" smtClean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4800601" y="762000"/>
            <a:ext cx="4114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AC776-F744-4D7A-A611-C23EEF72D9D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sz="quarter" idx="1"/>
          </p:nvPr>
        </p:nvSpPr>
        <p:spPr>
          <a:xfrm>
            <a:off x="152400" y="304800"/>
            <a:ext cx="3886200" cy="6324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</a:t>
            </a:r>
            <a:r>
              <a:rPr lang="en-US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  </a:t>
            </a:r>
            <a:endParaRPr lang="en-US" sz="3200" b="1" dirty="0" smtClean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dirty="0" smtClean="0">
                <a:solidFill>
                  <a:srgbClr val="0000CC"/>
                </a:solidFill>
              </a:rPr>
              <a:t>Anterior wall</a:t>
            </a:r>
            <a:endParaRPr lang="en-US" sz="2800" b="1" dirty="0" smtClean="0">
              <a:solidFill>
                <a:srgbClr val="0000CC"/>
              </a:solidFill>
            </a:endParaRPr>
          </a:p>
          <a:p>
            <a:pPr lvl="1"/>
            <a:r>
              <a:rPr lang="en-US" dirty="0" smtClean="0"/>
              <a:t>Formed by </a:t>
            </a:r>
            <a:r>
              <a:rPr lang="en-US" b="1" dirty="0" smtClean="0">
                <a:solidFill>
                  <a:srgbClr val="002060"/>
                </a:solidFill>
              </a:rPr>
              <a:t>pectoralis major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002060"/>
                </a:solidFill>
              </a:rPr>
              <a:t>minor with their fascia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sz="2800" b="1" dirty="0" smtClean="0">
                <a:solidFill>
                  <a:srgbClr val="0000CC"/>
                </a:solidFill>
              </a:rPr>
              <a:t>Posterior wall</a:t>
            </a:r>
            <a:endParaRPr lang="en-US" sz="2800" b="1" dirty="0" smtClean="0">
              <a:solidFill>
                <a:srgbClr val="0000CC"/>
              </a:solidFill>
            </a:endParaRPr>
          </a:p>
          <a:p>
            <a:pPr lvl="1"/>
            <a:r>
              <a:rPr lang="en-US" dirty="0" smtClean="0"/>
              <a:t>Formed by </a:t>
            </a:r>
            <a:r>
              <a:rPr lang="en-US" b="1" dirty="0" smtClean="0">
                <a:solidFill>
                  <a:srgbClr val="002060"/>
                </a:solidFill>
              </a:rPr>
              <a:t>scapula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2060"/>
                </a:solidFill>
              </a:rPr>
              <a:t>subscapularis</a:t>
            </a:r>
            <a:r>
              <a:rPr lang="en-US" dirty="0" smtClean="0"/>
              <a:t> and inferiorly by the </a:t>
            </a:r>
            <a:r>
              <a:rPr lang="en-US" b="1" dirty="0" smtClean="0">
                <a:solidFill>
                  <a:srgbClr val="002060"/>
                </a:solidFill>
              </a:rPr>
              <a:t>teres major and latissimus dorsi 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sz="2800" b="1" dirty="0" smtClean="0">
                <a:solidFill>
                  <a:srgbClr val="0000CC"/>
                </a:solidFill>
              </a:rPr>
              <a:t>Medial wall </a:t>
            </a:r>
            <a:endParaRPr lang="en-US" sz="2800" b="1" dirty="0" smtClean="0">
              <a:solidFill>
                <a:srgbClr val="0000CC"/>
              </a:solidFill>
            </a:endParaRPr>
          </a:p>
          <a:p>
            <a:pPr lvl="1"/>
            <a:r>
              <a:rPr lang="en-US" dirty="0" smtClean="0"/>
              <a:t>Formed by the </a:t>
            </a:r>
            <a:r>
              <a:rPr lang="en-US" b="1" dirty="0" smtClean="0">
                <a:solidFill>
                  <a:srgbClr val="00B050"/>
                </a:solidFill>
              </a:rPr>
              <a:t>thoracic wall (1st-4th ribs and intercostal muscles)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00B050"/>
                </a:solidFill>
              </a:rPr>
              <a:t>serratus anterior</a:t>
            </a:r>
            <a:endParaRPr lang="en-US" b="1" dirty="0" smtClean="0">
              <a:solidFill>
                <a:srgbClr val="00B050"/>
              </a:solidFill>
            </a:endParaRPr>
          </a:p>
          <a:p>
            <a:r>
              <a:rPr lang="en-US" sz="2800" b="1" dirty="0" smtClean="0">
                <a:solidFill>
                  <a:srgbClr val="0000CC"/>
                </a:solidFill>
              </a:rPr>
              <a:t>Lateral wall </a:t>
            </a:r>
            <a:endParaRPr lang="en-US" sz="2800" b="1" dirty="0" smtClean="0">
              <a:solidFill>
                <a:srgbClr val="0000CC"/>
              </a:solidFill>
            </a:endParaRPr>
          </a:p>
          <a:p>
            <a:pPr lvl="1"/>
            <a:r>
              <a:rPr lang="en-US" dirty="0" smtClean="0"/>
              <a:t>Formed by </a:t>
            </a:r>
            <a:r>
              <a:rPr lang="en-US" b="1" dirty="0" smtClean="0">
                <a:solidFill>
                  <a:srgbClr val="00B050"/>
                </a:solidFill>
              </a:rPr>
              <a:t>humerus</a:t>
            </a:r>
            <a:endParaRPr lang="en-US" b="1" dirty="0" smtClean="0">
              <a:solidFill>
                <a:srgbClr val="00B050"/>
              </a:solidFill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62400" y="762000"/>
            <a:ext cx="5181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A9DF-ACA1-4830-92E5-56A58F5FAFD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610600" cy="6324600"/>
          </a:xfrm>
        </p:spPr>
        <p:txBody>
          <a:bodyPr/>
          <a:lstStyle/>
          <a:p>
            <a:endParaRPr lang="en-US" sz="2800" i="1" dirty="0" smtClean="0"/>
          </a:p>
          <a:p>
            <a:endParaRPr lang="en-US" sz="2800" dirty="0" smtClean="0"/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10D5-CED5-44FD-B1ED-F5AB64B8FE0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7921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Contents of the axilla</a:t>
            </a:r>
            <a:endParaRPr lang="en-US" sz="32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371600"/>
            <a:ext cx="3733800" cy="480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dirty="0" smtClean="0"/>
              <a:t>The axilla contains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/>
              <a:t>   The </a:t>
            </a:r>
            <a:r>
              <a:rPr lang="en-US" sz="2800" b="1" dirty="0" smtClean="0">
                <a:solidFill>
                  <a:srgbClr val="0000CC"/>
                </a:solidFill>
              </a:rPr>
              <a:t>axillary artery </a:t>
            </a:r>
            <a:r>
              <a:rPr lang="en-US" sz="2800" dirty="0" smtClean="0"/>
              <a:t>and </a:t>
            </a:r>
            <a:r>
              <a:rPr lang="en-US" sz="2800" b="1" dirty="0" smtClean="0">
                <a:solidFill>
                  <a:srgbClr val="0000CC"/>
                </a:solidFill>
              </a:rPr>
              <a:t>its branches, </a:t>
            </a:r>
            <a:endParaRPr lang="en-US" sz="2800" b="1" dirty="0" smtClean="0">
              <a:solidFill>
                <a:srgbClr val="0000CC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dirty="0" smtClean="0"/>
              <a:t>The</a:t>
            </a:r>
            <a:r>
              <a:rPr lang="en-US" sz="2800" b="1" dirty="0" smtClean="0">
                <a:solidFill>
                  <a:srgbClr val="0000CC"/>
                </a:solidFill>
              </a:rPr>
              <a:t> axillary vein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/>
              <a:t>and its tributaries,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/>
              <a:t>The</a:t>
            </a:r>
            <a:r>
              <a:rPr lang="en-US" sz="2800" dirty="0" smtClean="0">
                <a:solidFill>
                  <a:srgbClr val="0000CC"/>
                </a:solidFill>
              </a:rPr>
              <a:t> </a:t>
            </a:r>
            <a:r>
              <a:rPr lang="en-US" sz="2800" dirty="0" smtClean="0"/>
              <a:t>nerves of the cords and branches of the </a:t>
            </a:r>
            <a:r>
              <a:rPr lang="en-US" sz="2800" b="1" dirty="0" smtClean="0">
                <a:solidFill>
                  <a:srgbClr val="0000CC"/>
                </a:solidFill>
              </a:rPr>
              <a:t>brachial plexus</a:t>
            </a:r>
            <a:r>
              <a:rPr lang="en-US" sz="2800" dirty="0" smtClean="0">
                <a:solidFill>
                  <a:srgbClr val="0000CC"/>
                </a:solidFill>
              </a:rPr>
              <a:t>,</a:t>
            </a:r>
            <a:r>
              <a:rPr lang="en-US" sz="2800" dirty="0" smtClean="0"/>
              <a:t> lymphatic vessels</a:t>
            </a:r>
            <a:r>
              <a:rPr lang="en-US" sz="2800" dirty="0" smtClean="0">
                <a:solidFill>
                  <a:srgbClr val="0000CC"/>
                </a:solidFill>
              </a:rPr>
              <a:t>, and </a:t>
            </a:r>
            <a:r>
              <a:rPr lang="en-US" sz="2800" dirty="0" smtClean="0"/>
              <a:t>several groups of </a:t>
            </a:r>
            <a:r>
              <a:rPr lang="en-US" sz="2800" dirty="0" smtClean="0">
                <a:solidFill>
                  <a:srgbClr val="0000CC"/>
                </a:solidFill>
              </a:rPr>
              <a:t>axillary lymph  node</a:t>
            </a:r>
            <a:endParaRPr lang="en-US" sz="2800" dirty="0" smtClean="0">
              <a:solidFill>
                <a:srgbClr val="0000CC"/>
              </a:solidFill>
            </a:endParaRP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343400" y="1523999"/>
            <a:ext cx="4352544" cy="436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EFF-CC3D-4D89-98B2-5282878FD859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              </a:t>
            </a:r>
            <a:r>
              <a:rPr lang="en-US" b="1" dirty="0" smtClean="0">
                <a:solidFill>
                  <a:srgbClr val="FF0000"/>
                </a:solidFill>
                <a:latin typeface="Calibri" panose="020F0502020204030204" charset="0"/>
              </a:rPr>
              <a:t>Contents  contn</a:t>
            </a:r>
            <a:r>
              <a:rPr lang="en-US" b="1" dirty="0" smtClean="0">
                <a:solidFill>
                  <a:srgbClr val="FF0000"/>
                </a:solidFill>
              </a:rPr>
              <a:t>…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838200"/>
            <a:ext cx="3124200" cy="57150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9600" b="1" dirty="0" smtClean="0">
                <a:solidFill>
                  <a:srgbClr val="0000CC"/>
                </a:solidFill>
              </a:rPr>
              <a:t>Axillary artery</a:t>
            </a:r>
            <a:endParaRPr lang="en-US" sz="9600" b="1" dirty="0" smtClean="0">
              <a:solidFill>
                <a:srgbClr val="0000CC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 smtClean="0"/>
              <a:t>Extend from the first rib to </a:t>
            </a:r>
            <a:r>
              <a:rPr lang="en-US" sz="9600" b="1" dirty="0" smtClean="0">
                <a:solidFill>
                  <a:srgbClr val="0070C0"/>
                </a:solidFill>
              </a:rPr>
              <a:t>inferior border of teres major</a:t>
            </a:r>
            <a:endParaRPr lang="en-US" sz="96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 smtClean="0"/>
              <a:t>divided into </a:t>
            </a:r>
            <a:r>
              <a:rPr lang="en-US" sz="9600" dirty="0" smtClean="0">
                <a:solidFill>
                  <a:srgbClr val="FF0000"/>
                </a:solidFill>
              </a:rPr>
              <a:t>three parts </a:t>
            </a:r>
            <a:r>
              <a:rPr lang="en-US" sz="9600" dirty="0" smtClean="0"/>
              <a:t>relative to the pectoralis minor </a:t>
            </a:r>
            <a:endParaRPr lang="en-US" sz="9600" dirty="0" smtClean="0"/>
          </a:p>
          <a:p>
            <a:pPr marL="457200" indent="-457200">
              <a:buAutoNum type="arabicPeriod"/>
            </a:pPr>
            <a:r>
              <a:rPr lang="en-US" sz="9600" b="1" dirty="0" smtClean="0">
                <a:solidFill>
                  <a:srgbClr val="FF0000"/>
                </a:solidFill>
              </a:rPr>
              <a:t>1</a:t>
            </a:r>
            <a:r>
              <a:rPr lang="en-US" sz="9600" b="1" baseline="30000" dirty="0" smtClean="0">
                <a:solidFill>
                  <a:srgbClr val="FF0000"/>
                </a:solidFill>
              </a:rPr>
              <a:t>st</a:t>
            </a:r>
            <a:r>
              <a:rPr lang="en-US" sz="9600" b="1" dirty="0" smtClean="0">
                <a:solidFill>
                  <a:srgbClr val="FF0000"/>
                </a:solidFill>
              </a:rPr>
              <a:t> part </a:t>
            </a:r>
            <a:r>
              <a:rPr lang="en-US" sz="9600" dirty="0" smtClean="0"/>
              <a:t>-superior thoracic artery</a:t>
            </a:r>
            <a:endParaRPr lang="en-US" sz="9600" dirty="0" smtClean="0"/>
          </a:p>
          <a:p>
            <a:pPr marL="457200" indent="-457200">
              <a:buAutoNum type="arabicPeriod"/>
            </a:pPr>
            <a:r>
              <a:rPr lang="en-US" sz="9600" b="1" dirty="0" smtClean="0">
                <a:solidFill>
                  <a:srgbClr val="FF0000"/>
                </a:solidFill>
              </a:rPr>
              <a:t>2</a:t>
            </a:r>
            <a:r>
              <a:rPr lang="en-US" sz="9600" b="1" baseline="30000" dirty="0" smtClean="0">
                <a:solidFill>
                  <a:srgbClr val="FF0000"/>
                </a:solidFill>
              </a:rPr>
              <a:t>nd</a:t>
            </a:r>
            <a:r>
              <a:rPr lang="en-US" sz="9600" b="1" dirty="0" smtClean="0">
                <a:solidFill>
                  <a:srgbClr val="FF0000"/>
                </a:solidFill>
              </a:rPr>
              <a:t> part </a:t>
            </a:r>
            <a:r>
              <a:rPr lang="en-US" sz="9600" dirty="0" smtClean="0"/>
              <a:t>- thoraco acromial artery and lateral thoracic artery</a:t>
            </a:r>
            <a:endParaRPr lang="en-US" sz="9600" dirty="0" smtClean="0"/>
          </a:p>
          <a:p>
            <a:pPr marL="457200" indent="-457200">
              <a:buAutoNum type="arabicPeriod"/>
            </a:pPr>
            <a:r>
              <a:rPr lang="en-US" sz="9600" b="1" dirty="0" smtClean="0">
                <a:solidFill>
                  <a:srgbClr val="FF0000"/>
                </a:solidFill>
              </a:rPr>
              <a:t>3</a:t>
            </a:r>
            <a:r>
              <a:rPr lang="en-US" sz="9600" b="1" baseline="30000" dirty="0" smtClean="0">
                <a:solidFill>
                  <a:srgbClr val="FF0000"/>
                </a:solidFill>
              </a:rPr>
              <a:t>rd</a:t>
            </a:r>
            <a:r>
              <a:rPr lang="en-US" sz="9600" b="1" dirty="0" smtClean="0">
                <a:solidFill>
                  <a:srgbClr val="FF0000"/>
                </a:solidFill>
              </a:rPr>
              <a:t> part </a:t>
            </a:r>
            <a:r>
              <a:rPr lang="en-US" sz="9600" dirty="0" smtClean="0"/>
              <a:t>- subscapular artery, anterior circumflex  humoral artery, posterior circumflex humoral artery</a:t>
            </a:r>
            <a:endParaRPr lang="en-US" sz="9600" dirty="0" smtClean="0"/>
          </a:p>
          <a:p>
            <a:pPr>
              <a:buNone/>
            </a:pPr>
            <a:endParaRPr lang="en-US" sz="9600" dirty="0" smtClean="0"/>
          </a:p>
          <a:p>
            <a:pPr>
              <a:buNone/>
            </a:pPr>
            <a:endParaRPr lang="en-US" sz="8000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3276601" y="762000"/>
            <a:ext cx="5867400" cy="5562600"/>
          </a:xfr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5EE-BC5A-4CAC-AAD0-7649EA079FC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792162"/>
          </a:xfrm>
        </p:spPr>
        <p:txBody>
          <a:bodyPr/>
          <a:lstStyle/>
          <a:p>
            <a:r>
              <a:rPr lang="en-US" b="1" dirty="0" smtClean="0">
                <a:latin typeface="Calibri" panose="020F0502020204030204" charset="0"/>
              </a:rPr>
              <a:t>            </a:t>
            </a:r>
            <a:r>
              <a:rPr lang="en-US" b="1" dirty="0" smtClean="0">
                <a:solidFill>
                  <a:srgbClr val="FF0000"/>
                </a:solidFill>
                <a:latin typeface="Calibri" panose="020F0502020204030204" charset="0"/>
              </a:rPr>
              <a:t>Contents  contn</a:t>
            </a:r>
            <a:r>
              <a:rPr lang="en-US" b="1" dirty="0" smtClean="0">
                <a:solidFill>
                  <a:srgbClr val="FF0000"/>
                </a:solidFill>
              </a:rPr>
              <a:t>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914400"/>
            <a:ext cx="3048000" cy="51054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  Axillary vein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Anteromedial to axillary artery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Formed by the union of accompanying brachial vein and basilic vein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Ends at the lateral border of the 1st rib, where it becomes </a:t>
            </a:r>
            <a:r>
              <a:rPr lang="en-US" sz="2800" dirty="0" smtClean="0">
                <a:solidFill>
                  <a:srgbClr val="FF0000"/>
                </a:solidFill>
              </a:rPr>
              <a:t>the subclavian vein</a:t>
            </a:r>
            <a:endParaRPr lang="en-US" sz="2800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81400" y="1447800"/>
            <a:ext cx="5213985" cy="3829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8BC9B-83E1-4EEB-8FD3-1218CAB849BE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7724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alibri" panose="020F0502020204030204" charset="0"/>
              </a:rPr>
              <a:t>              </a:t>
            </a:r>
            <a:r>
              <a:rPr lang="en-US" b="1" dirty="0" smtClean="0">
                <a:solidFill>
                  <a:srgbClr val="0000CC"/>
                </a:solidFill>
                <a:latin typeface="Calibri" panose="020F0502020204030204" charset="0"/>
              </a:rPr>
              <a:t>Contents  contn</a:t>
            </a:r>
            <a:r>
              <a:rPr lang="en-US" b="1" dirty="0" smtClean="0">
                <a:solidFill>
                  <a:srgbClr val="0000CC"/>
                </a:solidFill>
              </a:rPr>
              <a:t>…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685800"/>
            <a:ext cx="4038600" cy="5943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  </a:t>
            </a:r>
            <a:r>
              <a:rPr lang="en-US" sz="2900" b="1" dirty="0" smtClean="0">
                <a:solidFill>
                  <a:srgbClr val="0000CC"/>
                </a:solidFill>
              </a:rPr>
              <a:t>AXILLARY LYMPH NODES</a:t>
            </a:r>
            <a:endParaRPr lang="en-US" sz="2900" b="1" dirty="0" smtClean="0">
              <a:solidFill>
                <a:srgbClr val="0000CC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/>
              <a:t>groups of axillary lymph nodes</a:t>
            </a:r>
            <a:endParaRPr lang="en-US" sz="2800" b="1" dirty="0" smtClean="0"/>
          </a:p>
          <a:p>
            <a:pPr marL="457200" indent="-457200">
              <a:buAutoNum type="arabicPeriod"/>
            </a:pPr>
            <a:r>
              <a:rPr lang="en-US" sz="2800" b="1" dirty="0" smtClean="0">
                <a:solidFill>
                  <a:srgbClr val="FF0000"/>
                </a:solidFill>
              </a:rPr>
              <a:t>pectoral (anterior) -</a:t>
            </a:r>
            <a:r>
              <a:rPr lang="en-US" sz="2800" b="1" dirty="0" smtClean="0"/>
              <a:t> </a:t>
            </a:r>
            <a:r>
              <a:rPr lang="en-US" sz="2400" dirty="0" smtClean="0"/>
              <a:t>from the lateral quadrants of the breast and superficial anterolateral abdominal wall above the umbilicus.</a:t>
            </a:r>
            <a:endParaRPr lang="en-US" sz="2800" b="1" dirty="0" smtClean="0"/>
          </a:p>
          <a:p>
            <a:pPr marL="457200" indent="-457200">
              <a:buAutoNum type="arabicPeriod"/>
            </a:pPr>
            <a:r>
              <a:rPr lang="en-US" sz="2800" b="1" dirty="0" smtClean="0">
                <a:solidFill>
                  <a:srgbClr val="FF0000"/>
                </a:solidFill>
              </a:rPr>
              <a:t>Subscapular (posterior) </a:t>
            </a:r>
            <a:r>
              <a:rPr lang="en-US" sz="2400" dirty="0" smtClean="0"/>
              <a:t>from the back, down as far as the level of the iliac crests. </a:t>
            </a:r>
            <a:endParaRPr lang="en-US" sz="2800" b="1" dirty="0" smtClean="0"/>
          </a:p>
          <a:p>
            <a:pPr marL="457200" indent="-457200">
              <a:buAutoNum type="arabicPeriod"/>
            </a:pPr>
            <a:r>
              <a:rPr lang="en-US" sz="2800" b="1" dirty="0" smtClean="0">
                <a:solidFill>
                  <a:srgbClr val="FF0000"/>
                </a:solidFill>
              </a:rPr>
              <a:t>Humeral (lateral) </a:t>
            </a:r>
            <a:r>
              <a:rPr lang="en-US" sz="2800" b="1" dirty="0" smtClean="0"/>
              <a:t>- </a:t>
            </a:r>
            <a:r>
              <a:rPr lang="en-US" sz="2400" dirty="0" smtClean="0"/>
              <a:t>from the upper limb </a:t>
            </a:r>
            <a:endParaRPr lang="en-US" sz="2800" b="1" dirty="0" smtClean="0"/>
          </a:p>
          <a:p>
            <a:pPr marL="457200" indent="-457200">
              <a:buAutoNum type="arabicPeriod"/>
            </a:pPr>
            <a:r>
              <a:rPr lang="en-US" sz="2800" b="1" dirty="0" smtClean="0">
                <a:solidFill>
                  <a:srgbClr val="FF0000"/>
                </a:solidFill>
              </a:rPr>
              <a:t>The central nodes </a:t>
            </a:r>
            <a:r>
              <a:rPr lang="en-US" sz="2800" b="1" dirty="0" smtClean="0"/>
              <a:t>- deep to the pectoralis minor near the base of the </a:t>
            </a:r>
            <a:r>
              <a:rPr lang="en-US" sz="2800" b="1" dirty="0" err="1" smtClean="0"/>
              <a:t>axilla</a:t>
            </a:r>
            <a:r>
              <a:rPr lang="en-US" sz="2800" b="1" dirty="0" smtClean="0"/>
              <a:t>,</a:t>
            </a:r>
            <a:r>
              <a:rPr lang="en-US" sz="2400" dirty="0" smtClean="0"/>
              <a:t> from the above three groups</a:t>
            </a:r>
            <a:r>
              <a:rPr lang="en-US" sz="2800" b="1" dirty="0" smtClean="0"/>
              <a:t> </a:t>
            </a:r>
            <a:endParaRPr lang="en-US" sz="2800" b="1" dirty="0" smtClean="0"/>
          </a:p>
          <a:p>
            <a:pPr marL="457200" indent="-457200">
              <a:buAutoNum type="arabicPeriod"/>
            </a:pPr>
            <a:r>
              <a:rPr lang="en-US" sz="2800" b="1" dirty="0" smtClean="0">
                <a:solidFill>
                  <a:srgbClr val="FF0000"/>
                </a:solidFill>
              </a:rPr>
              <a:t>The apical nodes </a:t>
            </a:r>
            <a:r>
              <a:rPr lang="en-US" sz="2800" b="1" dirty="0" smtClean="0"/>
              <a:t>- at the apex of the </a:t>
            </a:r>
            <a:r>
              <a:rPr lang="en-US" sz="2800" b="1" dirty="0" err="1" smtClean="0"/>
              <a:t>axilla</a:t>
            </a:r>
            <a:r>
              <a:rPr lang="en-US" sz="2800" b="1" dirty="0" smtClean="0"/>
              <a:t> , </a:t>
            </a:r>
            <a:r>
              <a:rPr lang="en-US" sz="2400" dirty="0" smtClean="0"/>
              <a:t>receive the efferent lymph vessels from all the other axillary nodes.</a:t>
            </a:r>
            <a:endParaRPr lang="en-US" sz="2800" b="1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191000" y="1821452"/>
            <a:ext cx="4952999" cy="3512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707C-E122-4921-AC91-D43596D1DA5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0772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alibri" panose="020F0502020204030204" charset="0"/>
              </a:rPr>
              <a:t>                </a:t>
            </a:r>
            <a:r>
              <a:rPr lang="en-US" b="1" dirty="0" smtClean="0">
                <a:solidFill>
                  <a:srgbClr val="0000CC"/>
                </a:solidFill>
                <a:latin typeface="Calibri" panose="020F0502020204030204" charset="0"/>
              </a:rPr>
              <a:t>Contents  contn</a:t>
            </a:r>
            <a:r>
              <a:rPr lang="en-US" b="1" dirty="0" smtClean="0">
                <a:solidFill>
                  <a:srgbClr val="0000CC"/>
                </a:solidFill>
              </a:rPr>
              <a:t>…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066800"/>
            <a:ext cx="4114800" cy="54864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>
                <a:solidFill>
                  <a:srgbClr val="0000CC"/>
                </a:solidFill>
              </a:rPr>
              <a:t>BRACHIAL PLEXUS</a:t>
            </a:r>
            <a:endParaRPr lang="en-US" b="1" dirty="0" smtClean="0">
              <a:solidFill>
                <a:srgbClr val="0000CC"/>
              </a:solidFill>
            </a:endParaRPr>
          </a:p>
          <a:p>
            <a:r>
              <a:rPr lang="en-US" sz="2800" dirty="0" smtClean="0"/>
              <a:t>is formed by the union of the anterior rami of the C5-T1 nerves, which constitute the </a:t>
            </a:r>
            <a:r>
              <a:rPr lang="en-US" sz="2800" b="1" dirty="0" smtClean="0">
                <a:solidFill>
                  <a:srgbClr val="FF0000"/>
                </a:solidFill>
              </a:rPr>
              <a:t>roots of brachial plexus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dirty="0" smtClean="0"/>
              <a:t>the roots unite to form three </a:t>
            </a:r>
            <a:r>
              <a:rPr lang="en-US" sz="2800" b="1" dirty="0" smtClean="0">
                <a:solidFill>
                  <a:srgbClr val="FF0000"/>
                </a:solidFill>
              </a:rPr>
              <a:t>trunks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A superior trunk</a:t>
            </a:r>
            <a:r>
              <a:rPr lang="en-US" sz="2800" dirty="0" smtClean="0"/>
              <a:t>, from the union of the C5 and C6 roots.</a:t>
            </a:r>
            <a:endParaRPr lang="en-US" sz="2800" dirty="0" smtClean="0"/>
          </a:p>
          <a:p>
            <a:r>
              <a:rPr lang="en-US" sz="2800" b="1" dirty="0" smtClean="0">
                <a:solidFill>
                  <a:srgbClr val="FF0000"/>
                </a:solidFill>
              </a:rPr>
              <a:t>A middle trunk</a:t>
            </a:r>
            <a:r>
              <a:rPr lang="en-US" sz="2800" dirty="0" smtClean="0"/>
              <a:t>, which is a continuation of the C7 root.</a:t>
            </a:r>
            <a:endParaRPr lang="en-US" sz="2800" dirty="0" smtClean="0"/>
          </a:p>
          <a:p>
            <a:r>
              <a:rPr lang="en-US" sz="2800" b="1" dirty="0" smtClean="0">
                <a:solidFill>
                  <a:srgbClr val="FF0000"/>
                </a:solidFill>
              </a:rPr>
              <a:t>An inferior trunk</a:t>
            </a:r>
            <a:r>
              <a:rPr lang="en-US" sz="2800" dirty="0" smtClean="0"/>
              <a:t>, from the union of the C8 and T1 roots</a:t>
            </a:r>
            <a:endParaRPr lang="en-US" sz="2800" dirty="0" smtClean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4933950" y="1584670"/>
            <a:ext cx="3749675" cy="4298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68F6-9198-403B-B521-4003CC7394C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93750" y="0"/>
            <a:ext cx="7804459" cy="6453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33400" y="63246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Roots, trunks, divisions, cords, and terminal branches of the brachial plexus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0775-BD96-4CFD-A57D-78CA10566DD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>
            <a:lum bright="-24000" contrast="30000"/>
          </a:blip>
          <a:srcRect t="3571" b="356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7D76-EFDC-4E88-912D-3936C029F329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944562"/>
          </a:xfrm>
        </p:spPr>
        <p:txBody>
          <a:bodyPr/>
          <a:lstStyle/>
          <a:p>
            <a:r>
              <a:rPr lang="en-US" dirty="0" smtClean="0">
                <a:latin typeface="Baskerville Old Face" panose="02020602080505020303" pitchFamily="18" charset="0"/>
              </a:rPr>
              <a:t>             </a:t>
            </a:r>
            <a:r>
              <a:rPr lang="en-US" dirty="0" smtClean="0">
                <a:solidFill>
                  <a:srgbClr val="FF0000"/>
                </a:solidFill>
                <a:latin typeface="Baskerville Old Face" panose="02020602080505020303" pitchFamily="18" charset="0"/>
              </a:rPr>
              <a:t>Brachial plexus</a:t>
            </a:r>
            <a:endParaRPr lang="en-US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95400"/>
            <a:ext cx="39624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Each trunk divides into </a:t>
            </a:r>
            <a:r>
              <a:rPr lang="en-US" sz="2800" b="1" dirty="0" smtClean="0">
                <a:solidFill>
                  <a:srgbClr val="0000CC"/>
                </a:solidFill>
              </a:rPr>
              <a:t>anterior and posterior </a:t>
            </a:r>
            <a:r>
              <a:rPr lang="en-US" sz="2800" dirty="0" smtClean="0"/>
              <a:t>divisions</a:t>
            </a:r>
            <a:endParaRPr lang="en-US" sz="2800" dirty="0" smtClean="0"/>
          </a:p>
          <a:p>
            <a:r>
              <a:rPr lang="en-US" dirty="0" smtClean="0"/>
              <a:t>The brachial plexus is divided into </a:t>
            </a:r>
            <a:r>
              <a:rPr lang="en-US" b="1" dirty="0" smtClean="0">
                <a:solidFill>
                  <a:srgbClr val="0000CC"/>
                </a:solidFill>
              </a:rPr>
              <a:t>supraclavicular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00CC"/>
                </a:solidFill>
              </a:rPr>
              <a:t>infraclavicular</a:t>
            </a:r>
            <a:r>
              <a:rPr lang="en-US" dirty="0" smtClean="0"/>
              <a:t> parts by the clavicle</a:t>
            </a:r>
            <a:endParaRPr lang="en-US" dirty="0" smtClean="0"/>
          </a:p>
          <a:p>
            <a:r>
              <a:rPr lang="en-US" dirty="0" smtClean="0"/>
              <a:t>Four branches of the </a:t>
            </a:r>
            <a:r>
              <a:rPr lang="en-US" b="1" dirty="0" smtClean="0">
                <a:solidFill>
                  <a:srgbClr val="0000CC"/>
                </a:solidFill>
              </a:rPr>
              <a:t>supraclavicular</a:t>
            </a:r>
            <a:r>
              <a:rPr lang="en-US" dirty="0" smtClean="0"/>
              <a:t> part of the plexus arise from the roots (anterior rami) and trunks of the brachial plexus (</a:t>
            </a:r>
            <a:r>
              <a:rPr lang="en-US" dirty="0" smtClean="0">
                <a:solidFill>
                  <a:srgbClr val="0000CC"/>
                </a:solidFill>
              </a:rPr>
              <a:t>dorsal scapular nerve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00CC"/>
                </a:solidFill>
              </a:rPr>
              <a:t>long thoracic </a:t>
            </a:r>
            <a:r>
              <a:rPr lang="en-US" dirty="0" smtClean="0"/>
              <a:t>nerve, nerve to </a:t>
            </a:r>
            <a:r>
              <a:rPr lang="en-US" dirty="0" smtClean="0">
                <a:solidFill>
                  <a:srgbClr val="0000CC"/>
                </a:solidFill>
              </a:rPr>
              <a:t>Subclavius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0000CC"/>
                </a:solidFill>
              </a:rPr>
              <a:t>suprascapular</a:t>
            </a:r>
            <a:r>
              <a:rPr lang="en-US" dirty="0" smtClean="0"/>
              <a:t> nerve) 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4933950" y="2325309"/>
            <a:ext cx="3749675" cy="2816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85A-919A-4039-A7D6-123B5E4194A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685800" y="0"/>
            <a:ext cx="8153400" cy="6858000"/>
          </a:xfrm>
          <a:prstGeom prst="rect">
            <a:avLst/>
          </a:prstGeom>
          <a:noFill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5421-D35A-4020-A2C0-903CBA59173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            </a:t>
            </a:r>
            <a:r>
              <a:rPr lang="en-US" dirty="0" smtClean="0">
                <a:solidFill>
                  <a:srgbClr val="FF0000"/>
                </a:solidFill>
              </a:rPr>
              <a:t>Brachial plexus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371600"/>
            <a:ext cx="3749040" cy="5105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i="1" dirty="0" smtClean="0"/>
              <a:t>The divisions of the trunks form three cords of the brachial plexus, within the axilla </a:t>
            </a:r>
            <a:endParaRPr lang="en-US" sz="2800" b="1" i="1" dirty="0" smtClean="0"/>
          </a:p>
          <a:p>
            <a:r>
              <a:rPr lang="en-US" sz="2800" dirty="0" smtClean="0"/>
              <a:t>Anterior divisions of the superior and middle trunks unite to form the </a:t>
            </a:r>
            <a:r>
              <a:rPr lang="en-US" sz="2800" b="1" dirty="0" smtClean="0">
                <a:solidFill>
                  <a:srgbClr val="FF0000"/>
                </a:solidFill>
              </a:rPr>
              <a:t>lateral cord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r>
              <a:rPr lang="en-US" sz="2800" dirty="0" smtClean="0"/>
              <a:t>Anterior division of the inferior trunk continues </a:t>
            </a:r>
            <a:r>
              <a:rPr lang="en-US" sz="2800" b="1" dirty="0" smtClean="0">
                <a:solidFill>
                  <a:srgbClr val="FF0000"/>
                </a:solidFill>
              </a:rPr>
              <a:t>as the medial cord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r>
              <a:rPr lang="en-US" sz="2800" dirty="0" smtClean="0"/>
              <a:t>Posterior divisions of all three trunks unite to form the </a:t>
            </a:r>
            <a:r>
              <a:rPr lang="en-US" sz="2800" b="1" dirty="0" smtClean="0">
                <a:solidFill>
                  <a:srgbClr val="FF0000"/>
                </a:solidFill>
              </a:rPr>
              <a:t>posterior cord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62400" y="1524000"/>
            <a:ext cx="4703921" cy="3533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72FE-58A6-4671-9303-7B32DEB75FE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792162"/>
          </a:xfrm>
        </p:spPr>
        <p:txBody>
          <a:bodyPr>
            <a:normAutofit/>
          </a:bodyPr>
          <a:lstStyle/>
          <a:p>
            <a:r>
              <a:rPr lang="en-US" dirty="0" smtClean="0"/>
              <a:t>      Branches of brachial plexus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3962400" cy="541020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Branches of the </a:t>
            </a:r>
            <a:r>
              <a:rPr lang="en-US" sz="2400" b="1" dirty="0" smtClean="0">
                <a:solidFill>
                  <a:srgbClr val="FF0000"/>
                </a:solidFill>
              </a:rPr>
              <a:t>lateral cord</a:t>
            </a:r>
            <a:r>
              <a:rPr lang="en-US" sz="2400" b="1" dirty="0" smtClean="0"/>
              <a:t>.</a:t>
            </a:r>
            <a:endParaRPr lang="en-US" sz="2400" b="1" dirty="0" smtClean="0"/>
          </a:p>
          <a:p>
            <a:r>
              <a:rPr lang="en-US" sz="2400" dirty="0" smtClean="0"/>
              <a:t>Musculocutaneous nerve</a:t>
            </a:r>
            <a:endParaRPr lang="en-US" sz="2400" dirty="0" smtClean="0"/>
          </a:p>
          <a:p>
            <a:r>
              <a:rPr lang="en-US" sz="2400" dirty="0" smtClean="0"/>
              <a:t>Lateral pectoral nerve</a:t>
            </a:r>
            <a:endParaRPr lang="en-US" sz="2400" dirty="0" smtClean="0"/>
          </a:p>
          <a:p>
            <a:r>
              <a:rPr lang="en-US" sz="2400" dirty="0" smtClean="0"/>
              <a:t>Lateral root of median nerve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Branches of the </a:t>
            </a:r>
            <a:r>
              <a:rPr lang="en-US" sz="2400" b="1" dirty="0" smtClean="0">
                <a:solidFill>
                  <a:srgbClr val="FF0000"/>
                </a:solidFill>
              </a:rPr>
              <a:t>Median cord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Medial pectoral nerve</a:t>
            </a:r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Medial cutaneous nerve of arm</a:t>
            </a:r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Medial cutaneous </a:t>
            </a:r>
            <a:r>
              <a:rPr lang="en-US" sz="2400" dirty="0" err="1" smtClean="0"/>
              <a:t>n.of</a:t>
            </a:r>
            <a:r>
              <a:rPr lang="en-US" sz="2400" dirty="0" smtClean="0"/>
              <a:t> forearm</a:t>
            </a:r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Medial root of Median nerve</a:t>
            </a:r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Ulnar nerve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240337" y="2466975"/>
            <a:ext cx="31369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66FA2-8E7E-48BF-89C7-58F39DF35C6E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001000" cy="7921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Branches of brachial plexus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413004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Branches of Posterior cord</a:t>
            </a:r>
            <a:endParaRPr lang="en-US" sz="2800" dirty="0" smtClean="0"/>
          </a:p>
          <a:p>
            <a:pPr lvl="1"/>
            <a:r>
              <a:rPr lang="en-US" dirty="0" smtClean="0"/>
              <a:t>Superior subscapular n.</a:t>
            </a:r>
            <a:endParaRPr lang="en-US" dirty="0" smtClean="0"/>
          </a:p>
          <a:p>
            <a:pPr lvl="1"/>
            <a:r>
              <a:rPr lang="en-US" sz="2800" dirty="0" smtClean="0"/>
              <a:t>Thoracodorsal n.</a:t>
            </a:r>
            <a:endParaRPr lang="en-US" sz="2800" dirty="0" smtClean="0"/>
          </a:p>
          <a:p>
            <a:pPr lvl="1"/>
            <a:r>
              <a:rPr lang="en-US" sz="2800" dirty="0" smtClean="0"/>
              <a:t>Inferior subscapular n.</a:t>
            </a:r>
            <a:endParaRPr lang="en-US" sz="2800" dirty="0" smtClean="0"/>
          </a:p>
          <a:p>
            <a:pPr lvl="1"/>
            <a:r>
              <a:rPr lang="en-US" sz="2800" dirty="0" smtClean="0"/>
              <a:t>Axillary n.</a:t>
            </a:r>
            <a:endParaRPr lang="en-US" sz="2800" dirty="0" smtClean="0"/>
          </a:p>
          <a:p>
            <a:pPr lvl="1"/>
            <a:r>
              <a:rPr lang="en-US" dirty="0" smtClean="0"/>
              <a:t>Radial n.</a:t>
            </a:r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5240337" y="2466975"/>
            <a:ext cx="31369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53BC-EB15-421F-95FE-E2B3B0FFFE6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1000" y="199716"/>
            <a:ext cx="8382000" cy="6647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EFDCD-2908-46E1-A346-31382577DFEE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58200" cy="5334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Baskerville Old Face" panose="02020602080505020303" pitchFamily="18" charset="0"/>
              </a:rPr>
              <a:t>         </a:t>
            </a:r>
            <a:r>
              <a:rPr lang="en-US" b="1" dirty="0" smtClean="0">
                <a:solidFill>
                  <a:srgbClr val="FF0000"/>
                </a:solidFill>
                <a:latin typeface="Baskerville Old Face" panose="02020602080505020303" pitchFamily="18" charset="0"/>
              </a:rPr>
              <a:t>Brachial plexus Injury</a:t>
            </a:r>
            <a:endParaRPr lang="en-US" b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914400"/>
            <a:ext cx="8382000" cy="25146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Injuries to superior parts of the brachial plexus (C5 and C6) (</a:t>
            </a:r>
            <a:r>
              <a:rPr lang="en-US" sz="2800" b="1" dirty="0" err="1" smtClean="0">
                <a:solidFill>
                  <a:srgbClr val="0000CC"/>
                </a:solidFill>
              </a:rPr>
              <a:t>Erb-Duchenne</a:t>
            </a:r>
            <a:r>
              <a:rPr lang="en-US" sz="2800" b="1" dirty="0" smtClean="0">
                <a:solidFill>
                  <a:srgbClr val="0000CC"/>
                </a:solidFill>
              </a:rPr>
              <a:t> palsy), </a:t>
            </a:r>
            <a:r>
              <a:rPr lang="en-US" sz="2800" dirty="0" smtClean="0"/>
              <a:t>usually result from an excessive increase in the angle between the neck and the shoulder.</a:t>
            </a:r>
            <a:endParaRPr lang="en-US" sz="2800" dirty="0" smtClean="0"/>
          </a:p>
          <a:p>
            <a:r>
              <a:rPr lang="en-US" sz="2800" dirty="0" smtClean="0"/>
              <a:t>characteristic position of the limb </a:t>
            </a:r>
            <a:r>
              <a:rPr lang="en-US" sz="2800" b="1" dirty="0" smtClean="0">
                <a:solidFill>
                  <a:srgbClr val="0000CC"/>
                </a:solidFill>
              </a:rPr>
              <a:t>waiter's tip position</a:t>
            </a:r>
            <a:endParaRPr lang="en-US" sz="2800" b="1" dirty="0" smtClean="0">
              <a:solidFill>
                <a:srgbClr val="0000CC"/>
              </a:solidFill>
            </a:endParaRPr>
          </a:p>
          <a:p>
            <a:r>
              <a:rPr lang="en-US" sz="2800" dirty="0" smtClean="0"/>
              <a:t>The usual clinical appearance is an upper limb with </a:t>
            </a:r>
            <a:r>
              <a:rPr lang="en-US" sz="2800" b="1" dirty="0" smtClean="0">
                <a:solidFill>
                  <a:srgbClr val="0000CC"/>
                </a:solidFill>
              </a:rPr>
              <a:t>an adducted shoulder, medially rotated arm, and extended elbow</a:t>
            </a:r>
            <a:r>
              <a:rPr lang="en-US" sz="2800" b="1" u="sng" dirty="0" smtClean="0">
                <a:solidFill>
                  <a:srgbClr val="FF0000"/>
                </a:solidFill>
              </a:rPr>
              <a:t>.</a:t>
            </a:r>
            <a:endParaRPr lang="en-US" sz="2800" b="1" u="sng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19200" y="3200400"/>
            <a:ext cx="5973318" cy="3365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91AB-899C-4DF2-A082-33377CAD558A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8001000" cy="792162"/>
          </a:xfrm>
        </p:spPr>
        <p:txBody>
          <a:bodyPr/>
          <a:lstStyle/>
          <a:p>
            <a:r>
              <a:rPr lang="en-US" dirty="0" smtClean="0">
                <a:latin typeface="Baskerville Old Face" panose="02020602080505020303" pitchFamily="18" charset="0"/>
              </a:rPr>
              <a:t>         </a:t>
            </a:r>
            <a:r>
              <a:rPr lang="en-US" b="1" dirty="0" smtClean="0">
                <a:solidFill>
                  <a:srgbClr val="FF0000"/>
                </a:solidFill>
                <a:latin typeface="Baskerville Old Face" panose="02020602080505020303" pitchFamily="18" charset="0"/>
              </a:rPr>
              <a:t>Brachial plexus Injury</a:t>
            </a:r>
            <a:endParaRPr lang="en-US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8610600" cy="13716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    </a:t>
            </a:r>
            <a:r>
              <a:rPr lang="en-US" sz="3800" dirty="0" smtClean="0"/>
              <a:t>Injuries to inferior parts of the brachial plexus (</a:t>
            </a:r>
            <a:r>
              <a:rPr lang="en-US" sz="3800" dirty="0" smtClean="0">
                <a:solidFill>
                  <a:srgbClr val="0000CC"/>
                </a:solidFill>
              </a:rPr>
              <a:t>Klumpke paralysis</a:t>
            </a:r>
            <a:r>
              <a:rPr lang="en-US" sz="3800" dirty="0" smtClean="0"/>
              <a:t>) </a:t>
            </a:r>
            <a:endParaRPr lang="en-US" sz="3800" dirty="0" smtClean="0"/>
          </a:p>
          <a:p>
            <a:r>
              <a:rPr lang="en-US" sz="3800" dirty="0" smtClean="0"/>
              <a:t>The short muscles of the hand are affected and a </a:t>
            </a:r>
            <a:r>
              <a:rPr lang="en-US" sz="3800" dirty="0" smtClean="0">
                <a:solidFill>
                  <a:srgbClr val="0000CC"/>
                </a:solidFill>
              </a:rPr>
              <a:t>claw hand results </a:t>
            </a:r>
            <a:endParaRPr lang="en-US" sz="3800" dirty="0" smtClean="0">
              <a:solidFill>
                <a:srgbClr val="0000CC"/>
              </a:solidFill>
            </a:endParaRPr>
          </a:p>
          <a:p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38200" y="2514600"/>
            <a:ext cx="7125751" cy="374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4CAB-2F21-4E5A-877F-E07B790EDC0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C767A-3610-47D0-8132-4D7761ACBCDD}" type="slidenum">
              <a:rPr lang="en-US" smtClean="0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168962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304800"/>
            <a:ext cx="8686800" cy="6400800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sz="3200" b="1" dirty="0" smtClean="0">
                <a:solidFill>
                  <a:srgbClr val="00B050"/>
                </a:solidFill>
              </a:rPr>
              <a:t>                </a:t>
            </a:r>
            <a:endParaRPr lang="en-US" sz="3200" b="1" dirty="0" smtClean="0">
              <a:solidFill>
                <a:srgbClr val="00B050"/>
              </a:solidFill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3200" b="1" dirty="0" smtClean="0">
                <a:solidFill>
                  <a:srgbClr val="00B050"/>
                </a:solidFill>
              </a:rPr>
              <a:t>     </a:t>
            </a:r>
            <a:endParaRPr lang="en-US" sz="3200" b="1" dirty="0" smtClean="0">
              <a:solidFill>
                <a:srgbClr val="00B050"/>
              </a:solidFill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sz="3200" b="1" dirty="0" smtClean="0">
                <a:solidFill>
                  <a:srgbClr val="00B050"/>
                </a:solidFill>
              </a:rPr>
              <a:t>        Variations of the Brachial Plexus</a:t>
            </a:r>
            <a:endParaRPr lang="en-US" sz="3200" b="1" dirty="0" smtClean="0">
              <a:solidFill>
                <a:srgbClr val="00B05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rgbClr val="00B050"/>
                </a:solidFill>
              </a:rPr>
              <a:t>Prefixed brachial plexus</a:t>
            </a:r>
            <a:r>
              <a:rPr lang="en-US" sz="3200" b="1" dirty="0" smtClean="0"/>
              <a:t>:-</a:t>
            </a:r>
            <a:r>
              <a:rPr lang="en-US" sz="3200" dirty="0" smtClean="0"/>
              <a:t> </a:t>
            </a:r>
            <a:r>
              <a:rPr lang="en-US" sz="2800" dirty="0" smtClean="0"/>
              <a:t>When the superiormost root (anterior ramus) of the plexus is C4 and the inferiormost root is C8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rgbClr val="00B050"/>
                </a:solidFill>
              </a:rPr>
              <a:t>Postfixed brachial plexus</a:t>
            </a:r>
            <a:r>
              <a:rPr lang="en-US" sz="3200" dirty="0" smtClean="0"/>
              <a:t>:- </a:t>
            </a:r>
            <a:r>
              <a:rPr lang="en-US" sz="2800" dirty="0" smtClean="0"/>
              <a:t>when the superior root is C6 and the inferior root is T2</a:t>
            </a:r>
            <a:endParaRPr lang="en-US" sz="3200" b="1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B797-9FB4-42B0-B7A7-AE7EFB3F8C43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14560</Words>
  <Application>WPS Presentation</Application>
  <PresentationFormat>On-screen Show (4:3)</PresentationFormat>
  <Paragraphs>692</Paragraphs>
  <Slides>49</Slides>
  <Notes>94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3" baseType="lpstr">
      <vt:lpstr>Arial</vt:lpstr>
      <vt:lpstr>SimSun</vt:lpstr>
      <vt:lpstr>Wingdings</vt:lpstr>
      <vt:lpstr>Wingdings 2</vt:lpstr>
      <vt:lpstr>Bookman Old Style</vt:lpstr>
      <vt:lpstr>Algerian</vt:lpstr>
      <vt:lpstr>Times New Roman</vt:lpstr>
      <vt:lpstr>Microsoft YaHei</vt:lpstr>
      <vt:lpstr>Arial Unicode MS</vt:lpstr>
      <vt:lpstr>Calibri</vt:lpstr>
      <vt:lpstr>Wingdings 2</vt:lpstr>
      <vt:lpstr>Baskerville Old Face</vt:lpstr>
      <vt:lpstr>Tahoma</vt:lpstr>
      <vt:lpstr>Equity</vt:lpstr>
      <vt:lpstr> Anterior Axio-Appendicular Muscles</vt:lpstr>
      <vt:lpstr>        Pectoralis major</vt:lpstr>
      <vt:lpstr> Pectoralis major</vt:lpstr>
      <vt:lpstr>PowerPoint 演示文稿</vt:lpstr>
      <vt:lpstr>PowerPoint 演示文稿</vt:lpstr>
      <vt:lpstr>Pectoralis minor</vt:lpstr>
      <vt:lpstr>                   Subclavius</vt:lpstr>
      <vt:lpstr>Serratus anterior</vt:lpstr>
      <vt:lpstr>Paralysis of serratus anterior </vt:lpstr>
      <vt:lpstr>  Posterior Axioappendicular Muscles</vt:lpstr>
      <vt:lpstr>PowerPoint 演示文稿</vt:lpstr>
      <vt:lpstr>Superficial Muscles</vt:lpstr>
      <vt:lpstr>PowerPoint 演示文稿</vt:lpstr>
      <vt:lpstr>PowerPoint 演示文稿</vt:lpstr>
      <vt:lpstr>PowerPoint 演示文稿</vt:lpstr>
      <vt:lpstr>Deep Muscles</vt:lpstr>
      <vt:lpstr>PowerPoint 演示文稿</vt:lpstr>
      <vt:lpstr>Scapulohumeral Muscles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Injury to axillary nerve</vt:lpstr>
      <vt:lpstr>PowerPoint 演示文稿</vt:lpstr>
      <vt:lpstr>PowerPoint 演示文稿</vt:lpstr>
      <vt:lpstr>PowerPoint 演示文稿</vt:lpstr>
      <vt:lpstr>                                AXILLA</vt:lpstr>
      <vt:lpstr>PowerPoint 演示文稿</vt:lpstr>
      <vt:lpstr>PowerPoint 演示文稿</vt:lpstr>
      <vt:lpstr>          Contents of the axilla</vt:lpstr>
      <vt:lpstr>                Contents  contn…</vt:lpstr>
      <vt:lpstr>            Contents  contn…</vt:lpstr>
      <vt:lpstr>              Contents  contn…</vt:lpstr>
      <vt:lpstr>                Contents  contn…</vt:lpstr>
      <vt:lpstr>PowerPoint 演示文稿</vt:lpstr>
      <vt:lpstr>PowerPoint 演示文稿</vt:lpstr>
      <vt:lpstr>             Brachial plexus</vt:lpstr>
      <vt:lpstr>PowerPoint 演示文稿</vt:lpstr>
      <vt:lpstr>              Brachial plexus</vt:lpstr>
      <vt:lpstr>      Branches of brachial plexus</vt:lpstr>
      <vt:lpstr>Branches of brachial plexus</vt:lpstr>
      <vt:lpstr>PowerPoint 演示文稿</vt:lpstr>
      <vt:lpstr>         Brachial plexus Injury</vt:lpstr>
      <vt:lpstr>         Brachial plexus Injury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daved</cp:lastModifiedBy>
  <cp:revision>53</cp:revision>
  <dcterms:created xsi:type="dcterms:W3CDTF">2025-10-01T03:43:00Z</dcterms:created>
  <dcterms:modified xsi:type="dcterms:W3CDTF">2026-10-01T23:21:41Z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2843CB97BB314EA5AC11DF1AD9553997_12</vt:lpwstr>
  </property>
  <property fmtid="{D5CDD505-2E9C-101B-9397-08002B2CF9AE}" pid="3" name="KSOProductBuildVer">
    <vt:lpwstr>1033-12.1.0.28485</vt:lpwstr>
  </property>
</Properties>
</file>