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486" r:id="rId5"/>
    <p:sldId id="487" r:id="rId6"/>
    <p:sldId id="488" r:id="rId7"/>
    <p:sldId id="489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08" r:id="rId27"/>
    <p:sldId id="509" r:id="rId28"/>
    <p:sldId id="510" r:id="rId29"/>
    <p:sldId id="511" r:id="rId30"/>
    <p:sldId id="512" r:id="rId31"/>
    <p:sldId id="513" r:id="rId32"/>
    <p:sldId id="514" r:id="rId33"/>
    <p:sldId id="515" r:id="rId34"/>
    <p:sldId id="516" r:id="rId35"/>
    <p:sldId id="517" r:id="rId36"/>
    <p:sldId id="518" r:id="rId37"/>
    <p:sldId id="519" r:id="rId38"/>
    <p:sldId id="520" r:id="rId39"/>
    <p:sldId id="522" r:id="rId40"/>
    <p:sldId id="523" r:id="rId41"/>
    <p:sldId id="524" r:id="rId42"/>
    <p:sldId id="525" r:id="rId43"/>
    <p:sldId id="526" r:id="rId44"/>
    <p:sldId id="527" r:id="rId45"/>
    <p:sldId id="528" r:id="rId46"/>
    <p:sldId id="529" r:id="rId47"/>
    <p:sldId id="530" r:id="rId48"/>
    <p:sldId id="531" r:id="rId49"/>
    <p:sldId id="532" r:id="rId50"/>
    <p:sldId id="533" r:id="rId51"/>
    <p:sldId id="534" r:id="rId52"/>
    <p:sldId id="535" r:id="rId53"/>
    <p:sldId id="536" r:id="rId54"/>
    <p:sldId id="537" r:id="rId55"/>
    <p:sldId id="538" r:id="rId56"/>
    <p:sldId id="539" r:id="rId57"/>
    <p:sldId id="540" r:id="rId58"/>
    <p:sldId id="541" r:id="rId59"/>
    <p:sldId id="542" r:id="rId60"/>
    <p:sldId id="543" r:id="rId61"/>
    <p:sldId id="544" r:id="rId62"/>
    <p:sldId id="545" r:id="rId63"/>
    <p:sldId id="546" r:id="rId64"/>
    <p:sldId id="547" r:id="rId65"/>
    <p:sldId id="548" r:id="rId66"/>
    <p:sldId id="549" r:id="rId67"/>
    <p:sldId id="550" r:id="rId68"/>
    <p:sldId id="551" r:id="rId69"/>
    <p:sldId id="552" r:id="rId70"/>
    <p:sldId id="553" r:id="rId71"/>
    <p:sldId id="554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862D-8B54-4CDD-8F85-E7AD9CD932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300F-BBDA-4407-AF8A-C7FA6ABBCE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4C11-C584-4F7E-B6BF-F773E27A3577}" type="datetime1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ABE656-228C-406A-9A57-1E237FF79507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2B08-2F63-41F8-A383-29486B53222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B01A-E40F-41B6-A05B-AE2D1C4DEEC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CA23-3469-43D1-A552-179F4BEC6B6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66BE-CE19-4735-90F2-231AC62970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1C05-A31B-4359-8FAE-3CB8B5CFDA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3FAE-45AF-439C-A762-EC6468E090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D080-A202-46A6-BCC7-3C49A4836C8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E182-3362-4A56-A8EC-155D9CF3D658}" type="datetime1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>
                <a:solidFill>
                  <a:srgbClr val="F4E7ED"/>
                </a:solidFill>
              </a:rPr>
              <a:t>By: Rebuma S(MSc, MPHE)</a:t>
            </a:r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2A81-38DA-4869-99E7-93B9EF4336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2914-A835-49B3-B46C-8AF56C7D7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9E90-4952-4089-8DAF-AC643F5A865A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F5B8F-EA73-40E0-A31A-5073FE3D67F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740CBA6-71A9-4133-9A2A-719A02FDF8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69D8412-A232-4D6F-BEE2-F8F1A41323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0887C-0AD0-4570-984E-713F7989786D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5E59-99A9-49A2-B699-54E56DB16675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243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168A5B9-7AF8-4CD4-82E5-647AB48799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59A138-7F5E-44B8-877C-D89754D96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A59C65B-B0B8-4F08-B9D0-2B8B50D824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F273128-4E4D-489D-882C-97F09F4242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1.png"/><Relationship Id="rId1" Type="http://schemas.openxmlformats.org/officeDocument/2006/relationships/image" Target="../media/image50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4.png"/><Relationship Id="rId1" Type="http://schemas.openxmlformats.org/officeDocument/2006/relationships/image" Target="../media/image53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6.png"/><Relationship Id="rId1" Type="http://schemas.openxmlformats.org/officeDocument/2006/relationships/image" Target="../media/image55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1" Type="http://schemas.openxmlformats.org/officeDocument/2006/relationships/image" Target="../media/image61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7630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                        Pelvic Girdle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4F5B-311D-40B9-9FD3-EA47E85D140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4114800" cy="5181600"/>
          </a:xfrm>
          <a:ln>
            <a:solidFill>
              <a:srgbClr val="FF0000"/>
            </a:solidFill>
          </a:ln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Blip>
                <a:blip r:embed="rId2"/>
              </a:buBlip>
            </a:pPr>
            <a:r>
              <a:rPr lang="en-US" dirty="0" smtClean="0">
                <a:latin typeface="Calibri" panose="020F0502020204030204" pitchFamily="34" charset="0"/>
              </a:rPr>
              <a:t>Ring of bones that connects the vertebral column to the femurs</a:t>
            </a:r>
            <a:endParaRPr 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</a:rPr>
              <a:t> </a:t>
            </a:r>
            <a:endParaRPr lang="en-US" sz="2800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buBlip>
                <a:blip r:embed="rId2"/>
              </a:buBlip>
            </a:pPr>
            <a:r>
              <a:rPr lang="en-US" dirty="0" smtClean="0">
                <a:latin typeface="Calibri" panose="020F0502020204030204" pitchFamily="34" charset="0"/>
              </a:rPr>
              <a:t>Fu</a:t>
            </a:r>
            <a:r>
              <a:rPr lang="en-US" u="sng" dirty="0" smtClean="0">
                <a:latin typeface="Calibri" panose="020F0502020204030204" pitchFamily="34" charset="0"/>
              </a:rPr>
              <a:t>n</a:t>
            </a:r>
            <a:r>
              <a:rPr lang="en-US" dirty="0" smtClean="0">
                <a:latin typeface="Calibri" panose="020F0502020204030204" pitchFamily="34" charset="0"/>
              </a:rPr>
              <a:t>: transfer the weight of the upper body from the axial to the lower appendicular skeleton</a:t>
            </a:r>
            <a:endParaRPr lang="en-US" dirty="0" smtClean="0">
              <a:latin typeface="Calibri" panose="020F0502020204030204" pitchFamily="34" charset="0"/>
            </a:endParaRPr>
          </a:p>
          <a:p>
            <a:pPr marL="274320" lvl="1" indent="-27432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Blip>
                <a:blip r:embed="rId2"/>
              </a:buBlip>
            </a:pPr>
            <a:r>
              <a:rPr lang="en-US" sz="2600" dirty="0" smtClean="0"/>
              <a:t>Contain and protect the pelvic viscera and the inferior abdominal viscera </a:t>
            </a:r>
            <a:endParaRPr lang="en-US" sz="2600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</a:rPr>
              <a:t> </a:t>
            </a:r>
            <a:endParaRPr lang="en-US" sz="2800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buBlip>
                <a:blip r:embed="rId2"/>
              </a:buBlip>
            </a:pPr>
            <a:r>
              <a:rPr lang="en-US" dirty="0" smtClean="0">
                <a:latin typeface="Calibri" panose="020F0502020204030204" pitchFamily="34" charset="0"/>
              </a:rPr>
              <a:t>Right and left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hip</a:t>
            </a:r>
            <a:r>
              <a:rPr lang="en-US" dirty="0" smtClean="0">
                <a:latin typeface="Calibri" panose="020F0502020204030204" pitchFamily="34" charset="0"/>
              </a:rPr>
              <a:t> bones with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Sacrum</a:t>
            </a:r>
            <a:r>
              <a:rPr lang="en-US" dirty="0" smtClean="0">
                <a:latin typeface="Calibri" panose="020F0502020204030204" pitchFamily="34" charset="0"/>
              </a:rPr>
              <a:t> form bony pelvis </a:t>
            </a:r>
            <a:endParaRPr lang="en-US" dirty="0" smtClean="0">
              <a:latin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</a:endParaRPr>
          </a:p>
        </p:txBody>
      </p:sp>
      <p:pic>
        <p:nvPicPr>
          <p:cNvPr id="5" name="Picture 2" descr="CPS-15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933950" y="2327672"/>
            <a:ext cx="3749675" cy="2812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2DEBC-24AA-495F-9B28-D367C8B7E98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914400" y="2409677"/>
            <a:ext cx="3749675" cy="26482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                   </a:t>
            </a:r>
            <a:r>
              <a:rPr lang="en-US" sz="2800" b="1" u="sng" dirty="0" smtClean="0">
                <a:solidFill>
                  <a:srgbClr val="FF0000"/>
                </a:solidFill>
              </a:rPr>
              <a:t>BONES OF THE LOWER LIMB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183C5-80FF-442D-A695-66C2C14398E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4358640" cy="56388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5100" b="1" dirty="0" smtClean="0">
                <a:solidFill>
                  <a:srgbClr val="FF0000"/>
                </a:solidFill>
              </a:rPr>
              <a:t>Hip Bone:</a:t>
            </a:r>
            <a:endParaRPr lang="en-US" sz="5100" b="1" dirty="0" smtClean="0">
              <a:solidFill>
                <a:srgbClr val="FF0000"/>
              </a:solidFill>
            </a:endParaRPr>
          </a:p>
          <a:p>
            <a:r>
              <a:rPr lang="en-US" sz="5100" dirty="0" smtClean="0"/>
              <a:t>Each hip bone is formed by the fusion of three primary bones: </a:t>
            </a:r>
            <a:endParaRPr lang="en-US" sz="5100" dirty="0" smtClean="0"/>
          </a:p>
          <a:p>
            <a:pPr marL="514350" indent="-514350">
              <a:buAutoNum type="arabicPeriod"/>
            </a:pPr>
            <a:r>
              <a:rPr lang="en-US" sz="5100" u="sng" dirty="0" smtClean="0">
                <a:solidFill>
                  <a:srgbClr val="FF0000"/>
                </a:solidFill>
              </a:rPr>
              <a:t>Ilium:</a:t>
            </a:r>
            <a:endParaRPr lang="en-US" sz="5100" u="sng" dirty="0" smtClean="0">
              <a:solidFill>
                <a:srgbClr val="FF000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sz="5100" dirty="0" smtClean="0"/>
              <a:t> superior and largest</a:t>
            </a:r>
            <a:endParaRPr lang="en-US" sz="5100" dirty="0" smtClean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sz="5100" dirty="0" smtClean="0"/>
              <a:t> contributes to the superior part of the acetabulum </a:t>
            </a:r>
            <a:endParaRPr lang="en-US" sz="5100" dirty="0" smtClean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sz="5100" dirty="0" smtClean="0"/>
              <a:t>consists of </a:t>
            </a:r>
            <a:r>
              <a:rPr lang="en-US" sz="5100" dirty="0" smtClean="0">
                <a:solidFill>
                  <a:srgbClr val="FF0000"/>
                </a:solidFill>
              </a:rPr>
              <a:t>a body</a:t>
            </a:r>
            <a:r>
              <a:rPr lang="en-US" sz="5100" dirty="0" smtClean="0"/>
              <a:t>, which joins the pubis and </a:t>
            </a:r>
            <a:r>
              <a:rPr lang="en-US" sz="5100" dirty="0" err="1" smtClean="0"/>
              <a:t>ischium</a:t>
            </a:r>
            <a:r>
              <a:rPr lang="en-US" sz="5100" dirty="0" smtClean="0"/>
              <a:t> to the acetabulum, and</a:t>
            </a:r>
            <a:endParaRPr lang="en-US" sz="5100" dirty="0" smtClean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sz="5100" dirty="0" smtClean="0">
                <a:solidFill>
                  <a:srgbClr val="FF0000"/>
                </a:solidFill>
              </a:rPr>
              <a:t>Ala (wing</a:t>
            </a:r>
            <a:r>
              <a:rPr lang="en-US" sz="5100" dirty="0" smtClean="0"/>
              <a:t>), which is bordered superiorly by the iliac crest</a:t>
            </a:r>
            <a:endParaRPr lang="en-US" sz="3600" dirty="0"/>
          </a:p>
          <a:p>
            <a:r>
              <a:rPr lang="en-US" sz="4500" dirty="0" smtClean="0"/>
              <a:t>Landmarks:</a:t>
            </a:r>
            <a:r>
              <a:rPr lang="it-IT" sz="4500" dirty="0" smtClean="0"/>
              <a:t> </a:t>
            </a:r>
            <a:endParaRPr lang="it-IT" sz="4500" dirty="0" smtClean="0"/>
          </a:p>
          <a:p>
            <a:pPr lvl="1"/>
            <a:r>
              <a:rPr lang="it-IT" sz="4000" dirty="0" smtClean="0"/>
              <a:t>Iliac crest </a:t>
            </a:r>
            <a:endParaRPr lang="it-IT" sz="4000" dirty="0" smtClean="0"/>
          </a:p>
          <a:p>
            <a:pPr lvl="1"/>
            <a:r>
              <a:rPr lang="it-IT" sz="4000" dirty="0" smtClean="0"/>
              <a:t>Anterior iliac spine (superior &amp; </a:t>
            </a:r>
            <a:r>
              <a:rPr lang="en-US" sz="4000" dirty="0" smtClean="0"/>
              <a:t>inferior )</a:t>
            </a:r>
            <a:endParaRPr lang="en-US" sz="4000" dirty="0" smtClean="0"/>
          </a:p>
          <a:p>
            <a:pPr lvl="1"/>
            <a:r>
              <a:rPr lang="en-US" sz="4000" dirty="0" smtClean="0"/>
              <a:t>Posterior iliac spine (superior &amp; inferior) </a:t>
            </a:r>
            <a:endParaRPr lang="en-US" sz="4000" dirty="0" smtClean="0"/>
          </a:p>
          <a:p>
            <a:pPr lvl="1"/>
            <a:r>
              <a:rPr lang="en-US" sz="4000" dirty="0" smtClean="0"/>
              <a:t>Greater sciatic notch</a:t>
            </a:r>
            <a:endParaRPr lang="en-US" sz="4000" dirty="0" smtClean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281737" y="2889250"/>
            <a:ext cx="1054100" cy="16891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D8D1E-EE80-4368-A640-2F450B80B719}" type="datetime1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" y="932625"/>
            <a:ext cx="8846221" cy="523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97F4-9E6B-4EF8-A22A-20D68F03749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460-5C0F-4301-81BF-B1B43DA7D74D}" type="datetime1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6781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3F741-AB79-4F70-B1E0-39E4C99A588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304800"/>
            <a:ext cx="4267200" cy="61722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 startAt="2"/>
            </a:pPr>
            <a:r>
              <a:rPr lang="en-US" sz="3300" b="1" dirty="0" err="1" smtClean="0">
                <a:solidFill>
                  <a:srgbClr val="FF0000"/>
                </a:solidFill>
              </a:rPr>
              <a:t>Ischium</a:t>
            </a:r>
            <a:r>
              <a:rPr lang="en-US" sz="3300" b="1" dirty="0" smtClean="0">
                <a:solidFill>
                  <a:srgbClr val="FF0000"/>
                </a:solidFill>
              </a:rPr>
              <a:t>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dirty="0" smtClean="0"/>
              <a:t> forms the </a:t>
            </a:r>
            <a:r>
              <a:rPr lang="en-US" b="1" dirty="0" err="1" smtClean="0">
                <a:solidFill>
                  <a:srgbClr val="FF0000"/>
                </a:solidFill>
              </a:rPr>
              <a:t>posteroinferior</a:t>
            </a:r>
            <a:r>
              <a:rPr lang="en-US" dirty="0" smtClean="0"/>
              <a:t> part of the acetabulum and hip bone</a:t>
            </a:r>
            <a:endParaRPr lang="en-US" dirty="0" smtClean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dirty="0" smtClean="0"/>
              <a:t>consists of </a:t>
            </a:r>
            <a:r>
              <a:rPr lang="en-US" b="1" dirty="0" smtClean="0">
                <a:solidFill>
                  <a:srgbClr val="FF0000"/>
                </a:solidFill>
              </a:rPr>
              <a:t>a body</a:t>
            </a:r>
            <a:r>
              <a:rPr lang="en-US" dirty="0" smtClean="0"/>
              <a:t>, where it joins the ilium and superior and inferior </a:t>
            </a:r>
            <a:r>
              <a:rPr lang="en-US" b="1" dirty="0" smtClean="0">
                <a:solidFill>
                  <a:srgbClr val="FF0000"/>
                </a:solidFill>
              </a:rPr>
              <a:t>ramus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dirty="0" smtClean="0"/>
              <a:t>Landmarks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Ischial tuberosity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2"/>
            <a:r>
              <a:rPr lang="en-US" sz="2800" dirty="0" smtClean="0"/>
              <a:t>large </a:t>
            </a:r>
            <a:r>
              <a:rPr lang="en-US" sz="2800" dirty="0" err="1" smtClean="0"/>
              <a:t>posteroinferior</a:t>
            </a:r>
            <a:r>
              <a:rPr lang="en-US" sz="2800" dirty="0" smtClean="0"/>
              <a:t> protuberance of the </a:t>
            </a:r>
            <a:r>
              <a:rPr lang="en-US" sz="2800" dirty="0" err="1" smtClean="0"/>
              <a:t>ischium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lvl="2"/>
            <a:r>
              <a:rPr lang="en-US" sz="2800" dirty="0" smtClean="0"/>
              <a:t>supports body during sitting</a:t>
            </a:r>
            <a:endParaRPr lang="en-US" sz="2800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Ischial spine</a:t>
            </a:r>
            <a:endParaRPr lang="en-US" b="1" dirty="0" smtClean="0">
              <a:solidFill>
                <a:srgbClr val="FF0000"/>
              </a:solidFill>
            </a:endParaRPr>
          </a:p>
          <a:p>
            <a:pPr lvl="2"/>
            <a:r>
              <a:rPr lang="en-US" sz="2800" dirty="0" smtClean="0"/>
              <a:t>small pointed posterior projection near the junction of the ramus and body </a:t>
            </a:r>
            <a:endParaRPr lang="en-US" sz="2800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lesser sciatic notch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014912" y="2073275"/>
            <a:ext cx="3587750" cy="332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90600" y="0"/>
            <a:ext cx="7162800" cy="68580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E309-B8A8-4C9C-9F45-52128158554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D2C5-52FD-44BC-B1CC-A436F583313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4267200" cy="5821363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3.The pubis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forms the anterior part of the acetabulum and the anteromedial part of the hip bone.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has a </a:t>
            </a:r>
            <a:r>
              <a:rPr lang="en-US" b="1" dirty="0" smtClean="0">
                <a:solidFill>
                  <a:srgbClr val="FF0000"/>
                </a:solidFill>
              </a:rPr>
              <a:t>body</a:t>
            </a:r>
            <a:r>
              <a:rPr lang="en-US" dirty="0" smtClean="0"/>
              <a:t> that articulates with the opposite  pubis at the pubic symphysis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It also has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, superior and inferior </a:t>
            </a:r>
            <a:r>
              <a:rPr lang="en-US" b="1" dirty="0" smtClean="0">
                <a:solidFill>
                  <a:srgbClr val="FF0000"/>
                </a:solidFill>
              </a:rPr>
              <a:t>rami</a:t>
            </a:r>
            <a:endParaRPr lang="en-US" dirty="0" smtClean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FF0000"/>
                </a:solidFill>
              </a:rPr>
              <a:t>Landmarks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Pecten</a:t>
            </a:r>
            <a:r>
              <a:rPr lang="en-US" dirty="0" smtClean="0"/>
              <a:t> pubis or </a:t>
            </a:r>
            <a:r>
              <a:rPr lang="en-US" dirty="0" err="1" smtClean="0"/>
              <a:t>pectineal</a:t>
            </a:r>
            <a:r>
              <a:rPr lang="en-US" dirty="0" smtClean="0"/>
              <a:t> line</a:t>
            </a:r>
            <a:r>
              <a:rPr lang="en-US" sz="3200" dirty="0" smtClean="0"/>
              <a:t> </a:t>
            </a:r>
            <a:endParaRPr lang="en-US" sz="3200" dirty="0" smtClean="0"/>
          </a:p>
          <a:p>
            <a:pPr lvl="1"/>
            <a:r>
              <a:rPr lang="en-US" dirty="0" smtClean="0"/>
              <a:t>pubic crest </a:t>
            </a:r>
            <a:endParaRPr lang="en-US" dirty="0" smtClean="0"/>
          </a:p>
          <a:p>
            <a:pPr lvl="1"/>
            <a:r>
              <a:rPr lang="en-US" dirty="0" smtClean="0"/>
              <a:t> pubic crest</a:t>
            </a:r>
            <a:endParaRPr lang="en-US" dirty="0" smtClean="0"/>
          </a:p>
          <a:p>
            <a:pPr lvl="1"/>
            <a:r>
              <a:rPr lang="en-US" dirty="0" smtClean="0"/>
              <a:t>Pubic arch (sub pubic angle)</a:t>
            </a:r>
            <a:r>
              <a:rPr lang="en-US" sz="3200" b="1" dirty="0" smtClean="0"/>
              <a:t> </a:t>
            </a:r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67200" y="1230529"/>
            <a:ext cx="4876800" cy="4514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D32A-F4F1-4382-8BC7-D073B55885C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990600"/>
            <a:ext cx="9144000" cy="5334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F3B9-29BB-41C7-9238-C95F586EDCD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762000"/>
            <a:ext cx="9144000" cy="541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000" y="304800"/>
            <a:ext cx="2895600" cy="792162"/>
          </a:xfrm>
          <a:blipFill>
            <a:blip r:embed="rId1" cstate="print"/>
            <a:tile tx="0" ty="0" sx="100000" sy="100000" flip="none" algn="tl"/>
          </a:blip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THE FEMUR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6BAF-98EF-42EA-8D62-C549AAEDC272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>
          <a:xfrm>
            <a:off x="152400" y="1219200"/>
            <a:ext cx="3962400" cy="54102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Is the longest and heaviest bone in the body</a:t>
            </a:r>
            <a:endParaRPr lang="en-US" sz="2400" dirty="0" smtClean="0"/>
          </a:p>
          <a:p>
            <a:r>
              <a:rPr lang="en-US" sz="2200" dirty="0" smtClean="0"/>
              <a:t>To support the erect bipedal posture, femurs are obliquely placed</a:t>
            </a:r>
            <a:endParaRPr lang="en-US" b="1" dirty="0" smtClean="0"/>
          </a:p>
          <a:p>
            <a:r>
              <a:rPr lang="en-US" sz="2400" dirty="0" smtClean="0"/>
              <a:t>Consists of a </a:t>
            </a:r>
            <a:r>
              <a:rPr lang="en-US" sz="2400" dirty="0" smtClean="0">
                <a:solidFill>
                  <a:srgbClr val="FF0000"/>
                </a:solidFill>
              </a:rPr>
              <a:t>shaft</a:t>
            </a:r>
            <a:r>
              <a:rPr lang="en-US" sz="2400" dirty="0" smtClean="0"/>
              <a:t> (body) and  </a:t>
            </a:r>
            <a:r>
              <a:rPr lang="en-US" sz="2400" dirty="0" smtClean="0">
                <a:solidFill>
                  <a:srgbClr val="FF0000"/>
                </a:solidFill>
              </a:rPr>
              <a:t>proximal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FF0000"/>
                </a:solidFill>
              </a:rPr>
              <a:t>distal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ends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Most of the shaft is smoothly rounded (except </a:t>
            </a:r>
            <a:r>
              <a:rPr lang="en-US" sz="2400" dirty="0" smtClean="0">
                <a:solidFill>
                  <a:srgbClr val="FF0000"/>
                </a:solidFill>
              </a:rPr>
              <a:t>linea aspera </a:t>
            </a:r>
            <a:r>
              <a:rPr lang="en-US" sz="2400" dirty="0" smtClean="0"/>
              <a:t>in the posterior surfaces)</a:t>
            </a:r>
            <a:endParaRPr lang="en-US" sz="2400" dirty="0" smtClean="0"/>
          </a:p>
          <a:p>
            <a:r>
              <a:rPr lang="en-US" sz="2400" dirty="0" smtClean="0"/>
              <a:t>The proximal end of the femur consists of a </a:t>
            </a:r>
            <a:r>
              <a:rPr lang="en-US" sz="2400" u="sng" dirty="0" smtClean="0">
                <a:solidFill>
                  <a:srgbClr val="FF0000"/>
                </a:solidFill>
              </a:rPr>
              <a:t>head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FF0000"/>
                </a:solidFill>
              </a:rPr>
              <a:t>neck</a:t>
            </a:r>
            <a:r>
              <a:rPr lang="en-US" sz="2400" dirty="0" smtClean="0"/>
              <a:t>, and two </a:t>
            </a:r>
            <a:r>
              <a:rPr lang="en-US" sz="2400" u="sng" dirty="0" err="1" smtClean="0">
                <a:solidFill>
                  <a:srgbClr val="FF0000"/>
                </a:solidFill>
              </a:rPr>
              <a:t>trochanters</a:t>
            </a:r>
            <a:r>
              <a:rPr lang="en-US" sz="2400" u="sng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(greater and lesser)</a:t>
            </a:r>
            <a:endParaRPr lang="en-US" sz="2400" dirty="0" smtClean="0"/>
          </a:p>
          <a:p>
            <a:r>
              <a:rPr lang="en-US" sz="2400" dirty="0" smtClean="0"/>
              <a:t>B/n  the two </a:t>
            </a:r>
            <a:r>
              <a:rPr lang="en-US" sz="2400" dirty="0" err="1" smtClean="0"/>
              <a:t>trochanters</a:t>
            </a:r>
            <a:r>
              <a:rPr lang="en-US" sz="2400" dirty="0" smtClean="0"/>
              <a:t> is  </a:t>
            </a:r>
            <a:r>
              <a:rPr lang="en-US" sz="2400" dirty="0" smtClean="0">
                <a:solidFill>
                  <a:srgbClr val="FF0000"/>
                </a:solidFill>
              </a:rPr>
              <a:t>intertrochanteric</a:t>
            </a:r>
            <a:r>
              <a:rPr lang="en-US" sz="2400" dirty="0" smtClean="0"/>
              <a:t> line anteriorly  and </a:t>
            </a:r>
            <a:r>
              <a:rPr lang="en-US" sz="2400" dirty="0" smtClean="0">
                <a:solidFill>
                  <a:srgbClr val="FF0000"/>
                </a:solidFill>
              </a:rPr>
              <a:t>intertrochanteric  crest posteriorly </a:t>
            </a:r>
            <a:endParaRPr lang="en-US" sz="24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024437" y="2308225"/>
            <a:ext cx="3568700" cy="28511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2311" y="152400"/>
            <a:ext cx="4779819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20351-56E1-426C-A5B7-D49EA9E10F5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609600"/>
            <a:ext cx="4191000" cy="5668963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The distal end of the femur ends in </a:t>
            </a:r>
            <a:r>
              <a:rPr lang="en-US" dirty="0" smtClean="0">
                <a:solidFill>
                  <a:srgbClr val="FF0000"/>
                </a:solidFill>
              </a:rPr>
              <a:t>two spirally curved femoral condyles </a:t>
            </a:r>
            <a:r>
              <a:rPr lang="en-US" dirty="0" smtClean="0"/>
              <a:t>(medial and lateral)</a:t>
            </a:r>
            <a:endParaRPr lang="en-US" dirty="0" smtClean="0"/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en-US" dirty="0" smtClean="0"/>
              <a:t>Patellar surface for articulation with the patella </a:t>
            </a:r>
            <a:endParaRPr lang="en-US" dirty="0" smtClean="0"/>
          </a:p>
          <a:p>
            <a:endParaRPr lang="en-US" sz="2400" dirty="0" smtClean="0"/>
          </a:p>
          <a:p>
            <a:r>
              <a:rPr lang="en-US" sz="2400" dirty="0" smtClean="0"/>
              <a:t>The femoral condyles articulate with the tibial condyles to form the knee joint</a:t>
            </a:r>
            <a:endParaRPr lang="en-US" sz="2400" dirty="0" smtClean="0"/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en-US" dirty="0" smtClean="0">
                <a:solidFill>
                  <a:srgbClr val="FF0000"/>
                </a:solidFill>
              </a:rPr>
              <a:t>Femoral neck is the most commonly fractured site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713412" y="2232025"/>
            <a:ext cx="2190750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9780-DEA3-4C79-8ED1-255310EFEEC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9695-61DA-4051-AB11-7E66ABFDC60A}" type="slidenum">
              <a:rPr lang="en-US"/>
            </a:fld>
            <a:endParaRPr lang="en-US"/>
          </a:p>
        </p:txBody>
      </p:sp>
      <p:pic>
        <p:nvPicPr>
          <p:cNvPr id="249860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>
            <a:lum bright="-30000" contrast="30000"/>
          </a:blip>
          <a:stretch>
            <a:fillRect/>
          </a:stretch>
        </p:blipFill>
        <p:spPr>
          <a:xfrm>
            <a:off x="4800598" y="3733798"/>
            <a:ext cx="4" cy="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5875-4DF6-4B93-8F4E-79C630632E8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4267200" cy="60198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The patella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patella (knee cap) is a large sesamoid bone</a:t>
            </a:r>
            <a:endParaRPr lang="en-US" dirty="0" smtClean="0"/>
          </a:p>
          <a:p>
            <a:r>
              <a:rPr lang="en-US" dirty="0" smtClean="0"/>
              <a:t>This triangular-shaped bone articulates with the patellar surface of the femur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Has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Anterior surface is convex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Posterior surface- articular surface 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Base – superior border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Apex - Lateral and medial border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6145212" y="2905125"/>
            <a:ext cx="1327150" cy="16573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 smtClean="0">
                <a:solidFill>
                  <a:srgbClr val="FF0000"/>
                </a:solidFill>
              </a:rPr>
              <a:t>             Tibia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30D5-A297-436D-834A-00D6AC549D82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36C48-845E-4731-91FB-538D395407AB}" type="slidenum">
              <a:rPr lang="en-US"/>
            </a:fld>
            <a:endParaRPr lang="en-US"/>
          </a:p>
        </p:txBody>
      </p:sp>
      <p:sp>
        <p:nvSpPr>
          <p:cNvPr id="154628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04800" y="838200"/>
            <a:ext cx="8534400" cy="5791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Large, weight </a:t>
            </a:r>
            <a:r>
              <a:rPr lang="en-US" dirty="0" smtClean="0">
                <a:solidFill>
                  <a:srgbClr val="FF0000"/>
                </a:solidFill>
              </a:rPr>
              <a:t>bearing bone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Articulate  </a:t>
            </a:r>
            <a:endParaRPr lang="en-US" dirty="0"/>
          </a:p>
          <a:p>
            <a:pPr lvl="1"/>
            <a:r>
              <a:rPr lang="en-US" dirty="0"/>
              <a:t>proximally with </a:t>
            </a:r>
            <a:r>
              <a:rPr lang="en-US" dirty="0">
                <a:solidFill>
                  <a:srgbClr val="FF0000"/>
                </a:solidFill>
              </a:rPr>
              <a:t>condyles of femur </a:t>
            </a:r>
            <a:r>
              <a:rPr lang="en-US" dirty="0"/>
              <a:t>at knee joint</a:t>
            </a:r>
            <a:endParaRPr lang="en-US" b="1" dirty="0"/>
          </a:p>
          <a:p>
            <a:pPr lvl="1"/>
            <a:r>
              <a:rPr lang="en-US" dirty="0"/>
              <a:t>distally with the </a:t>
            </a:r>
            <a:r>
              <a:rPr lang="en-US" dirty="0">
                <a:solidFill>
                  <a:srgbClr val="FF0000"/>
                </a:solidFill>
              </a:rPr>
              <a:t>talus</a:t>
            </a:r>
            <a:r>
              <a:rPr lang="en-US" dirty="0"/>
              <a:t> of ankle</a:t>
            </a:r>
            <a:endParaRPr lang="en-US" dirty="0"/>
          </a:p>
          <a:p>
            <a:pPr lvl="1"/>
            <a:r>
              <a:rPr lang="en-US" dirty="0"/>
              <a:t>laterally at its proximal and distal ends with </a:t>
            </a:r>
            <a:r>
              <a:rPr lang="en-US" dirty="0">
                <a:solidFill>
                  <a:srgbClr val="FF0000"/>
                </a:solidFill>
              </a:rPr>
              <a:t>fibula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smtClean="0"/>
              <a:t>Has medial </a:t>
            </a:r>
            <a:r>
              <a:rPr lang="en-US" dirty="0"/>
              <a:t>&amp; lateral condyles and </a:t>
            </a:r>
            <a:r>
              <a:rPr lang="en-US" dirty="0" err="1"/>
              <a:t>tibial</a:t>
            </a:r>
            <a:r>
              <a:rPr lang="en-US" dirty="0"/>
              <a:t> tuberosity</a:t>
            </a:r>
            <a:r>
              <a:rPr lang="en-US" b="1" dirty="0"/>
              <a:t> </a:t>
            </a:r>
            <a:endParaRPr lang="en-US" b="1" dirty="0"/>
          </a:p>
          <a:p>
            <a:r>
              <a:rPr lang="en-US" dirty="0">
                <a:solidFill>
                  <a:srgbClr val="FF0000"/>
                </a:solidFill>
              </a:rPr>
              <a:t>Medial </a:t>
            </a:r>
            <a:r>
              <a:rPr lang="en-US" dirty="0" err="1">
                <a:solidFill>
                  <a:srgbClr val="FF0000"/>
                </a:solidFill>
              </a:rPr>
              <a:t>malleolus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-  inferiorly directed projection from medial side of distal end</a:t>
            </a:r>
            <a:endParaRPr lang="en-US" dirty="0"/>
          </a:p>
          <a:p>
            <a:r>
              <a:rPr lang="en-US" dirty="0"/>
              <a:t>Shaft is narrowest at the junction of its inferior and middle thirds, which is the most frequent site of fracture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F042-DEB1-4A6D-B464-67C4E45D08F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ACFD-BFAE-4BA6-AE82-162025C56D27}" type="slidenum">
              <a:rPr lang="en-US"/>
            </a:fld>
            <a:endParaRPr lang="en-US"/>
          </a:p>
        </p:txBody>
      </p:sp>
      <p:pic>
        <p:nvPicPr>
          <p:cNvPr id="25088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>
            <a:lum bright="-48000" contrast="48000"/>
          </a:blip>
          <a:stretch>
            <a:fillRect/>
          </a:stretch>
        </p:blipFill>
        <p:spPr>
          <a:xfrm>
            <a:off x="4800597" y="3733798"/>
            <a:ext cx="5" cy="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Fibula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3A76-D277-40F9-BDE6-E632B3591A6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FC53-F40A-4323-A721-141EBB061767}" type="slidenum">
              <a:rPr lang="en-US"/>
            </a:fld>
            <a:endParaRPr lang="en-US"/>
          </a:p>
        </p:txBody>
      </p:sp>
      <p:sp>
        <p:nvSpPr>
          <p:cNvPr id="3399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r>
              <a:rPr lang="en-US" sz="2800" dirty="0"/>
              <a:t>Long, </a:t>
            </a:r>
            <a:r>
              <a:rPr lang="en-US" sz="2800" dirty="0" smtClean="0"/>
              <a:t>slender bone </a:t>
            </a:r>
            <a:r>
              <a:rPr lang="en-US" sz="2800" dirty="0"/>
              <a:t>on the lateral side of leg</a:t>
            </a:r>
            <a:endParaRPr lang="en-US" sz="2800" b="1" dirty="0"/>
          </a:p>
          <a:p>
            <a:r>
              <a:rPr lang="en-US" sz="2800" dirty="0"/>
              <a:t>Serves mainly for </a:t>
            </a:r>
            <a:r>
              <a:rPr lang="en-US" sz="2800" dirty="0">
                <a:solidFill>
                  <a:srgbClr val="FF0000"/>
                </a:solidFill>
              </a:rPr>
              <a:t>muscle attachment </a:t>
            </a:r>
            <a:r>
              <a:rPr lang="en-US" sz="2800" dirty="0"/>
              <a:t>than for support</a:t>
            </a:r>
            <a:endParaRPr lang="en-US" sz="2800" b="1" dirty="0"/>
          </a:p>
          <a:p>
            <a:r>
              <a:rPr lang="en-US" sz="2800" dirty="0" smtClean="0"/>
              <a:t>Has </a:t>
            </a:r>
            <a:r>
              <a:rPr lang="en-US" sz="2800" dirty="0">
                <a:solidFill>
                  <a:srgbClr val="FF0000"/>
                </a:solidFill>
              </a:rPr>
              <a:t>head</a:t>
            </a:r>
            <a:r>
              <a:rPr lang="en-US" sz="2800" dirty="0"/>
              <a:t> and </a:t>
            </a:r>
            <a:r>
              <a:rPr lang="en-US" sz="2800" dirty="0" smtClean="0">
                <a:solidFill>
                  <a:srgbClr val="FF0000"/>
                </a:solidFill>
              </a:rPr>
              <a:t>neck </a:t>
            </a:r>
            <a:r>
              <a:rPr lang="en-US" sz="2800" dirty="0" smtClean="0"/>
              <a:t>at the proximal end  </a:t>
            </a:r>
            <a:endParaRPr lang="en-US" sz="2800" dirty="0"/>
          </a:p>
          <a:p>
            <a:r>
              <a:rPr lang="en-US" sz="2800" dirty="0"/>
              <a:t>Distal end enlarges to form lateral </a:t>
            </a:r>
            <a:r>
              <a:rPr lang="en-US" sz="2800" dirty="0" err="1"/>
              <a:t>malleolus</a:t>
            </a:r>
            <a:endParaRPr lang="en-US" sz="2800" dirty="0"/>
          </a:p>
          <a:p>
            <a:r>
              <a:rPr lang="en-US" sz="2800" dirty="0"/>
              <a:t>Fractures commonly occur just proximal to lateral </a:t>
            </a:r>
            <a:r>
              <a:rPr lang="en-US" sz="2800" dirty="0" err="1"/>
              <a:t>malleolus</a:t>
            </a:r>
            <a:r>
              <a:rPr lang="en-US" sz="2800" dirty="0"/>
              <a:t> and often are associated with dislocation of ankle joint</a:t>
            </a:r>
            <a:endParaRPr lang="en-US" sz="2800" dirty="0"/>
          </a:p>
          <a:p>
            <a:r>
              <a:rPr lang="en-US" sz="2800" dirty="0"/>
              <a:t>Fibula is a common source of bone for grafting</a:t>
            </a:r>
            <a:endParaRPr lang="en-US" sz="2800" b="1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159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r>
              <a:rPr lang="en-US" b="1" dirty="0" smtClean="0">
                <a:solidFill>
                  <a:srgbClr val="FF0000"/>
                </a:solidFill>
              </a:rPr>
              <a:t>Tarsus, Metatarsus,&amp; Phalanges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45543-7F25-4242-84AA-F987F6D39E1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3352800" cy="51054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00FF"/>
                </a:solidFill>
              </a:rPr>
              <a:t>TARSUS:</a:t>
            </a:r>
            <a:endParaRPr lang="en-US" b="1" dirty="0" smtClean="0">
              <a:solidFill>
                <a:srgbClr val="0000FF"/>
              </a:solidFill>
            </a:endParaRPr>
          </a:p>
          <a:p>
            <a:pPr>
              <a:buNone/>
            </a:pPr>
            <a:r>
              <a:rPr lang="en-US" b="1" dirty="0" smtClean="0"/>
              <a:t>The tarsus consists of seven bones: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 </a:t>
            </a:r>
            <a:r>
              <a:rPr lang="en-US" dirty="0" smtClean="0"/>
              <a:t>Calcaneus- (heel bone)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Talus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Cuboid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Navicular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Three cuneiforms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3810000" y="1219200"/>
            <a:ext cx="5013761" cy="448056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7687-50AC-4B80-93BE-15498959DF28}" type="datetime1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>
            <a:lum bright="-30000" contrast="30000"/>
          </a:blip>
          <a:srcRect/>
          <a:stretch>
            <a:fillRect/>
          </a:stretch>
        </p:blipFill>
        <p:spPr>
          <a:xfrm>
            <a:off x="0" y="228600"/>
            <a:ext cx="9144000" cy="65135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1ABD-12BF-4D75-91D0-F6D4CDC593B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81000"/>
            <a:ext cx="3352800" cy="6049963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</a:rPr>
              <a:t>Metatarsus</a:t>
            </a:r>
            <a:endParaRPr lang="en-US" sz="3200" b="1" dirty="0" smtClean="0">
              <a:solidFill>
                <a:srgbClr val="0000FF"/>
              </a:solidFill>
            </a:endParaRPr>
          </a:p>
          <a:p>
            <a:r>
              <a:rPr lang="en-US" dirty="0" smtClean="0"/>
              <a:t>The metatarsus consists of five metatarsals </a:t>
            </a:r>
            <a:endParaRPr lang="en-US" dirty="0" smtClean="0"/>
          </a:p>
          <a:p>
            <a:r>
              <a:rPr lang="en-US" dirty="0" smtClean="0"/>
              <a:t> connect the tarsus and phalanges</a:t>
            </a:r>
            <a:endParaRPr lang="en-US" dirty="0" smtClean="0"/>
          </a:p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</a:rPr>
              <a:t>Phalanges</a:t>
            </a:r>
            <a:endParaRPr lang="en-US" sz="3200" b="1" dirty="0" smtClean="0">
              <a:solidFill>
                <a:srgbClr val="0000FF"/>
              </a:solidFill>
            </a:endParaRPr>
          </a:p>
          <a:p>
            <a:r>
              <a:rPr lang="en-US" dirty="0" smtClean="0"/>
              <a:t>There are 14 phalanges. </a:t>
            </a:r>
            <a:endParaRPr lang="en-US" dirty="0" smtClean="0"/>
          </a:p>
          <a:p>
            <a:r>
              <a:rPr lang="en-US" dirty="0" smtClean="0"/>
              <a:t>The 1st digit (great toe) has two phalanges (proximal and distal); </a:t>
            </a:r>
            <a:endParaRPr lang="en-US" dirty="0" smtClean="0"/>
          </a:p>
          <a:p>
            <a:r>
              <a:rPr lang="en-US" dirty="0" smtClean="0"/>
              <a:t>the other four digits have three each: proximal, middle, and distal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0000" y="914400"/>
            <a:ext cx="5099541" cy="50292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159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        Superficial structure of Lower Limb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B1DA8-59A7-438A-B34E-D8C522E5EFE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419600" cy="53340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00FF"/>
                </a:solidFill>
              </a:rPr>
              <a:t>SUPERFICIAL FASCIA</a:t>
            </a:r>
            <a:endParaRPr lang="en-US" b="1" dirty="0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Consists of loose connective tissue that contains fat, cutaneous nerves, superficial veins, lymphatic vessels, and lymph nodes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 The subcutaneous tissue of the hip and thigh is continuous with that of the inferior part of the anterolateral abdominal wall and buttock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 At the knee, it loses its fat and blends with the deep fascia; but fat is present in the subcutaneous tissue of the leg.</a:t>
            </a:r>
            <a:endParaRPr lang="en-US" sz="2800" dirty="0" smtClean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808662" y="2682875"/>
            <a:ext cx="2000250" cy="21018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159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        Superficial structure of Lower Limb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AD0E-802D-43B1-919A-78212D4603E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419600" cy="53340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3000" b="1" dirty="0" smtClean="0">
                <a:solidFill>
                  <a:srgbClr val="FF0000"/>
                </a:solidFill>
              </a:rPr>
              <a:t>Fascia </a:t>
            </a:r>
            <a:r>
              <a:rPr lang="en-US" sz="3000" b="1" dirty="0" err="1" smtClean="0">
                <a:solidFill>
                  <a:srgbClr val="FF0000"/>
                </a:solidFill>
              </a:rPr>
              <a:t>lata</a:t>
            </a:r>
            <a:endParaRPr lang="en-US" sz="30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Deep fascia of the thigh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Invest  the limb like an elastic stocking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Limits outward extension of contracting muscles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Make muscular contraction more efficient in compressing veins to push blood toward the heart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Attaches to and continuous with </a:t>
            </a:r>
            <a:r>
              <a:rPr lang="en-US" dirty="0" smtClean="0"/>
              <a:t>all around to the root of the lower limb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Extends downwards over the subcutaneous surface of knee and the tibia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It is particularly dense laterally to form </a:t>
            </a:r>
            <a:r>
              <a:rPr lang="en-US" sz="2800" b="1" dirty="0" err="1" smtClean="0">
                <a:solidFill>
                  <a:srgbClr val="FF0000"/>
                </a:solidFill>
              </a:rPr>
              <a:t>iliotibial</a:t>
            </a: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tract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808662" y="2682875"/>
            <a:ext cx="2000250" cy="21018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38BD-AF4F-4A9A-ACB1-E5929E7B6F6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DE96-0F5B-4247-9906-4D5D70D8B945}" type="slidenum">
              <a:rPr lang="en-US"/>
            </a:fld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457200"/>
            <a:ext cx="3886200" cy="6096000"/>
          </a:xfrm>
        </p:spPr>
        <p:txBody>
          <a:bodyPr>
            <a:normAutofit/>
          </a:bodyPr>
          <a:lstStyle/>
          <a:p>
            <a:r>
              <a:rPr lang="en-US" dirty="0"/>
              <a:t>Fascial compartments</a:t>
            </a:r>
            <a:endParaRPr lang="en-US" dirty="0"/>
          </a:p>
          <a:p>
            <a:pPr lvl="1"/>
            <a:r>
              <a:rPr lang="en-US" dirty="0"/>
              <a:t>3 intermuscular septa arise from fascia </a:t>
            </a:r>
            <a:r>
              <a:rPr lang="en-US" dirty="0" err="1"/>
              <a:t>lata</a:t>
            </a:r>
            <a:r>
              <a:rPr lang="en-US" dirty="0"/>
              <a:t> and attach to linea aspera </a:t>
            </a:r>
            <a:endParaRPr lang="en-US" dirty="0"/>
          </a:p>
          <a:p>
            <a:pPr lvl="1"/>
            <a:r>
              <a:rPr lang="en-US" dirty="0" smtClean="0"/>
              <a:t>Separate the thigh muscles  </a:t>
            </a:r>
            <a:r>
              <a:rPr lang="en-US" dirty="0"/>
              <a:t>into 3 compartments: anterior, medial and </a:t>
            </a:r>
            <a:r>
              <a:rPr lang="en-US" dirty="0" smtClean="0"/>
              <a:t>posterior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495800" y="1524000"/>
            <a:ext cx="3879817" cy="32004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AA07-3CC9-44F8-8ADB-385306566AB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762000"/>
            <a:ext cx="3429000" cy="4572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Saphenous opening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A gap in the fascia </a:t>
            </a:r>
            <a:r>
              <a:rPr lang="en-US" dirty="0" err="1" smtClean="0"/>
              <a:t>lata</a:t>
            </a:r>
            <a:r>
              <a:rPr lang="en-US" dirty="0" smtClean="0"/>
              <a:t> inferior to medial part of inguinal ligament</a:t>
            </a:r>
            <a:endParaRPr lang="en-US" dirty="0" smtClean="0"/>
          </a:p>
          <a:p>
            <a:pPr lvl="1"/>
            <a:r>
              <a:rPr lang="en-US" dirty="0" smtClean="0"/>
              <a:t>Great saphenous vein and some lymphatics pass through it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746500" y="381000"/>
            <a:ext cx="53975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5334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           Venous Drainage of Lower Limb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14D9-0F08-49D4-942D-FB3F3D0A84D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610600" cy="55626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b="1" dirty="0" smtClean="0"/>
              <a:t>The lower limb has </a:t>
            </a:r>
            <a:r>
              <a:rPr lang="en-US" sz="2800" b="1" i="1" dirty="0" smtClean="0">
                <a:solidFill>
                  <a:srgbClr val="FF0000"/>
                </a:solidFill>
              </a:rPr>
              <a:t>superficial</a:t>
            </a:r>
            <a:r>
              <a:rPr lang="en-US" sz="2800" b="1" dirty="0" smtClean="0"/>
              <a:t> and </a:t>
            </a:r>
            <a:r>
              <a:rPr lang="en-US" sz="2800" b="1" dirty="0" smtClean="0">
                <a:solidFill>
                  <a:srgbClr val="FF0000"/>
                </a:solidFill>
              </a:rPr>
              <a:t>deep</a:t>
            </a:r>
            <a:r>
              <a:rPr lang="en-US" sz="2800" b="1" i="1" dirty="0" smtClean="0"/>
              <a:t> </a:t>
            </a:r>
            <a:r>
              <a:rPr lang="en-US" sz="2800" dirty="0" smtClean="0"/>
              <a:t>veins</a:t>
            </a:r>
            <a:endParaRPr lang="en-US" dirty="0" smtClean="0"/>
          </a:p>
          <a:p>
            <a:r>
              <a:rPr lang="en-US" sz="2400" dirty="0" smtClean="0"/>
              <a:t>Superficial veins are in subcutaneous tissue and deep veins accompany arteries</a:t>
            </a:r>
            <a:endParaRPr lang="en-US" sz="2400" b="1" dirty="0" smtClean="0"/>
          </a:p>
          <a:p>
            <a:r>
              <a:rPr lang="en-US" sz="2400" dirty="0" smtClean="0"/>
              <a:t>The two major superficial veins are the </a:t>
            </a:r>
            <a:r>
              <a:rPr lang="en-US" sz="2400" i="1" dirty="0" smtClean="0">
                <a:solidFill>
                  <a:srgbClr val="FF0000"/>
                </a:solidFill>
              </a:rPr>
              <a:t>great</a:t>
            </a:r>
            <a:r>
              <a:rPr lang="en-US" sz="2400" i="1" dirty="0" smtClean="0"/>
              <a:t> and </a:t>
            </a:r>
            <a:r>
              <a:rPr lang="en-US" sz="2400" i="1" dirty="0" smtClean="0">
                <a:solidFill>
                  <a:srgbClr val="FF0000"/>
                </a:solidFill>
              </a:rPr>
              <a:t>small</a:t>
            </a:r>
            <a:r>
              <a:rPr lang="en-US" sz="2400" i="1" dirty="0" smtClean="0"/>
              <a:t> </a:t>
            </a:r>
            <a:r>
              <a:rPr lang="en-US" sz="2400" dirty="0" smtClean="0">
                <a:solidFill>
                  <a:srgbClr val="0000FF"/>
                </a:solidFill>
              </a:rPr>
              <a:t>saphenous veins</a:t>
            </a:r>
            <a:endParaRPr lang="en-US" sz="2400" dirty="0" smtClean="0"/>
          </a:p>
          <a:p>
            <a:endParaRPr lang="en-US" b="1" dirty="0" smtClean="0"/>
          </a:p>
          <a:p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0000FF"/>
                </a:solidFill>
              </a:rPr>
              <a:t>great saphenous </a:t>
            </a:r>
            <a:r>
              <a:rPr lang="en-US" sz="2400" dirty="0" smtClean="0"/>
              <a:t>vein is formed by the union of the dorsal digital vein of the great toe and the dorsal venous arch of the foot, Empties into the </a:t>
            </a:r>
            <a:r>
              <a:rPr lang="en-US" sz="2400" dirty="0" smtClean="0">
                <a:solidFill>
                  <a:srgbClr val="FF0000"/>
                </a:solidFill>
              </a:rPr>
              <a:t>femoral</a:t>
            </a:r>
            <a:r>
              <a:rPr lang="en-US" sz="2400" dirty="0" smtClean="0"/>
              <a:t> vein.</a:t>
            </a:r>
            <a:endParaRPr lang="en-US" sz="2400" dirty="0" smtClean="0"/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endParaRPr lang="en-US" b="1" dirty="0" smtClean="0"/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0000FF"/>
                </a:solidFill>
              </a:rPr>
              <a:t>small saphenous </a:t>
            </a:r>
            <a:r>
              <a:rPr lang="en-US" dirty="0" smtClean="0"/>
              <a:t>vein arises on the lateral side of the foot from the union of the dorsal digital vein of the fifth digit with the dorsal venous arch, e</a:t>
            </a:r>
            <a:r>
              <a:rPr lang="en-US" dirty="0" smtClean="0">
                <a:cs typeface="Times New Roman" panose="02020603050405020304" charset="0"/>
              </a:rPr>
              <a:t>mpties into </a:t>
            </a:r>
            <a:r>
              <a:rPr lang="en-US" dirty="0" smtClean="0">
                <a:solidFill>
                  <a:srgbClr val="FF0000"/>
                </a:solidFill>
                <a:cs typeface="Times New Roman" panose="02020603050405020304" charset="0"/>
              </a:rPr>
              <a:t>popliteal</a:t>
            </a:r>
            <a:r>
              <a:rPr lang="en-US" dirty="0" smtClean="0">
                <a:cs typeface="Times New Roman" panose="02020603050405020304" charset="0"/>
              </a:rPr>
              <a:t> vein </a:t>
            </a:r>
            <a:endParaRPr lang="en-US" dirty="0" smtClean="0">
              <a:cs typeface="Times New Roman" panose="02020603050405020304" charset="0"/>
            </a:endParaRPr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8682" y="685799"/>
            <a:ext cx="8995319" cy="548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24493-8301-40C4-B80B-4CA1CC37D631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F4B1-7D2F-46BD-B24F-92EDEB6D91B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C01C-63A5-40C3-9D6E-BD2E8E5F51D7}" type="slidenum">
              <a:rPr lang="en-US"/>
            </a:fld>
            <a:endParaRPr lang="en-US"/>
          </a:p>
        </p:txBody>
      </p:sp>
      <p:pic>
        <p:nvPicPr>
          <p:cNvPr id="60518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533400"/>
            <a:ext cx="9144000" cy="609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DD226-905B-40BB-A01B-EAABE872C25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F57B-E693-455D-9AA4-307F70CC4828}" type="slidenum">
              <a:rPr lang="en-US"/>
            </a:fld>
            <a:endParaRPr lang="en-US"/>
          </a:p>
        </p:txBody>
      </p:sp>
      <p:sp>
        <p:nvSpPr>
          <p:cNvPr id="412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533400"/>
            <a:ext cx="8229600" cy="5943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      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Deep veins of the lower limb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Accompany </a:t>
            </a:r>
            <a:r>
              <a:rPr lang="en-US" dirty="0"/>
              <a:t>arteries </a:t>
            </a:r>
            <a:endParaRPr lang="en-US" dirty="0"/>
          </a:p>
          <a:p>
            <a:r>
              <a:rPr lang="en-US" dirty="0"/>
              <a:t>Usually </a:t>
            </a:r>
            <a:r>
              <a:rPr lang="en-US" dirty="0" smtClean="0"/>
              <a:t>paired</a:t>
            </a:r>
            <a:r>
              <a:rPr lang="en-US" dirty="0"/>
              <a:t> </a:t>
            </a:r>
            <a:r>
              <a:rPr lang="en-US" dirty="0" smtClean="0"/>
              <a:t>contained </a:t>
            </a:r>
            <a:r>
              <a:rPr lang="en-US" dirty="0"/>
              <a:t>within vascular sheath with the artery</a:t>
            </a:r>
            <a:endParaRPr lang="en-US" dirty="0"/>
          </a:p>
          <a:p>
            <a:pPr lvl="1"/>
            <a:r>
              <a:rPr lang="en-US" dirty="0"/>
              <a:t>arterial pulsations help move the blood</a:t>
            </a:r>
            <a:endParaRPr lang="en-US" dirty="0"/>
          </a:p>
          <a:p>
            <a:r>
              <a:rPr lang="en-US" dirty="0"/>
              <a:t>In the leg they flow to </a:t>
            </a:r>
            <a:r>
              <a:rPr lang="en-US" dirty="0">
                <a:solidFill>
                  <a:srgbClr val="FF0000"/>
                </a:solidFill>
              </a:rPr>
              <a:t>popliteal</a:t>
            </a:r>
            <a:r>
              <a:rPr lang="en-US" dirty="0"/>
              <a:t> vein, which become </a:t>
            </a:r>
            <a:r>
              <a:rPr lang="en-US" dirty="0">
                <a:solidFill>
                  <a:srgbClr val="FF0000"/>
                </a:solidFill>
              </a:rPr>
              <a:t>femoral</a:t>
            </a:r>
            <a:r>
              <a:rPr lang="en-US" dirty="0"/>
              <a:t> vein in thigh which become </a:t>
            </a:r>
            <a:r>
              <a:rPr lang="en-US" dirty="0">
                <a:solidFill>
                  <a:srgbClr val="FF0000"/>
                </a:solidFill>
              </a:rPr>
              <a:t>external iliac vein </a:t>
            </a:r>
            <a:r>
              <a:rPr lang="en-US" dirty="0"/>
              <a:t>in pelvis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2A59C-4F04-4580-BDFC-A0225654E7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3C1F3-C1E3-4163-8E5C-E3F93353D0D5}" type="slidenum">
              <a:rPr lang="en-US"/>
            </a:fld>
            <a:endParaRPr lang="en-US"/>
          </a:p>
        </p:txBody>
      </p:sp>
      <p:pic>
        <p:nvPicPr>
          <p:cNvPr id="60621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24400" y="381000"/>
            <a:ext cx="4090737" cy="6477000"/>
          </a:xfrm>
          <a:prstGeom prst="rect">
            <a:avLst/>
          </a:prstGeom>
          <a:noFill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07818"/>
            <a:ext cx="3810000" cy="66501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AFD56-C329-4EAA-AC79-CFDFA48C51F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41A29-39ED-47D2-A557-25999CC24C71}" type="slidenum">
              <a:rPr lang="en-US"/>
            </a:fld>
            <a:endParaRPr lang="en-US"/>
          </a:p>
        </p:txBody>
      </p:sp>
      <p:sp>
        <p:nvSpPr>
          <p:cNvPr id="413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304800"/>
            <a:ext cx="3886200" cy="5867400"/>
          </a:xfrm>
        </p:spPr>
        <p:txBody>
          <a:bodyPr/>
          <a:lstStyle/>
          <a:p>
            <a:pPr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Clinical correlates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Varicose </a:t>
            </a:r>
            <a:r>
              <a:rPr lang="en-US" b="1" dirty="0">
                <a:solidFill>
                  <a:srgbClr val="FF0000"/>
                </a:solidFill>
              </a:rPr>
              <a:t>veins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form when the valves that usually prevent blood flow from the deep veins through the perforating veins to the superficial veins are incompetent</a:t>
            </a:r>
            <a:endParaRPr lang="en-US" dirty="0"/>
          </a:p>
          <a:p>
            <a:pPr lvl="1"/>
            <a:r>
              <a:rPr lang="en-US" dirty="0"/>
              <a:t>As a result, the superficial veins become varicose (dilated so that their cusps do not close) and tortuous  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67200" y="381000"/>
            <a:ext cx="4876800" cy="6248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rgbClr val="FF0000"/>
                </a:solidFill>
              </a:rPr>
              <a:t>     Lymphatic </a:t>
            </a:r>
            <a:r>
              <a:rPr lang="en-US" sz="3200" b="1" dirty="0">
                <a:solidFill>
                  <a:srgbClr val="FF0000"/>
                </a:solidFill>
              </a:rPr>
              <a:t>drainage of lower limb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D5-47F9-4BAD-A8B0-561E8D7BE0A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C1F8-FD50-4D49-BD9F-695E335D8CC4}" type="slidenum">
              <a:rPr lang="en-US"/>
            </a:fld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Superficial and deep lymph vessels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Superficial lymph vessels 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There are </a:t>
            </a:r>
            <a:r>
              <a:rPr lang="en-US" dirty="0" smtClean="0"/>
              <a:t>more in number than </a:t>
            </a:r>
            <a:r>
              <a:rPr lang="en-US" dirty="0"/>
              <a:t>the deep vessels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Many of them follow the great saphenous vein and end in the </a:t>
            </a:r>
            <a:r>
              <a:rPr lang="en-US" dirty="0">
                <a:solidFill>
                  <a:srgbClr val="FF0000"/>
                </a:solidFill>
              </a:rPr>
              <a:t>superficial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inguinal</a:t>
            </a:r>
            <a:r>
              <a:rPr lang="en-US" dirty="0"/>
              <a:t> lymph nodes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Few of them follow the small saphenous vein and end in to </a:t>
            </a:r>
            <a:r>
              <a:rPr lang="en-US" dirty="0">
                <a:solidFill>
                  <a:srgbClr val="FF0000"/>
                </a:solidFill>
              </a:rPr>
              <a:t>popliteal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lymph</a:t>
            </a:r>
            <a:r>
              <a:rPr lang="en-US" dirty="0"/>
              <a:t> nodes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Deep lymph vessels of the leg 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follow the deep veins and enter popliteal lymph nodes from which lymph drain into the deep inguinal lymph nodes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Finally deep and superficial lymph pass to </a:t>
            </a:r>
            <a:r>
              <a:rPr lang="en-US" b="1" dirty="0" smtClean="0">
                <a:solidFill>
                  <a:srgbClr val="FF0000"/>
                </a:solidFill>
              </a:rPr>
              <a:t>external iliac lymph nodes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B2307-7AD6-4747-8114-F0832D59442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BA4E-7CA7-4D55-9A3A-08CA56BC0BCF}" type="slidenum">
              <a:rPr lang="en-US"/>
            </a:fld>
            <a:endParaRPr lang="en-US"/>
          </a:p>
        </p:txBody>
      </p:sp>
      <p:pic>
        <p:nvPicPr>
          <p:cNvPr id="74957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5800" y="334963"/>
            <a:ext cx="7391400" cy="65230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05805-63EE-419E-A697-9AF1A133948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" y="457200"/>
            <a:ext cx="4573485" cy="5943600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447800"/>
            <a:ext cx="4648200" cy="49196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F8586-260E-41D1-8AD6-F7023D2C579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C257E-577A-4A53-9CAC-61B6FA514B73}" type="slidenum">
              <a:rPr lang="en-US"/>
            </a:fld>
            <a:endParaRPr lang="en-US"/>
          </a:p>
        </p:txBody>
      </p:sp>
      <p:sp>
        <p:nvSpPr>
          <p:cNvPr id="406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610600" cy="64008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Cutaneous innervation of lower limb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Arise </a:t>
            </a:r>
            <a:r>
              <a:rPr lang="en-US" sz="2800" dirty="0"/>
              <a:t>from 10 spinal cord segments – T12- S4</a:t>
            </a:r>
            <a:endParaRPr lang="en-US" sz="2800" baseline="-25000" dirty="0"/>
          </a:p>
          <a:p>
            <a:pPr lvl="1">
              <a:lnSpc>
                <a:spcPct val="90000"/>
              </a:lnSpc>
            </a:pPr>
            <a:r>
              <a:rPr lang="en-US" dirty="0"/>
              <a:t>Upper and lateral gluteal region - T12 &amp; L1,2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Front, medial and lateral thigh - L1,2,3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Medial and front of the leg - L 4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Lateral and front of the leg and intermediate of the dorsum of the foot - L5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Lateral border of the foot - S1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Sole of the foot medial part - L4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Sole of the foot intermediate part - L5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Sole of the foot lateral part - S1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Back of the leg </a:t>
            </a:r>
            <a:r>
              <a:rPr lang="en-US" dirty="0">
                <a:effectLst/>
              </a:rPr>
              <a:t>and thigh</a:t>
            </a:r>
            <a:r>
              <a:rPr lang="en-US" dirty="0"/>
              <a:t> - S2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Inferior and medial part of gluteal region </a:t>
            </a:r>
            <a:r>
              <a:rPr lang="en-US" dirty="0">
                <a:effectLst/>
              </a:rPr>
              <a:t>and </a:t>
            </a:r>
            <a:r>
              <a:rPr lang="en-US" dirty="0" err="1">
                <a:effectLst/>
              </a:rPr>
              <a:t>perianal</a:t>
            </a:r>
            <a:r>
              <a:rPr lang="en-US" dirty="0">
                <a:effectLst/>
              </a:rPr>
              <a:t> region</a:t>
            </a:r>
            <a:r>
              <a:rPr lang="en-US" dirty="0"/>
              <a:t> - S3,4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A845-E8B5-4FD0-B335-C99355AEAF9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BADB-8CD6-4185-B490-2C9E4B7EB0A3}" type="slidenum">
              <a:rPr lang="en-US"/>
            </a:fld>
            <a:endParaRPr lang="en-US"/>
          </a:p>
        </p:txBody>
      </p:sp>
      <p:pic>
        <p:nvPicPr>
          <p:cNvPr id="61133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0"/>
            <a:ext cx="6781800" cy="6858000"/>
          </a:xfrm>
          <a:prstGeom prst="rect">
            <a:avLst/>
          </a:prstGeom>
          <a:noFill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1390" y="0"/>
            <a:ext cx="922677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9AFF-9BDD-4ABD-BD81-00E39B4D827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381000"/>
            <a:ext cx="4495800" cy="6096000"/>
          </a:xfrm>
        </p:spPr>
        <p:txBody>
          <a:bodyPr/>
          <a:lstStyle/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Muscles of the gluteal region </a:t>
            </a:r>
            <a:endParaRPr lang="en-US" sz="2400" b="1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Organized into 2 layers: superficial and deep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Superficial layer</a:t>
            </a:r>
            <a:r>
              <a:rPr lang="en-US" dirty="0" smtClean="0"/>
              <a:t>: </a:t>
            </a:r>
            <a:r>
              <a:rPr lang="en-US" sz="2400" dirty="0" smtClean="0"/>
              <a:t>3 gluteal muscles and tensor of fascia </a:t>
            </a:r>
            <a:r>
              <a:rPr lang="en-US" sz="2400" dirty="0" err="1" smtClean="0"/>
              <a:t>lata</a:t>
            </a:r>
            <a:r>
              <a:rPr lang="en-US" sz="2400" dirty="0" smtClean="0"/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Deep layer</a:t>
            </a:r>
            <a:r>
              <a:rPr lang="en-US" dirty="0" smtClean="0"/>
              <a:t>: </a:t>
            </a:r>
            <a:r>
              <a:rPr lang="en-US" sz="2800" dirty="0" err="1" smtClean="0"/>
              <a:t>piriformis</a:t>
            </a:r>
            <a:r>
              <a:rPr lang="en-US" sz="2800" dirty="0" smtClean="0"/>
              <a:t>, </a:t>
            </a:r>
            <a:r>
              <a:rPr lang="en-US" sz="2800" dirty="0" err="1" smtClean="0"/>
              <a:t>obturator</a:t>
            </a:r>
            <a:r>
              <a:rPr lang="en-US" sz="2800" dirty="0" smtClean="0"/>
              <a:t> </a:t>
            </a:r>
            <a:r>
              <a:rPr lang="en-US" sz="2800" dirty="0" err="1" smtClean="0"/>
              <a:t>internus</a:t>
            </a:r>
            <a:r>
              <a:rPr lang="en-US" sz="2800" dirty="0" smtClean="0"/>
              <a:t>, superior and inferior </a:t>
            </a:r>
            <a:r>
              <a:rPr lang="en-US" sz="2800" dirty="0" err="1" smtClean="0"/>
              <a:t>gemilli</a:t>
            </a:r>
            <a:r>
              <a:rPr lang="en-US" sz="2800" dirty="0" smtClean="0"/>
              <a:t>, and quadratus </a:t>
            </a:r>
            <a:r>
              <a:rPr lang="en-US" sz="2800" dirty="0" err="1" smtClean="0"/>
              <a:t>femoris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 </a:t>
            </a:r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24400" y="304800"/>
            <a:ext cx="4267200" cy="64008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C519B-4DEB-4DEA-A1C6-0741F86693E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81000"/>
            <a:ext cx="3810000" cy="60960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Gluteus maximus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Origin</a:t>
            </a:r>
            <a:r>
              <a:rPr lang="en-US" sz="2400" dirty="0" smtClean="0"/>
              <a:t> - dorsal surface of </a:t>
            </a:r>
            <a:r>
              <a:rPr lang="en-US" sz="2400" dirty="0" err="1" smtClean="0"/>
              <a:t>ilium</a:t>
            </a:r>
            <a:r>
              <a:rPr lang="en-US" sz="2400" dirty="0" smtClean="0"/>
              <a:t>, sacrum and coccyx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Insertion</a:t>
            </a:r>
            <a:r>
              <a:rPr lang="en-US" sz="2400" dirty="0" smtClean="0"/>
              <a:t> - </a:t>
            </a:r>
            <a:r>
              <a:rPr lang="en-US" sz="2400" dirty="0" err="1" smtClean="0"/>
              <a:t>iliotibial</a:t>
            </a:r>
            <a:r>
              <a:rPr lang="en-US" sz="2400" dirty="0" smtClean="0"/>
              <a:t> tract and  gluteal tuberosity of femur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Action</a:t>
            </a:r>
            <a:r>
              <a:rPr lang="en-US" sz="2400" dirty="0" smtClean="0"/>
              <a:t> - thigh extension, lateral rotation, assists in rising from sitting position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Innervation</a:t>
            </a:r>
            <a:r>
              <a:rPr lang="en-US" sz="2400" dirty="0" smtClean="0"/>
              <a:t>: inferior gluteal nerves</a:t>
            </a: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0" y="533400"/>
            <a:ext cx="4153717" cy="557784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E702-AFD4-4652-BDB8-1711F898DB5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81000"/>
            <a:ext cx="3886200" cy="60960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    Gluteus medius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Origin</a:t>
            </a:r>
            <a:r>
              <a:rPr lang="en-US" dirty="0" smtClean="0"/>
              <a:t> - </a:t>
            </a:r>
            <a:r>
              <a:rPr lang="en-US" sz="2400" dirty="0" smtClean="0"/>
              <a:t>between anterior and posterior gluteal lines on lateral surface of </a:t>
            </a:r>
            <a:r>
              <a:rPr lang="en-US" sz="2400" dirty="0" err="1" smtClean="0"/>
              <a:t>ilium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Insertion</a:t>
            </a:r>
            <a:r>
              <a:rPr lang="en-US" sz="2400" dirty="0" smtClean="0"/>
              <a:t> - greater </a:t>
            </a:r>
            <a:r>
              <a:rPr lang="en-US" sz="2400" dirty="0" smtClean="0">
                <a:solidFill>
                  <a:srgbClr val="0000FF"/>
                </a:solidFill>
              </a:rPr>
              <a:t>trochanter of femur </a:t>
            </a:r>
            <a:r>
              <a:rPr lang="en-US" sz="2400" dirty="0" smtClean="0"/>
              <a:t>on the lateral surface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Action</a:t>
            </a:r>
            <a:r>
              <a:rPr lang="en-US" sz="2400" dirty="0" smtClean="0"/>
              <a:t> - abducts and medially rotates thigh 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Innervation</a:t>
            </a:r>
            <a:r>
              <a:rPr lang="en-US" sz="2400" dirty="0" smtClean="0"/>
              <a:t> - superior gluteal nerve</a:t>
            </a:r>
            <a:endParaRPr lang="en-US" sz="2400" dirty="0" smtClean="0"/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762000"/>
            <a:ext cx="4225311" cy="54864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517B-F2C9-4675-AF69-FC089234C2B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81000"/>
            <a:ext cx="3581400" cy="60960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Gluteus minimus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Origin</a:t>
            </a:r>
            <a:r>
              <a:rPr lang="en-US" sz="2400" dirty="0" smtClean="0"/>
              <a:t> - between anterior and inferior gluteal lines on external surface of </a:t>
            </a:r>
            <a:r>
              <a:rPr lang="en-US" sz="2400" dirty="0" err="1" smtClean="0"/>
              <a:t>ilium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Insertion</a:t>
            </a:r>
            <a:r>
              <a:rPr lang="en-US" sz="2400" dirty="0" smtClean="0"/>
              <a:t> - greater </a:t>
            </a:r>
            <a:r>
              <a:rPr lang="en-US" sz="2400" dirty="0" smtClean="0">
                <a:solidFill>
                  <a:srgbClr val="0000FF"/>
                </a:solidFill>
              </a:rPr>
              <a:t>trochanter of femur </a:t>
            </a:r>
            <a:r>
              <a:rPr lang="en-US" sz="2400" dirty="0" smtClean="0"/>
              <a:t>on the anterior surface 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Action</a:t>
            </a:r>
            <a:r>
              <a:rPr lang="en-US" sz="2400" dirty="0" smtClean="0"/>
              <a:t> - abducts and medially rotates thigh and with gluteus medius prevent tilting of the pelvis 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Innervation</a:t>
            </a:r>
            <a:r>
              <a:rPr lang="en-US" sz="2400" dirty="0" smtClean="0"/>
              <a:t> - superior gluteal nerve</a:t>
            </a: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762000"/>
            <a:ext cx="4225311" cy="54864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457200"/>
            <a:ext cx="5867400" cy="60960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Tensor fascia </a:t>
            </a:r>
            <a:r>
              <a:rPr lang="en-US" sz="2800" b="1" dirty="0" err="1" smtClean="0">
                <a:solidFill>
                  <a:srgbClr val="FF0000"/>
                </a:solidFill>
              </a:rPr>
              <a:t>lata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Origin</a:t>
            </a:r>
            <a:r>
              <a:rPr lang="en-US" dirty="0" smtClean="0"/>
              <a:t> </a:t>
            </a:r>
            <a:r>
              <a:rPr lang="en-US" dirty="0"/>
              <a:t>- anterior superior iliac spine and the outer lip of the iliac crest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Insertion</a:t>
            </a:r>
            <a:r>
              <a:rPr lang="en-US" dirty="0"/>
              <a:t> - </a:t>
            </a:r>
            <a:r>
              <a:rPr lang="en-US" dirty="0" err="1"/>
              <a:t>iliotibial</a:t>
            </a:r>
            <a:r>
              <a:rPr lang="en-US" dirty="0"/>
              <a:t> tract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Action</a:t>
            </a:r>
            <a:r>
              <a:rPr lang="en-US" dirty="0"/>
              <a:t> - flexes and abducts thigh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Innervation</a:t>
            </a:r>
            <a:r>
              <a:rPr lang="en-US" dirty="0"/>
              <a:t> - </a:t>
            </a:r>
            <a:r>
              <a:rPr lang="en-US" sz="2400" dirty="0"/>
              <a:t>superior gluteal nerve</a:t>
            </a:r>
            <a:endParaRPr lang="en-US" sz="2400" dirty="0"/>
          </a:p>
          <a:p>
            <a:pPr>
              <a:buFont typeface="Wingdings" panose="05000000000000000000" pitchFamily="2" charset="2"/>
              <a:buNone/>
            </a:pPr>
            <a:endParaRPr lang="en-US" sz="2800" dirty="0"/>
          </a:p>
          <a:p>
            <a:pPr>
              <a:buSzTx/>
              <a:buFont typeface="Symbol" panose="05050102010706020507" pitchFamily="18" charset="2"/>
              <a:buChar char=""/>
            </a:pPr>
            <a:endParaRPr 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46C1-FC8B-4624-82FF-1AC4764E3A7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5E6C-6A72-4719-948A-58ADF6D1B700}" type="slidenum">
              <a:rPr lang="en-US"/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00600" y="2133600"/>
            <a:ext cx="4343401" cy="378399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F6C91-60D3-4CC4-B741-7ABFF82BE9F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228600"/>
            <a:ext cx="4648200" cy="6324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3500" b="1" dirty="0" smtClean="0">
                <a:solidFill>
                  <a:srgbClr val="FF0000"/>
                </a:solidFill>
              </a:rPr>
              <a:t>Piriformis</a:t>
            </a:r>
            <a:endParaRPr lang="en-US" sz="35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Key muscle – divide the greater sciatic foramen</a:t>
            </a:r>
            <a:endParaRPr lang="en-US" sz="2400" dirty="0" smtClean="0"/>
          </a:p>
          <a:p>
            <a:pPr lvl="1"/>
            <a:r>
              <a:rPr lang="en-US" b="1" dirty="0" smtClean="0"/>
              <a:t>   </a:t>
            </a:r>
            <a:r>
              <a:rPr lang="en-US" dirty="0" smtClean="0"/>
              <a:t>structures passing above the muscle 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superior gluteal nerve and vessels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   structures passing below the muscle 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nerves</a:t>
            </a:r>
            <a:r>
              <a:rPr lang="en-US" dirty="0" smtClean="0"/>
              <a:t> - inferior gluteal, sciatic, posterior femoral cutaneous, pudendal, nerve to quadratus </a:t>
            </a:r>
            <a:r>
              <a:rPr lang="en-US" dirty="0" err="1" smtClean="0"/>
              <a:t>femoris</a:t>
            </a:r>
            <a:r>
              <a:rPr lang="en-US" dirty="0" smtClean="0"/>
              <a:t> and </a:t>
            </a:r>
            <a:r>
              <a:rPr lang="en-US" dirty="0" err="1" smtClean="0"/>
              <a:t>obturator</a:t>
            </a:r>
            <a:r>
              <a:rPr lang="en-US" dirty="0" smtClean="0"/>
              <a:t> </a:t>
            </a:r>
            <a:r>
              <a:rPr lang="en-US" dirty="0" err="1" smtClean="0"/>
              <a:t>internus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vessels</a:t>
            </a:r>
            <a:r>
              <a:rPr lang="en-US" dirty="0" smtClean="0"/>
              <a:t> - inferior gluteal and internal pudendal</a:t>
            </a:r>
            <a:endParaRPr lang="en-US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Origin</a:t>
            </a:r>
            <a:r>
              <a:rPr lang="en-US" sz="2400" dirty="0" smtClean="0"/>
              <a:t>: pelvic surface of sacrum </a:t>
            </a:r>
            <a:endParaRPr 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Insertion</a:t>
            </a:r>
            <a:r>
              <a:rPr lang="en-US" sz="2400" dirty="0" smtClean="0"/>
              <a:t>: </a:t>
            </a:r>
            <a:r>
              <a:rPr lang="en-US" sz="2400" dirty="0" smtClean="0">
                <a:solidFill>
                  <a:srgbClr val="0000FF"/>
                </a:solidFill>
              </a:rPr>
              <a:t>greater trochanter  </a:t>
            </a:r>
            <a:endParaRPr lang="en-US" sz="2400" dirty="0" smtClean="0">
              <a:solidFill>
                <a:srgbClr val="0000FF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Innervation</a:t>
            </a:r>
            <a:r>
              <a:rPr lang="en-US" sz="2400" dirty="0" smtClean="0"/>
              <a:t> -  branches of ventral rami of S1 and S2</a:t>
            </a:r>
            <a:endParaRPr lang="en-US" sz="2400" dirty="0" smtClean="0"/>
          </a:p>
          <a:p>
            <a:r>
              <a:rPr lang="en-US" sz="2000" b="1" dirty="0" smtClean="0">
                <a:solidFill>
                  <a:srgbClr val="0000FF"/>
                </a:solidFill>
              </a:rPr>
              <a:t>All the deep group laterally rotates thigh and steadies femoral head in acetabulum</a:t>
            </a:r>
            <a:endParaRPr 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00600" y="1600200"/>
            <a:ext cx="4343400" cy="37795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FEDD3-5A3D-4761-839F-2680962DFCCA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891-8530-4C30-8975-6B671A894A8F}" type="slidenum">
              <a:rPr lang="en-US"/>
            </a:fld>
            <a:endParaRPr lang="en-US"/>
          </a:p>
        </p:txBody>
      </p:sp>
      <p:pic>
        <p:nvPicPr>
          <p:cNvPr id="5017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A741-0C2C-4297-BAF3-BC051663F54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49DB2-BC50-47D7-930C-03C2EACE1C9E}" type="slidenum">
              <a:rPr lang="en-US"/>
            </a:fld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533400"/>
            <a:ext cx="8686800" cy="6019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3600" b="1" dirty="0">
                <a:solidFill>
                  <a:srgbClr val="FF0000"/>
                </a:solidFill>
              </a:rPr>
              <a:t>Quadratus </a:t>
            </a:r>
            <a:r>
              <a:rPr lang="en-US" sz="3600" b="1" dirty="0" err="1">
                <a:solidFill>
                  <a:srgbClr val="FF0000"/>
                </a:solidFill>
              </a:rPr>
              <a:t>femoris</a:t>
            </a:r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ischial tuberosity</a:t>
            </a:r>
            <a:endParaRPr lang="en-US" sz="2800" dirty="0"/>
          </a:p>
          <a:p>
            <a:r>
              <a:rPr lang="en-US" sz="2800" dirty="0"/>
              <a:t>Insertion: intertrochanteric crest of femur</a:t>
            </a:r>
            <a:endParaRPr lang="en-US" sz="2800" dirty="0"/>
          </a:p>
          <a:p>
            <a:r>
              <a:rPr lang="en-US" sz="2800" dirty="0"/>
              <a:t>Innervation: nerve to quadratus </a:t>
            </a:r>
            <a:r>
              <a:rPr lang="en-US" sz="2800" dirty="0" err="1"/>
              <a:t>femoris</a:t>
            </a:r>
            <a:r>
              <a:rPr lang="en-US" sz="2800" dirty="0"/>
              <a:t> (L4, 5, S1) </a:t>
            </a:r>
            <a:endParaRPr lang="en-US" sz="2800" dirty="0"/>
          </a:p>
          <a:p>
            <a:pPr>
              <a:buFont typeface="Wingdings" panose="05000000000000000000" pitchFamily="2" charset="2"/>
              <a:buNone/>
            </a:pPr>
            <a:endParaRPr lang="en-US" sz="36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600" b="1" dirty="0">
                <a:solidFill>
                  <a:srgbClr val="FF0000"/>
                </a:solidFill>
              </a:rPr>
              <a:t>Obturator </a:t>
            </a:r>
            <a:r>
              <a:rPr lang="en-US" sz="3600" b="1" dirty="0" err="1">
                <a:solidFill>
                  <a:srgbClr val="FF0000"/>
                </a:solidFill>
              </a:rPr>
              <a:t>internus</a:t>
            </a:r>
            <a:r>
              <a:rPr lang="en-US" b="1" u="sng" dirty="0">
                <a:solidFill>
                  <a:srgbClr val="FF0000"/>
                </a:solidFill>
              </a:rPr>
              <a:t>  </a:t>
            </a:r>
            <a:endParaRPr lang="en-US" b="1" u="sng" dirty="0">
              <a:solidFill>
                <a:srgbClr val="FF0000"/>
              </a:solidFill>
            </a:endParaRPr>
          </a:p>
          <a:p>
            <a:r>
              <a:rPr lang="en-US" sz="2800" dirty="0"/>
              <a:t>Origin: pelvic surface of the </a:t>
            </a:r>
            <a:r>
              <a:rPr lang="en-US" sz="2800" dirty="0" err="1"/>
              <a:t>obturator</a:t>
            </a:r>
            <a:r>
              <a:rPr lang="en-US" sz="2800" dirty="0"/>
              <a:t> membrane</a:t>
            </a:r>
            <a:endParaRPr lang="en-US" sz="2800" dirty="0"/>
          </a:p>
          <a:p>
            <a:r>
              <a:rPr lang="en-US" sz="2800" dirty="0"/>
              <a:t>Insertion: </a:t>
            </a:r>
            <a:r>
              <a:rPr lang="en-US" sz="2800" b="1" dirty="0">
                <a:solidFill>
                  <a:srgbClr val="0000FF"/>
                </a:solidFill>
              </a:rPr>
              <a:t>greater trochanter </a:t>
            </a:r>
            <a:endParaRPr lang="en-US" sz="2800" b="1" dirty="0">
              <a:solidFill>
                <a:srgbClr val="0000FF"/>
              </a:solidFill>
            </a:endParaRPr>
          </a:p>
          <a:p>
            <a:r>
              <a:rPr lang="en-US" sz="2800" dirty="0" smtClean="0"/>
              <a:t>Innervation</a:t>
            </a:r>
            <a:r>
              <a:rPr lang="en-US" sz="2800" dirty="0"/>
              <a:t>: nerve to </a:t>
            </a:r>
            <a:r>
              <a:rPr lang="en-US" sz="2800" dirty="0" err="1"/>
              <a:t>obturator</a:t>
            </a:r>
            <a:r>
              <a:rPr lang="en-US" sz="2800" dirty="0"/>
              <a:t> </a:t>
            </a:r>
            <a:r>
              <a:rPr lang="en-US" sz="2800" dirty="0" err="1"/>
              <a:t>internus</a:t>
            </a:r>
            <a:r>
              <a:rPr lang="en-US" sz="2800" dirty="0"/>
              <a:t> (L5, S1, 2</a:t>
            </a:r>
            <a:r>
              <a:rPr lang="en-US" sz="2800" dirty="0" smtClean="0"/>
              <a:t>)</a:t>
            </a:r>
            <a:endParaRPr lang="en-US" sz="2800" dirty="0" smtClean="0"/>
          </a:p>
          <a:p>
            <a:r>
              <a:rPr lang="en-US" sz="2800" dirty="0" smtClean="0"/>
              <a:t>The only structure entering the gluteal region </a:t>
            </a:r>
            <a:r>
              <a:rPr lang="en-US" sz="2800" dirty="0" smtClean="0">
                <a:solidFill>
                  <a:srgbClr val="0000FF"/>
                </a:solidFill>
              </a:rPr>
              <a:t>via the lesser sciatic foramen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8C9A-4AD7-4C31-8974-3DE34FB64C2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8B9D-62C5-40B7-B00B-1C6A7C1C7B49}" type="slidenum">
              <a:rPr lang="en-US"/>
            </a:fld>
            <a:endParaRPr lang="en-US"/>
          </a:p>
        </p:txBody>
      </p:sp>
      <p:pic>
        <p:nvPicPr>
          <p:cNvPr id="259076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457200" y="-20638"/>
            <a:ext cx="7772400" cy="687863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40188-9DA4-4799-B45E-E8119B00CA9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AD04-04BD-424D-8BEE-2D741738A8CB}" type="slidenum">
              <a:rPr lang="en-US"/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381000"/>
            <a:ext cx="8610600" cy="6248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3200" b="1" dirty="0">
                <a:solidFill>
                  <a:srgbClr val="FF0000"/>
                </a:solidFill>
              </a:rPr>
              <a:t>Superior </a:t>
            </a:r>
            <a:r>
              <a:rPr lang="en-US" sz="3200" b="1" dirty="0" err="1">
                <a:solidFill>
                  <a:srgbClr val="FF0000"/>
                </a:solidFill>
              </a:rPr>
              <a:t>gemillus</a:t>
            </a:r>
            <a:r>
              <a:rPr lang="en-US" sz="2800" b="1" u="sng" dirty="0">
                <a:solidFill>
                  <a:srgbClr val="FF0000"/>
                </a:solidFill>
              </a:rPr>
              <a:t> </a:t>
            </a:r>
            <a:endParaRPr lang="en-US" sz="2800" b="1" u="sng" dirty="0">
              <a:solidFill>
                <a:srgbClr val="FF0000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400" dirty="0"/>
              <a:t>Origin: ischial </a:t>
            </a:r>
            <a:r>
              <a:rPr lang="en-US" sz="2400" dirty="0" smtClean="0"/>
              <a:t>spine</a:t>
            </a:r>
            <a:endParaRPr lang="en-US" sz="2400" dirty="0" smtClean="0"/>
          </a:p>
          <a:p>
            <a:pPr lvl="2">
              <a:buClr>
                <a:schemeClr val="tx1"/>
              </a:buClr>
            </a:pPr>
            <a:r>
              <a:rPr lang="en-US" sz="2400" dirty="0" smtClean="0"/>
              <a:t>Insertion</a:t>
            </a:r>
            <a:r>
              <a:rPr lang="en-US" sz="2400" dirty="0"/>
              <a:t>: </a:t>
            </a:r>
            <a:r>
              <a:rPr lang="en-US" sz="2400" b="1" dirty="0">
                <a:solidFill>
                  <a:srgbClr val="0000FF"/>
                </a:solidFill>
              </a:rPr>
              <a:t>greater trochanter  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400" dirty="0" smtClean="0"/>
              <a:t>Innervation</a:t>
            </a:r>
            <a:r>
              <a:rPr lang="en-US" sz="2400" dirty="0"/>
              <a:t>: nerve to </a:t>
            </a:r>
            <a:r>
              <a:rPr lang="en-US" sz="2400" dirty="0" err="1"/>
              <a:t>obturator</a:t>
            </a:r>
            <a:r>
              <a:rPr lang="en-US" sz="2400" dirty="0"/>
              <a:t> </a:t>
            </a:r>
            <a:r>
              <a:rPr lang="en-US" sz="2400" dirty="0" err="1" smtClean="0"/>
              <a:t>internus</a:t>
            </a:r>
            <a:endParaRPr lang="en-US" sz="4000" dirty="0">
              <a:solidFill>
                <a:schemeClr val="tx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Inferior </a:t>
            </a:r>
            <a:r>
              <a:rPr lang="en-US" sz="2800" b="1" dirty="0" err="1">
                <a:solidFill>
                  <a:srgbClr val="FF0000"/>
                </a:solidFill>
              </a:rPr>
              <a:t>gemillus</a:t>
            </a:r>
            <a:r>
              <a:rPr lang="en-US" sz="2800" b="1" u="sng" dirty="0">
                <a:solidFill>
                  <a:srgbClr val="FF0000"/>
                </a:solidFill>
              </a:rPr>
              <a:t> </a:t>
            </a:r>
            <a:endParaRPr lang="en-US" sz="2800" b="1" u="sng" dirty="0">
              <a:solidFill>
                <a:srgbClr val="FF0000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400" dirty="0"/>
              <a:t>Origin: ischial </a:t>
            </a:r>
            <a:r>
              <a:rPr lang="en-US" sz="2400" dirty="0" smtClean="0"/>
              <a:t>tuberosity</a:t>
            </a:r>
            <a:endParaRPr lang="en-US" sz="2400" dirty="0" smtClean="0"/>
          </a:p>
          <a:p>
            <a:pPr lvl="2">
              <a:buClr>
                <a:schemeClr val="tx1"/>
              </a:buClr>
            </a:pPr>
            <a:r>
              <a:rPr lang="en-US" sz="2400" dirty="0" smtClean="0"/>
              <a:t>Insertion</a:t>
            </a:r>
            <a:r>
              <a:rPr lang="en-US" sz="2400" dirty="0"/>
              <a:t>: </a:t>
            </a:r>
            <a:r>
              <a:rPr lang="en-US" sz="2400" b="1" dirty="0">
                <a:solidFill>
                  <a:srgbClr val="0000FF"/>
                </a:solidFill>
              </a:rPr>
              <a:t>greater trochanter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400" dirty="0" smtClean="0"/>
              <a:t>Innervation</a:t>
            </a:r>
            <a:r>
              <a:rPr lang="en-US" sz="2400" dirty="0"/>
              <a:t>: nerve to quadratus </a:t>
            </a:r>
            <a:r>
              <a:rPr lang="en-US" sz="2400" dirty="0" err="1"/>
              <a:t>femoris</a:t>
            </a: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sz="4000" dirty="0">
              <a:solidFill>
                <a:schemeClr val="tx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715962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</a:t>
            </a:r>
            <a:r>
              <a:rPr lang="en-US" b="1" dirty="0" smtClean="0">
                <a:solidFill>
                  <a:srgbClr val="FF0000"/>
                </a:solidFill>
              </a:rPr>
              <a:t>THE THIGH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F72-41A5-43E8-A939-2A80E90E89C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3657600" cy="50292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dirty="0" smtClean="0"/>
              <a:t>Thigh muscles are organized into three compartments: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anterior or extensor,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medial or adductor, and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posterior or flexor by intermuscular septa 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954712" y="3105150"/>
            <a:ext cx="170815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CA52-7A2B-4F93-8AAB-68187B4FF36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14FE-314A-4E20-9F15-8856954A0600}" type="slidenum">
              <a:rPr lang="en-US"/>
            </a:fld>
            <a:endParaRPr lang="en-US"/>
          </a:p>
        </p:txBody>
      </p:sp>
      <p:pic>
        <p:nvPicPr>
          <p:cNvPr id="96051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-33338"/>
            <a:ext cx="9144000" cy="69246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92162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</a:t>
            </a:r>
            <a:r>
              <a:rPr lang="en-US" sz="3600" dirty="0" smtClean="0"/>
              <a:t>ANTERIOR COMPARTMENT OF THIGH</a:t>
            </a:r>
            <a:endParaRPr lang="en-US" sz="3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D6EC-0CE0-4AEC-92E5-D319D560BB0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30040" cy="51054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Contains the anterior thigh muscles, which are</a:t>
            </a:r>
            <a:endParaRPr lang="en-US" dirty="0" smtClean="0"/>
          </a:p>
          <a:p>
            <a:r>
              <a:rPr lang="en-US" sz="2000" b="1" dirty="0" smtClean="0"/>
              <a:t>Flexors of the hip and</a:t>
            </a:r>
            <a:endParaRPr lang="en-US" sz="2000" b="1" dirty="0" smtClean="0"/>
          </a:p>
          <a:p>
            <a:r>
              <a:rPr lang="en-US" sz="2000" b="1" dirty="0" smtClean="0"/>
              <a:t> Extensors of the knee</a:t>
            </a:r>
            <a:endParaRPr lang="en-US" sz="2000" b="1" dirty="0" smtClean="0"/>
          </a:p>
          <a:p>
            <a:pPr>
              <a:buNone/>
            </a:pPr>
            <a:r>
              <a:rPr lang="en-US" sz="2000" b="1" dirty="0" smtClean="0">
                <a:solidFill>
                  <a:srgbClr val="0000FF"/>
                </a:solidFill>
              </a:rPr>
              <a:t>INCLUDE:</a:t>
            </a:r>
            <a:endParaRPr lang="en-US" sz="2000" b="1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Quadriceps femoris 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rgbClr val="7030A0"/>
                </a:solidFill>
              </a:rPr>
              <a:t>Rectus femoris, Vastus lateralis, Vastus intermedius, Vastus medialis</a:t>
            </a:r>
            <a:r>
              <a:rPr lang="en-US" sz="2000" b="1" dirty="0" smtClean="0"/>
              <a:t>)</a:t>
            </a:r>
            <a:endParaRPr lang="en-US" sz="2000" b="1" dirty="0" smtClean="0"/>
          </a:p>
          <a:p>
            <a:r>
              <a:rPr lang="en-US" sz="2800" dirty="0" smtClean="0"/>
              <a:t>Pectineus</a:t>
            </a:r>
            <a:endParaRPr lang="en-US" sz="2800" dirty="0" smtClean="0"/>
          </a:p>
          <a:p>
            <a:r>
              <a:rPr lang="en-US" sz="2800" dirty="0" smtClean="0"/>
              <a:t>Iliopsoas</a:t>
            </a:r>
            <a:endParaRPr lang="en-US" sz="2800" dirty="0" smtClean="0"/>
          </a:p>
          <a:p>
            <a:r>
              <a:rPr lang="en-US" sz="2800" dirty="0" smtClean="0"/>
              <a:t>Sartorius</a:t>
            </a:r>
            <a:endParaRPr lang="en-US" sz="28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0" y="1295400"/>
            <a:ext cx="4404093" cy="5029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F233-F69C-45F1-8895-4619C701809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762000"/>
          <a:ext cx="8382000" cy="5914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  <a:gridCol w="2794000"/>
              </a:tblGrid>
              <a:tr h="903642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Muscles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Proximal attachment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Distal attachment</a:t>
                      </a:r>
                      <a:endParaRPr lang="en-US" sz="2800" dirty="0"/>
                    </a:p>
                  </a:txBody>
                  <a:tcPr/>
                </a:tc>
              </a:tr>
              <a:tr h="125708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Rectus femoris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anterior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inferior iliac 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spine</a:t>
                      </a:r>
                      <a:r>
                        <a:rPr lang="en-US" sz="2000" b="1" baseline="0" dirty="0" smtClean="0">
                          <a:solidFill>
                            <a:srgbClr val="0000FF"/>
                          </a:solidFill>
                        </a:rPr>
                        <a:t> and </a:t>
                      </a:r>
                      <a:r>
                        <a:rPr lang="en-US" sz="2000" b="1" dirty="0" smtClean="0"/>
                        <a:t>Ilium</a:t>
                      </a:r>
                      <a:r>
                        <a:rPr lang="en-US" sz="2000" b="1" baseline="0" dirty="0" smtClean="0"/>
                        <a:t> superior to acetabulum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Quadriceps 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femoris tendon</a:t>
                      </a:r>
                      <a:endParaRPr lang="en-US" sz="20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sz="2000" b="1" dirty="0" smtClean="0"/>
                        <a:t>To patella and tibial </a:t>
                      </a:r>
                      <a:r>
                        <a:rPr lang="en-US" sz="2000" b="1" dirty="0" err="1" smtClean="0"/>
                        <a:t>tuberosity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  <a:tr h="125708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Vastus lateralis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/>
                        <a:t> 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greater</a:t>
                      </a:r>
                      <a:r>
                        <a:rPr lang="en-US" sz="2000" b="1" dirty="0" smtClean="0"/>
                        <a:t> 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trochanter</a:t>
                      </a:r>
                      <a:r>
                        <a:rPr lang="en-US" sz="2000" b="1" baseline="0" dirty="0" smtClean="0">
                          <a:solidFill>
                            <a:schemeClr val="dk1"/>
                          </a:solidFill>
                        </a:rPr>
                        <a:t> and</a:t>
                      </a:r>
                      <a:endParaRPr lang="en-US" sz="2000" b="1" dirty="0" smtClean="0"/>
                    </a:p>
                    <a:p>
                      <a:pPr algn="l"/>
                      <a:r>
                        <a:rPr lang="en-US" sz="2000" b="1" dirty="0" smtClean="0"/>
                        <a:t> lateral lip of the linea aspera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Quadriceps 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femoris tendon</a:t>
                      </a:r>
                      <a:endParaRPr lang="en-US" sz="20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sz="2000" b="1" dirty="0" smtClean="0"/>
                        <a:t>To patella and tibial </a:t>
                      </a:r>
                      <a:r>
                        <a:rPr lang="en-US" sz="2000" b="1" dirty="0" err="1" smtClean="0"/>
                        <a:t>tuberosity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  <a:tr h="1282514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Vastus intermedius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/>
                        <a:t>anterior </a:t>
                      </a:r>
                      <a:r>
                        <a:rPr lang="en-US" sz="2000" b="1" dirty="0"/>
                        <a:t>and lateral </a:t>
                      </a:r>
                      <a:r>
                        <a:rPr lang="en-US" sz="2000" b="1" dirty="0" smtClean="0"/>
                        <a:t>surfaces of shaft of femur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Quadriceps femoris tendon </a:t>
                      </a:r>
                      <a:r>
                        <a:rPr lang="en-US" sz="2000" b="1" dirty="0"/>
                        <a:t>and lateral margin of patella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  <a:tr h="105858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Vastus medialis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/>
                        <a:t>i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ntertrochanteric line</a:t>
                      </a:r>
                      <a:r>
                        <a:rPr lang="en-US" sz="2000" b="1" baseline="0" dirty="0" smtClean="0">
                          <a:solidFill>
                            <a:schemeClr val="dk1"/>
                          </a:solidFill>
                        </a:rPr>
                        <a:t> and  </a:t>
                      </a:r>
                      <a:r>
                        <a:rPr lang="en-US" sz="2000" b="1" dirty="0" smtClean="0"/>
                        <a:t>medial </a:t>
                      </a:r>
                      <a:r>
                        <a:rPr lang="en-US" sz="2000" b="1" dirty="0"/>
                        <a:t>lip of the linea </a:t>
                      </a:r>
                      <a:r>
                        <a:rPr lang="en-US" sz="2000" b="1" dirty="0" smtClean="0"/>
                        <a:t>aspera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Quadriceps femoris tendon </a:t>
                      </a:r>
                      <a:r>
                        <a:rPr lang="en-US" sz="2000" b="1" dirty="0"/>
                        <a:t>and medial border of patella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1000" y="152401"/>
            <a:ext cx="8382000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 smtClean="0"/>
              <a:t>                       Quadriceps femoris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639762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  Quadriceps femoris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37A3-9BD9-4A57-8CEA-E0758453FAB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3749040" cy="55626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Innervation</a:t>
            </a:r>
            <a:r>
              <a:rPr lang="en-US" dirty="0" smtClean="0"/>
              <a:t> –all are innervated by </a:t>
            </a:r>
            <a:r>
              <a:rPr lang="en-US" b="1" dirty="0" smtClean="0">
                <a:solidFill>
                  <a:srgbClr val="FF0000"/>
                </a:solidFill>
              </a:rPr>
              <a:t>Femoral nerve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00FF"/>
                </a:solidFill>
              </a:rPr>
              <a:t>Action</a:t>
            </a:r>
            <a:r>
              <a:rPr lang="en-US" dirty="0" smtClean="0"/>
              <a:t>- Rectus femoris </a:t>
            </a:r>
            <a:r>
              <a:rPr lang="en-US" dirty="0" smtClean="0">
                <a:solidFill>
                  <a:srgbClr val="FF0000"/>
                </a:solidFill>
              </a:rPr>
              <a:t>flex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the thigh at the hip </a:t>
            </a:r>
            <a:r>
              <a:rPr lang="en-US" dirty="0" smtClean="0"/>
              <a:t>&amp; </a:t>
            </a:r>
            <a:r>
              <a:rPr lang="en-US" dirty="0" smtClean="0">
                <a:solidFill>
                  <a:srgbClr val="FF0000"/>
                </a:solidFill>
              </a:rPr>
              <a:t>extend the leg at the knee </a:t>
            </a:r>
            <a:r>
              <a:rPr lang="en-US" dirty="0" smtClean="0"/>
              <a:t>joint. While the others only </a:t>
            </a:r>
            <a:r>
              <a:rPr lang="en-US" dirty="0" smtClean="0">
                <a:solidFill>
                  <a:srgbClr val="0000FF"/>
                </a:solidFill>
              </a:rPr>
              <a:t>extend the leg at the knee joint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139867" y="1447800"/>
            <a:ext cx="3337840" cy="45720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4EA68-CEF2-4CD1-9EC2-B14D2DE8DB9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457200" y="712791"/>
          <a:ext cx="8305800" cy="6145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  <a:gridCol w="1661160"/>
                <a:gridCol w="1661160"/>
              </a:tblGrid>
              <a:tr h="684825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muscles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Proximal attachment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Distal attachment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innervation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action</a:t>
                      </a:r>
                      <a:endParaRPr lang="en-US" sz="2000" b="1" dirty="0"/>
                    </a:p>
                  </a:txBody>
                  <a:tcPr/>
                </a:tc>
              </a:tr>
              <a:tr h="187954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Sartorius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Anterior superior iliac spine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/>
                        <a:t>superomedialsurface </a:t>
                      </a:r>
                      <a:r>
                        <a:rPr lang="en-US" sz="2000" b="1" dirty="0"/>
                        <a:t>of tibia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Femoral</a:t>
                      </a:r>
                      <a:r>
                        <a:rPr lang="en-US" sz="2000" b="1" dirty="0"/>
                        <a:t> nerve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Flexes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smtClean="0"/>
                        <a:t>, abduct and laterally  rotate</a:t>
                      </a:r>
                      <a:r>
                        <a:rPr lang="en-US" sz="2000" b="0" baseline="0" dirty="0" smtClean="0"/>
                        <a:t> </a:t>
                      </a:r>
                      <a:r>
                        <a:rPr lang="en-US" sz="2000" b="0" dirty="0" smtClean="0"/>
                        <a:t>the thigh and flexes the leg at the knee joint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</a:tr>
              <a:tr h="1086695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Psoas</a:t>
                      </a:r>
                      <a:r>
                        <a:rPr lang="en-US" sz="2000" b="1" dirty="0"/>
                        <a:t> major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2000" b="0" dirty="0" smtClean="0"/>
                        <a:t>Posterior abdominal wall 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Lesser trochanter </a:t>
                      </a:r>
                      <a:r>
                        <a:rPr lang="en-US" sz="2000" b="0" dirty="0"/>
                        <a:t>of femur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Anterior </a:t>
                      </a:r>
                      <a:r>
                        <a:rPr lang="en-US" sz="2000" b="1" dirty="0" smtClean="0"/>
                        <a:t>rami of L2-L4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Flexes</a:t>
                      </a:r>
                      <a:r>
                        <a:rPr lang="en-US" sz="2000" b="1" dirty="0"/>
                        <a:t> the thigh at the hip joint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  <a:tr h="128404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Iliacus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2000" b="0" dirty="0"/>
                        <a:t>Posterior abdominal wall (iliac fossa)</a:t>
                      </a:r>
                      <a:endParaRPr lang="it-IT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Lesser trochanter </a:t>
                      </a:r>
                      <a:r>
                        <a:rPr lang="en-US" sz="2000" b="0" dirty="0"/>
                        <a:t>of femur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Femoral</a:t>
                      </a:r>
                      <a:r>
                        <a:rPr lang="en-US" sz="2000" b="1" dirty="0"/>
                        <a:t> nerve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Flexes</a:t>
                      </a:r>
                      <a:r>
                        <a:rPr lang="en-US" sz="2000" b="0" dirty="0"/>
                        <a:t> the thigh at the hip joint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</a:tr>
              <a:tr h="1118974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 smtClean="0"/>
                        <a:t>Pectineus</a:t>
                      </a:r>
                      <a:r>
                        <a:rPr lang="en-US" sz="2000" b="1" dirty="0" smtClean="0"/>
                        <a:t>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Superior ramus of pubis</a:t>
                      </a:r>
                      <a:endParaRPr lang="it-IT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Pectineal</a:t>
                      </a:r>
                      <a:r>
                        <a:rPr lang="en-US" sz="2000" dirty="0" smtClean="0"/>
                        <a:t> line of femur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rgbClr val="0000FF"/>
                          </a:solidFill>
                        </a:rPr>
                        <a:t>Femoral</a:t>
                      </a:r>
                      <a:r>
                        <a:rPr lang="en-US" sz="2000" dirty="0" smtClean="0"/>
                        <a:t> nerve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Adducts and </a:t>
                      </a:r>
                      <a:r>
                        <a:rPr lang="en-US" sz="2000" b="1" dirty="0" smtClean="0">
                          <a:solidFill>
                            <a:srgbClr val="0000FF"/>
                          </a:solidFill>
                        </a:rPr>
                        <a:t>flexes</a:t>
                      </a:r>
                      <a:r>
                        <a:rPr lang="en-US" sz="2000" dirty="0" smtClean="0"/>
                        <a:t> thigh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33400" y="0"/>
            <a:ext cx="8305800" cy="523220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 smtClean="0"/>
              <a:t>Muscles  in the anterior compartment of the thigh</a:t>
            </a:r>
            <a:endParaRPr lang="en-US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534400" cy="7921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THE MEDIAL COMPARTMENT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6F5C-6D55-403D-BD6E-9FCEBE208D1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038600" cy="53340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Consists of:</a:t>
            </a:r>
            <a:endParaRPr lang="en-US" b="1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Adductor longus</a:t>
            </a:r>
            <a:r>
              <a:rPr lang="en-US" dirty="0" smtClean="0"/>
              <a:t>: the most anterior muscle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Adductor brevis</a:t>
            </a:r>
            <a:r>
              <a:rPr lang="en-US" dirty="0" smtClean="0"/>
              <a:t>: deep to the pectineus and adductor longus muscles.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Adductor </a:t>
            </a:r>
            <a:r>
              <a:rPr lang="en-US" dirty="0" err="1" smtClean="0">
                <a:solidFill>
                  <a:srgbClr val="FF0000"/>
                </a:solidFill>
              </a:rPr>
              <a:t>magnus</a:t>
            </a:r>
            <a:r>
              <a:rPr lang="en-US" dirty="0" smtClean="0"/>
              <a:t>: the largest,  composed of adductor and hamstring  parts;.</a:t>
            </a:r>
            <a:endParaRPr lang="en-US" dirty="0" smtClean="0"/>
          </a:p>
          <a:p>
            <a:r>
              <a:rPr lang="en-US" dirty="0" err="1" smtClean="0">
                <a:solidFill>
                  <a:srgbClr val="FF0000"/>
                </a:solidFill>
              </a:rPr>
              <a:t>Gracilis</a:t>
            </a:r>
            <a:r>
              <a:rPr lang="en-US" dirty="0" smtClean="0"/>
              <a:t>: a long, strap-like muscle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Obturator </a:t>
            </a:r>
            <a:r>
              <a:rPr lang="en-US" dirty="0" err="1" smtClean="0">
                <a:solidFill>
                  <a:srgbClr val="FF0000"/>
                </a:solidFill>
              </a:rPr>
              <a:t>externus</a:t>
            </a:r>
            <a:r>
              <a:rPr lang="en-US" dirty="0" smtClean="0"/>
              <a:t>: a deeply placed fan-shaped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675312" y="1971675"/>
            <a:ext cx="226695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58617" y="0"/>
            <a:ext cx="6102627" cy="6683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9331-2D4D-4BCF-995F-890DC312AABB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216D-FF01-4C3A-9B06-852BCA65BE6F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228600" y="152400"/>
          <a:ext cx="8686800" cy="640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662152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innervation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114773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/>
                        <a:t>Gracilis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 </a:t>
                      </a:r>
                      <a:r>
                        <a:rPr lang="en-US" sz="1400" b="1" dirty="0"/>
                        <a:t>the body </a:t>
                      </a:r>
                      <a:r>
                        <a:rPr lang="en-US" sz="1400" b="1" dirty="0" smtClean="0"/>
                        <a:t>and  </a:t>
                      </a:r>
                      <a:r>
                        <a:rPr lang="en-US" sz="1400" b="1" dirty="0"/>
                        <a:t>inferior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pubic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ramus</a:t>
                      </a:r>
                      <a:r>
                        <a:rPr lang="en-US" sz="1400" b="1" dirty="0"/>
                        <a:t>, 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Medial surface of proximal shaft of the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tibia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Obturator</a:t>
                      </a:r>
                      <a:r>
                        <a:rPr lang="en-US" sz="1400" b="1" dirty="0"/>
                        <a:t> nerve 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Adducts</a:t>
                      </a:r>
                      <a:r>
                        <a:rPr lang="en-US" sz="1400" b="1" dirty="0"/>
                        <a:t> thigh at hip joint </a:t>
                      </a:r>
                      <a:r>
                        <a:rPr lang="en-US" sz="1400" b="1" dirty="0" smtClean="0"/>
                        <a:t>and</a:t>
                      </a:r>
                      <a:endParaRPr lang="en-US" sz="1400" b="1" dirty="0" smtClean="0"/>
                    </a:p>
                    <a:p>
                      <a:pPr algn="l"/>
                      <a:r>
                        <a:rPr lang="en-US" sz="1400" b="1" dirty="0" smtClean="0"/>
                        <a:t> </a:t>
                      </a:r>
                      <a:r>
                        <a:rPr lang="en-US" sz="1400" b="1" dirty="0"/>
                        <a:t>flexes leg at knee joint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</a:tr>
              <a:tr h="114773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Adductor </a:t>
                      </a:r>
                      <a:r>
                        <a:rPr lang="en-US" sz="1400" b="1" dirty="0" err="1"/>
                        <a:t>magnus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Adductor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part-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</a:rPr>
                        <a:t>ischiopubic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ramus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Posterior surface of proximal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femur</a:t>
                      </a:r>
                      <a:r>
                        <a:rPr lang="en-US" sz="1400" b="1" dirty="0"/>
                        <a:t>, linea aspera, medial supracondylar line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Obturator</a:t>
                      </a:r>
                      <a:r>
                        <a:rPr lang="en-US" sz="1400" b="1" dirty="0"/>
                        <a:t> nerve 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Adducts</a:t>
                      </a:r>
                      <a:r>
                        <a:rPr lang="en-US" sz="1400" b="1" dirty="0"/>
                        <a:t> and medially rotates thigh at hip joint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</a:tr>
              <a:tr h="114773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Adductor longus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External surface of body of </a:t>
                      </a:r>
                      <a:r>
                        <a:rPr lang="en-US" sz="1400" b="1" dirty="0" smtClean="0">
                          <a:solidFill>
                            <a:srgbClr val="0000FF"/>
                          </a:solidFill>
                        </a:rPr>
                        <a:t>pubis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Linea aspera on middle one-third of shaft of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femur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Obturator</a:t>
                      </a:r>
                      <a:r>
                        <a:rPr lang="en-US" sz="1400" b="1" dirty="0"/>
                        <a:t> nerve (anterior division) 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Adducts</a:t>
                      </a:r>
                      <a:r>
                        <a:rPr lang="en-US" sz="1400" b="1" dirty="0"/>
                        <a:t> and medially rotates thigh at hip joint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</a:tr>
              <a:tr h="114773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Adductor brevis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 </a:t>
                      </a:r>
                      <a:r>
                        <a:rPr lang="en-US" sz="1400" b="1" dirty="0"/>
                        <a:t>body </a:t>
                      </a:r>
                      <a:r>
                        <a:rPr lang="en-US" sz="1400" b="1" dirty="0" smtClean="0"/>
                        <a:t> </a:t>
                      </a:r>
                      <a:r>
                        <a:rPr lang="en-US" sz="1400" b="1" dirty="0"/>
                        <a:t>and inferior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pubic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ramus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 smtClean="0"/>
                        <a:t>Pectineal</a:t>
                      </a:r>
                      <a:r>
                        <a:rPr lang="en-US" sz="1400" b="1" dirty="0" smtClean="0"/>
                        <a:t> line proximal part of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linea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aspera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Obturator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smtClean="0"/>
                        <a:t>nerve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Adducts</a:t>
                      </a:r>
                      <a:r>
                        <a:rPr lang="en-US" sz="1400" b="1" dirty="0"/>
                        <a:t> thigh at hip joint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</a:tr>
              <a:tr h="114773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Obturator </a:t>
                      </a:r>
                      <a:r>
                        <a:rPr lang="en-US" sz="1400" b="1" dirty="0" err="1"/>
                        <a:t>externus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External surface of obturator membrane and adjacent bone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/>
                        <a:t>Trochanteric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fossa</a:t>
                      </a:r>
                      <a:endParaRPr lang="en-US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 dirty="0">
                          <a:solidFill>
                            <a:srgbClr val="0000FF"/>
                          </a:solidFill>
                        </a:rPr>
                        <a:t>Obturator</a:t>
                      </a:r>
                      <a:r>
                        <a:rPr lang="it-IT" sz="1400" b="1" dirty="0"/>
                        <a:t> nerve (posterior division</a:t>
                      </a:r>
                      <a:r>
                        <a:rPr lang="it-IT" sz="1400" b="1" dirty="0" smtClean="0"/>
                        <a:t>)</a:t>
                      </a:r>
                      <a:endParaRPr lang="it-IT" sz="14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solidFill>
                            <a:srgbClr val="0000FF"/>
                          </a:solidFill>
                        </a:rPr>
                        <a:t>Laterally rotates thigh, steadies</a:t>
                      </a:r>
                      <a:r>
                        <a:rPr lang="en-US" sz="1400" b="1" baseline="0" dirty="0" smtClean="0">
                          <a:solidFill>
                            <a:srgbClr val="0000FF"/>
                          </a:solidFill>
                        </a:rPr>
                        <a:t> head of femur in acetabulum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610600" cy="7921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dirty="0" smtClean="0"/>
              <a:t>    </a:t>
            </a:r>
            <a:r>
              <a:rPr lang="en-US" sz="3600" b="1" dirty="0" smtClean="0">
                <a:solidFill>
                  <a:schemeClr val="tx1"/>
                </a:solidFill>
              </a:rPr>
              <a:t>THE POSTERIOR COMPARTMENT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79FE0-8A55-4690-8070-A196149101A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953000" cy="54102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FF0000"/>
                </a:solidFill>
              </a:rPr>
              <a:t>  Three </a:t>
            </a:r>
            <a:r>
              <a:rPr lang="en-US" dirty="0" smtClean="0"/>
              <a:t>muscles in the posterior aspect of the thigh are </a:t>
            </a:r>
            <a:r>
              <a:rPr lang="en-US" b="1" dirty="0" smtClean="0">
                <a:solidFill>
                  <a:srgbClr val="FF0000"/>
                </a:solidFill>
              </a:rPr>
              <a:t>hamstrings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Semitendinosus</a:t>
            </a:r>
            <a:endParaRPr lang="en-US" dirty="0" smtClean="0"/>
          </a:p>
          <a:p>
            <a:r>
              <a:rPr lang="en-US" dirty="0" smtClean="0"/>
              <a:t>Semimembranosus</a:t>
            </a:r>
            <a:endParaRPr lang="en-US" dirty="0" smtClean="0"/>
          </a:p>
          <a:p>
            <a:r>
              <a:rPr lang="en-US" dirty="0" smtClean="0"/>
              <a:t> Biceps femoris (long head) </a:t>
            </a:r>
            <a:endParaRPr lang="en-US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0000FF"/>
                </a:solidFill>
              </a:rPr>
              <a:t>Arise from the ischial tuberosity </a:t>
            </a:r>
            <a:endParaRPr lang="en-US" dirty="0" smtClean="0">
              <a:solidFill>
                <a:srgbClr val="0000FF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 Are innervated by the tibial division of the </a:t>
            </a:r>
            <a:r>
              <a:rPr lang="en-US" b="1" dirty="0" smtClean="0">
                <a:solidFill>
                  <a:srgbClr val="0000FF"/>
                </a:solidFill>
              </a:rPr>
              <a:t>sciatic</a:t>
            </a:r>
            <a:r>
              <a:rPr lang="en-US" dirty="0" smtClean="0"/>
              <a:t> nerve.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929312" y="1987550"/>
            <a:ext cx="1758950" cy="34925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304800" y="838199"/>
          <a:ext cx="8229600" cy="583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653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innervation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1649924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Biceps femoris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Long </a:t>
                      </a:r>
                      <a:r>
                        <a:rPr lang="en-US" b="1" dirty="0" smtClean="0"/>
                        <a:t>head-Ischial </a:t>
                      </a:r>
                      <a:r>
                        <a:rPr lang="en-US" b="1" dirty="0"/>
                        <a:t>tuberosity; </a:t>
                      </a:r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short </a:t>
                      </a:r>
                      <a:r>
                        <a:rPr lang="en-US" b="1" dirty="0"/>
                        <a:t>head-lateral lip of linea aspera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Head of fibula</a:t>
                      </a:r>
                      <a:endParaRPr lang="en-US" b="1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Sciatic nerve 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 flex leg,  rotate</a:t>
                      </a:r>
                      <a:r>
                        <a:rPr lang="en-US" b="1" baseline="0" dirty="0" smtClean="0">
                          <a:solidFill>
                            <a:srgbClr val="0000FF"/>
                          </a:solidFill>
                        </a:rPr>
                        <a:t> it </a:t>
                      </a:r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laterally ; when knee is  flexed extends thigh</a:t>
                      </a:r>
                      <a:endParaRPr lang="en-US" b="1" dirty="0" smtClean="0"/>
                    </a:p>
                    <a:p>
                      <a:pPr algn="l"/>
                      <a:endParaRPr lang="en-US" b="1" dirty="0"/>
                    </a:p>
                  </a:txBody>
                  <a:tcPr marL="47625" marR="47625" marT="47625" marB="47625"/>
                </a:tc>
              </a:tr>
              <a:tr h="2169812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Semitendinosus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 </a:t>
                      </a:r>
                      <a:r>
                        <a:rPr lang="en-US" b="1" dirty="0"/>
                        <a:t>ischial tuberosity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Medial surface of proximal tibia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Sciatic nerve 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Extend thigh &amp; flex leg,  rotate</a:t>
                      </a:r>
                      <a:r>
                        <a:rPr lang="en-US" b="1" baseline="0" dirty="0" smtClean="0">
                          <a:solidFill>
                            <a:srgbClr val="0000FF"/>
                          </a:solidFill>
                        </a:rPr>
                        <a:t> it </a:t>
                      </a:r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medially; when thigh &amp;</a:t>
                      </a:r>
                      <a:r>
                        <a:rPr lang="en-US" b="1" baseline="0" dirty="0" smtClean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leg are flexed </a:t>
                      </a:r>
                      <a:r>
                        <a:rPr lang="en-US" b="1" dirty="0" smtClean="0"/>
                        <a:t> can extends trunk</a:t>
                      </a:r>
                      <a:endParaRPr lang="en-US" b="1" dirty="0" smtClean="0"/>
                    </a:p>
                    <a:p>
                      <a:pPr algn="l"/>
                      <a:endParaRPr lang="en-US" b="1" dirty="0"/>
                    </a:p>
                  </a:txBody>
                  <a:tcPr marL="47625" marR="47625" marT="47625" marB="47625"/>
                </a:tc>
              </a:tr>
              <a:tr h="1288729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Semimembranosus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 </a:t>
                      </a:r>
                      <a:r>
                        <a:rPr lang="en-US" b="1" dirty="0"/>
                        <a:t>ischial tuberosity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medial </a:t>
                      </a:r>
                      <a:r>
                        <a:rPr lang="en-US" b="1" dirty="0"/>
                        <a:t>and posterior surface of </a:t>
                      </a:r>
                      <a:r>
                        <a:rPr lang="en-US" b="1" dirty="0" err="1" smtClean="0"/>
                        <a:t>tibial</a:t>
                      </a:r>
                      <a:r>
                        <a:rPr lang="en-US" b="1" dirty="0" smtClean="0"/>
                        <a:t> </a:t>
                      </a:r>
                      <a:r>
                        <a:rPr lang="en-US" b="1" dirty="0"/>
                        <a:t>condyle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Sciatic nerve 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 vMerge="1"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228600"/>
            <a:ext cx="8534400" cy="523220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                                                    </a:t>
            </a:r>
            <a:r>
              <a:rPr lang="en-US" sz="2800" b="1" dirty="0" smtClean="0">
                <a:solidFill>
                  <a:srgbClr val="FF0000"/>
                </a:solidFill>
              </a:rPr>
              <a:t>Hamstring Muscles</a:t>
            </a:r>
            <a:endParaRPr 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04BB-CE05-4B4E-8579-27121B904AB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305800" cy="7921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           THE FEMORAL TRIANGLE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07A4-0596-4929-9653-762E6E4388E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4038600" cy="54864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dirty="0" smtClean="0">
                <a:solidFill>
                  <a:srgbClr val="00B050"/>
                </a:solidFill>
              </a:rPr>
              <a:t>Boundary</a:t>
            </a:r>
            <a:endParaRPr lang="en-US" sz="3000" b="1" dirty="0" smtClean="0">
              <a:solidFill>
                <a:srgbClr val="00B05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Medial</a:t>
            </a:r>
            <a:r>
              <a:rPr lang="en-US" dirty="0" smtClean="0"/>
              <a:t> - medial boarder of </a:t>
            </a:r>
            <a:r>
              <a:rPr lang="en-US" dirty="0" smtClean="0">
                <a:solidFill>
                  <a:srgbClr val="0000FF"/>
                </a:solidFill>
              </a:rPr>
              <a:t>adductor longus</a:t>
            </a:r>
            <a:endParaRPr lang="en-US" dirty="0" smtClean="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Lateral</a:t>
            </a:r>
            <a:r>
              <a:rPr lang="en-US" dirty="0" smtClean="0"/>
              <a:t> - medial boarder of </a:t>
            </a:r>
            <a:r>
              <a:rPr lang="en-US" dirty="0" err="1" smtClean="0">
                <a:solidFill>
                  <a:srgbClr val="0000FF"/>
                </a:solidFill>
              </a:rPr>
              <a:t>sartorius</a:t>
            </a:r>
            <a:endParaRPr lang="en-US" dirty="0" smtClean="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Superior</a:t>
            </a:r>
            <a:r>
              <a:rPr lang="en-US" dirty="0" smtClean="0"/>
              <a:t> - </a:t>
            </a:r>
            <a:r>
              <a:rPr lang="en-US" dirty="0" smtClean="0">
                <a:solidFill>
                  <a:srgbClr val="0000FF"/>
                </a:solidFill>
              </a:rPr>
              <a:t>inguinal ligament</a:t>
            </a:r>
            <a:endParaRPr lang="en-US" dirty="0" smtClean="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Floor</a:t>
            </a:r>
            <a:r>
              <a:rPr lang="en-US" dirty="0" smtClean="0"/>
              <a:t> - </a:t>
            </a:r>
            <a:r>
              <a:rPr lang="en-US" dirty="0" err="1" smtClean="0"/>
              <a:t>iliopsoas</a:t>
            </a:r>
            <a:r>
              <a:rPr lang="en-US" dirty="0" smtClean="0"/>
              <a:t> laterally and </a:t>
            </a:r>
            <a:r>
              <a:rPr lang="en-US" dirty="0" err="1" smtClean="0"/>
              <a:t>pectineus</a:t>
            </a:r>
            <a:r>
              <a:rPr lang="en-US" dirty="0" smtClean="0"/>
              <a:t> medially</a:t>
            </a: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Roof</a:t>
            </a:r>
            <a:r>
              <a:rPr lang="en-US" dirty="0" smtClean="0"/>
              <a:t> - </a:t>
            </a:r>
            <a:r>
              <a:rPr lang="it-IT" dirty="0" smtClean="0"/>
              <a:t>fascia lata, cribriform fascia, subcutaneous tissue, and skin</a:t>
            </a:r>
            <a:r>
              <a:rPr lang="en-US" i="1" dirty="0" smtClean="0"/>
              <a:t>   </a:t>
            </a:r>
            <a:endParaRPr lang="en-US" i="1" dirty="0" smtClean="0"/>
          </a:p>
          <a:p>
            <a:pPr lvl="1">
              <a:lnSpc>
                <a:spcPct val="80000"/>
              </a:lnSpc>
            </a:pPr>
            <a:endParaRPr lang="en-US" dirty="0" smtClean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926137" y="2416175"/>
            <a:ext cx="1765300" cy="26352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7F68-9E65-4DF8-B8AA-27FD86506F56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9692-F003-479A-9AE0-C60A6857600B}" type="slidenum">
              <a:rPr lang="en-US"/>
            </a:fld>
            <a:endParaRPr lang="en-US"/>
          </a:p>
        </p:txBody>
      </p:sp>
      <p:pic>
        <p:nvPicPr>
          <p:cNvPr id="41882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228600"/>
            <a:ext cx="9144000" cy="64214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05200" y="1283638"/>
            <a:ext cx="5322543" cy="5117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990600"/>
            <a:ext cx="3429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Contents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femoral sheath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femoral </a:t>
            </a:r>
            <a:r>
              <a:rPr lang="en-US" sz="2400" dirty="0" smtClean="0">
                <a:solidFill>
                  <a:srgbClr val="0000FF"/>
                </a:solidFill>
              </a:rPr>
              <a:t>artery</a:t>
            </a:r>
            <a:r>
              <a:rPr lang="en-US" sz="2400" dirty="0" smtClean="0"/>
              <a:t> and its branch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femoral </a:t>
            </a:r>
            <a:r>
              <a:rPr lang="en-US" sz="2400" b="1" dirty="0" smtClean="0">
                <a:solidFill>
                  <a:srgbClr val="0000FF"/>
                </a:solidFill>
              </a:rPr>
              <a:t>vein</a:t>
            </a:r>
            <a:r>
              <a:rPr lang="en-US" sz="2400" dirty="0" smtClean="0"/>
              <a:t> and its tributaries 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femoral </a:t>
            </a:r>
            <a:r>
              <a:rPr lang="en-US" sz="2400" b="1" dirty="0" smtClean="0">
                <a:solidFill>
                  <a:srgbClr val="0000FF"/>
                </a:solidFill>
              </a:rPr>
              <a:t>nerve</a:t>
            </a:r>
            <a:r>
              <a:rPr lang="en-US" sz="2400" dirty="0" smtClean="0"/>
              <a:t> and its branches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00FF"/>
                </a:solidFill>
              </a:rPr>
              <a:t>deep inguinal lymph nodes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000FF"/>
                </a:solidFill>
              </a:rPr>
              <a:t>profunda </a:t>
            </a:r>
            <a:r>
              <a:rPr lang="en-US" sz="2400" dirty="0" err="1" smtClean="0">
                <a:solidFill>
                  <a:srgbClr val="0000FF"/>
                </a:solidFill>
              </a:rPr>
              <a:t>femoris</a:t>
            </a:r>
            <a:r>
              <a:rPr lang="en-US" sz="2400" dirty="0" smtClean="0">
                <a:solidFill>
                  <a:srgbClr val="0000FF"/>
                </a:solidFill>
              </a:rPr>
              <a:t> artery </a:t>
            </a:r>
            <a:r>
              <a:rPr lang="en-US" sz="2400" dirty="0" smtClean="0"/>
              <a:t>and vein and their circumflex branches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A6AE-6DEC-4323-B756-11BCE9441F8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8686800" cy="64008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Femoral sheath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effectLst/>
              </a:rPr>
              <a:t>Derived </a:t>
            </a:r>
            <a:r>
              <a:rPr lang="en-US" sz="2400" dirty="0">
                <a:effectLst/>
              </a:rPr>
              <a:t>from the extraperitoneal intra-abdominal fascia</a:t>
            </a:r>
            <a:endParaRPr lang="en-US" sz="2400" dirty="0">
              <a:effectLst/>
            </a:endParaRPr>
          </a:p>
          <a:p>
            <a:pPr lvl="1"/>
            <a:r>
              <a:rPr lang="en-US" dirty="0">
                <a:effectLst/>
              </a:rPr>
              <a:t>its anterior wall arising from the transversalis fascia 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its posterior wall from the fascia covering the iliacus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 smtClean="0"/>
              <a:t>Contain:- </a:t>
            </a:r>
            <a:r>
              <a:rPr lang="en-US" dirty="0" smtClean="0">
                <a:solidFill>
                  <a:srgbClr val="0000FF"/>
                </a:solidFill>
              </a:rPr>
              <a:t>femoral </a:t>
            </a:r>
            <a:r>
              <a:rPr lang="en-US" dirty="0">
                <a:solidFill>
                  <a:srgbClr val="0000FF"/>
                </a:solidFill>
              </a:rPr>
              <a:t>artery </a:t>
            </a:r>
            <a:r>
              <a:rPr lang="en-US" dirty="0" smtClean="0">
                <a:solidFill>
                  <a:srgbClr val="0000FF"/>
                </a:solidFill>
              </a:rPr>
              <a:t>and vein, </a:t>
            </a:r>
            <a:r>
              <a:rPr lang="en-US" dirty="0">
                <a:solidFill>
                  <a:srgbClr val="0000FF"/>
                </a:solidFill>
              </a:rPr>
              <a:t>genital branch of </a:t>
            </a:r>
            <a:r>
              <a:rPr lang="en-US" dirty="0" err="1">
                <a:solidFill>
                  <a:srgbClr val="0000FF"/>
                </a:solidFill>
              </a:rPr>
              <a:t>genitofemoral</a:t>
            </a:r>
            <a:r>
              <a:rPr lang="en-US" dirty="0">
                <a:solidFill>
                  <a:srgbClr val="0000FF"/>
                </a:solidFill>
              </a:rPr>
              <a:t> nerve </a:t>
            </a:r>
            <a:r>
              <a:rPr lang="en-US" dirty="0" smtClean="0">
                <a:solidFill>
                  <a:srgbClr val="0000FF"/>
                </a:solidFill>
              </a:rPr>
              <a:t> and femoral canal </a:t>
            </a:r>
            <a:r>
              <a:rPr lang="en-US" dirty="0" smtClean="0"/>
              <a:t>(lymph </a:t>
            </a:r>
            <a:r>
              <a:rPr lang="en-US" dirty="0"/>
              <a:t>vessels and deep lymph </a:t>
            </a:r>
            <a:r>
              <a:rPr lang="en-US" dirty="0" smtClean="0"/>
              <a:t>nodes)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BE0F-65AF-4BF7-A9B7-E8CBB59C8CC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</p:spPr>
        <p:txBody>
          <a:bodyPr/>
          <a:lstStyle/>
          <a:p>
            <a:fld id="{946E2B9D-8760-4478-9FE8-69EEFBB27356}" type="slidenum">
              <a:rPr lang="en-US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90600" y="2743200"/>
            <a:ext cx="6934200" cy="41148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C2BF-1BA7-4067-81EA-3A805311DA22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784F-135E-424A-92FD-C9A54523A574}" type="slidenum">
              <a:rPr lang="en-US"/>
            </a:fld>
            <a:endParaRPr lang="en-US"/>
          </a:p>
        </p:txBody>
      </p:sp>
      <p:sp>
        <p:nvSpPr>
          <p:cNvPr id="300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610600" cy="6324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Femoral canal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 small, vertically placed gap on the m</a:t>
            </a:r>
            <a:r>
              <a:rPr lang="en-US" sz="2400" dirty="0" smtClean="0">
                <a:effectLst/>
              </a:rPr>
              <a:t>edial </a:t>
            </a:r>
            <a:r>
              <a:rPr lang="en-US" sz="2400" dirty="0">
                <a:effectLst/>
              </a:rPr>
              <a:t>part of the femoral sheath </a:t>
            </a:r>
            <a:endParaRPr lang="en-US" sz="2400" dirty="0">
              <a:effectLst/>
            </a:endParaRPr>
          </a:p>
          <a:p>
            <a:r>
              <a:rPr lang="en-US" sz="2400" dirty="0" smtClean="0">
                <a:effectLst/>
              </a:rPr>
              <a:t>about </a:t>
            </a:r>
            <a:r>
              <a:rPr lang="en-US" sz="2400" dirty="0">
                <a:effectLst/>
              </a:rPr>
              <a:t>0.5 inch in length, admits the tip of little finger</a:t>
            </a:r>
            <a:endParaRPr lang="en-US" sz="2400" dirty="0">
              <a:effectLst/>
            </a:endParaRPr>
          </a:p>
          <a:p>
            <a:r>
              <a:rPr lang="en-US" sz="2400" dirty="0">
                <a:solidFill>
                  <a:srgbClr val="0000FF"/>
                </a:solidFill>
                <a:effectLst/>
              </a:rPr>
              <a:t>larger in female </a:t>
            </a:r>
            <a:r>
              <a:rPr lang="en-US" sz="2400" dirty="0">
                <a:effectLst/>
              </a:rPr>
              <a:t>due to the greater width of the female pelvis </a:t>
            </a:r>
            <a:endParaRPr lang="en-US" sz="2400" dirty="0">
              <a:effectLst/>
            </a:endParaRPr>
          </a:p>
          <a:p>
            <a:pPr lvl="1"/>
            <a:r>
              <a:rPr lang="en-US" dirty="0" smtClean="0">
                <a:solidFill>
                  <a:srgbClr val="0000FF"/>
                </a:solidFill>
                <a:effectLst/>
              </a:rPr>
              <a:t>Site of femoral hernia </a:t>
            </a:r>
            <a:endParaRPr lang="en-US" dirty="0" smtClean="0">
              <a:solidFill>
                <a:srgbClr val="0000FF"/>
              </a:solidFill>
              <a:effectLst/>
            </a:endParaRPr>
          </a:p>
          <a:p>
            <a:pPr lvl="1"/>
            <a:r>
              <a:rPr lang="en-US" dirty="0" smtClean="0">
                <a:effectLst/>
              </a:rPr>
              <a:t>femoral </a:t>
            </a:r>
            <a:r>
              <a:rPr lang="en-US" dirty="0">
                <a:effectLst/>
              </a:rPr>
              <a:t>hernias are more common in </a:t>
            </a:r>
            <a:r>
              <a:rPr lang="en-US" dirty="0" smtClean="0">
                <a:effectLst/>
              </a:rPr>
              <a:t>female</a:t>
            </a:r>
            <a:endParaRPr lang="en-US" dirty="0" smtClean="0">
              <a:effectLst/>
            </a:endParaRPr>
          </a:p>
          <a:p>
            <a:pPr lvl="1"/>
            <a:r>
              <a:rPr lang="en-US" dirty="0" smtClean="0"/>
              <a:t>Help for expansion of the </a:t>
            </a:r>
            <a:r>
              <a:rPr lang="en-US" dirty="0" smtClean="0">
                <a:solidFill>
                  <a:srgbClr val="0000FF"/>
                </a:solidFill>
              </a:rPr>
              <a:t>distended femoral vein </a:t>
            </a:r>
            <a:endParaRPr lang="en-US" dirty="0" smtClean="0">
              <a:solidFill>
                <a:srgbClr val="0000FF"/>
              </a:solidFill>
            </a:endParaRPr>
          </a:p>
          <a:p>
            <a:pPr lvl="1"/>
            <a:r>
              <a:rPr lang="en-US" dirty="0" smtClean="0"/>
              <a:t>pathway for lymphatic vessel  from the lower limb to the external iliac nodes</a:t>
            </a:r>
            <a:endParaRPr lang="en-US" dirty="0" smtClean="0"/>
          </a:p>
          <a:p>
            <a:pPr lvl="1"/>
            <a:endParaRPr lang="en-US" dirty="0">
              <a:effectLst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71800" y="3733800"/>
            <a:ext cx="5791200" cy="3124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228600"/>
            <a:ext cx="84582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</a:t>
            </a:r>
            <a:r>
              <a:rPr lang="en-US" dirty="0" smtClean="0">
                <a:solidFill>
                  <a:srgbClr val="0000FF"/>
                </a:solidFill>
              </a:rPr>
              <a:t>The adductor canal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91A6E-9136-4E1D-8F32-1D3DA98ABDD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4572000" cy="55626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Also termed as (</a:t>
            </a:r>
            <a:r>
              <a:rPr lang="en-US" sz="2000" dirty="0" err="1" smtClean="0"/>
              <a:t>subsartorial</a:t>
            </a:r>
            <a:r>
              <a:rPr lang="en-US" sz="2000" dirty="0" smtClean="0"/>
              <a:t> canal, Hunter canal)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 Extends from the apex of the femoral triangle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FF0000"/>
                </a:solidFill>
              </a:rPr>
              <a:t>BOUNDARY 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anteriorly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FF0000"/>
                </a:solidFill>
              </a:rPr>
              <a:t>laterally</a:t>
            </a:r>
            <a:r>
              <a:rPr lang="en-US" sz="2400" dirty="0" smtClean="0"/>
              <a:t> by the </a:t>
            </a:r>
            <a:r>
              <a:rPr lang="en-US" sz="2400" dirty="0" err="1" smtClean="0"/>
              <a:t>vastus</a:t>
            </a:r>
            <a:r>
              <a:rPr lang="en-US" sz="2400" dirty="0" smtClean="0"/>
              <a:t> </a:t>
            </a:r>
            <a:r>
              <a:rPr lang="en-US" sz="2400" dirty="0" err="1" smtClean="0"/>
              <a:t>medialis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posteriorly</a:t>
            </a:r>
            <a:r>
              <a:rPr lang="en-US" sz="2400" dirty="0" smtClean="0"/>
              <a:t> by the adductor longus and adductor </a:t>
            </a:r>
            <a:r>
              <a:rPr lang="en-US" sz="2400" dirty="0" err="1" smtClean="0"/>
              <a:t>magnus</a:t>
            </a:r>
            <a:endParaRPr 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 medially </a:t>
            </a:r>
            <a:r>
              <a:rPr lang="en-US" sz="2400" dirty="0" smtClean="0"/>
              <a:t>by the </a:t>
            </a:r>
            <a:r>
              <a:rPr lang="en-US" sz="2400" dirty="0" err="1" smtClean="0"/>
              <a:t>sartorius</a:t>
            </a:r>
            <a:endParaRPr lang="en-US" sz="2400" dirty="0" smtClean="0"/>
          </a:p>
          <a:p>
            <a:endParaRPr lang="en-US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/>
              <a:t> Contents</a:t>
            </a:r>
            <a:endParaRPr lang="en-US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Femoral artery </a:t>
            </a:r>
            <a:r>
              <a:rPr lang="en-US" dirty="0" smtClean="0">
                <a:solidFill>
                  <a:srgbClr val="00B050"/>
                </a:solidFill>
              </a:rPr>
              <a:t>and </a:t>
            </a:r>
            <a:r>
              <a:rPr lang="en-US" dirty="0" smtClean="0">
                <a:solidFill>
                  <a:srgbClr val="FF0000"/>
                </a:solidFill>
              </a:rPr>
              <a:t>vein</a:t>
            </a:r>
            <a:r>
              <a:rPr lang="en-US" dirty="0" smtClean="0">
                <a:solidFill>
                  <a:srgbClr val="00B050"/>
                </a:solidFill>
              </a:rPr>
              <a:t>, the </a:t>
            </a:r>
            <a:r>
              <a:rPr lang="en-US" dirty="0" smtClean="0">
                <a:solidFill>
                  <a:srgbClr val="FF0000"/>
                </a:solidFill>
              </a:rPr>
              <a:t>saphenous nerve</a:t>
            </a:r>
            <a:r>
              <a:rPr lang="en-US" dirty="0" smtClean="0">
                <a:solidFill>
                  <a:srgbClr val="00B050"/>
                </a:solidFill>
              </a:rPr>
              <a:t>, and the </a:t>
            </a:r>
            <a:r>
              <a:rPr lang="en-US" dirty="0" smtClean="0">
                <a:solidFill>
                  <a:srgbClr val="FF0000"/>
                </a:solidFill>
              </a:rPr>
              <a:t>nerve to </a:t>
            </a:r>
            <a:r>
              <a:rPr lang="en-US" dirty="0" err="1" smtClean="0">
                <a:solidFill>
                  <a:srgbClr val="FF0000"/>
                </a:solidFill>
              </a:rPr>
              <a:t>vastus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medialis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957887" y="2416175"/>
            <a:ext cx="1701800" cy="263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89C1B-4B49-4569-A1EB-E39DEC5F4EC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AB5E-C3E3-43DD-BAF8-17DA4A221C80}" type="slidenum">
              <a:rPr lang="en-US"/>
            </a:fld>
            <a:endParaRPr lang="en-US"/>
          </a:p>
        </p:txBody>
      </p:sp>
      <p:pic>
        <p:nvPicPr>
          <p:cNvPr id="90931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14400" y="-17463"/>
            <a:ext cx="7391400" cy="6891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228600"/>
            <a:ext cx="89154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+mn-lt"/>
              </a:rPr>
              <a:t>          Neurovasculature in Anteromedial Thigh</a:t>
            </a:r>
            <a:endParaRPr lang="en-US" sz="32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EBD3-6B62-4E12-9DEF-1B8ADC0DDD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4191000" cy="54864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The femoral artery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 The chief aa to the lower limb</a:t>
            </a:r>
            <a:endParaRPr lang="en-US" sz="2400" dirty="0" smtClean="0"/>
          </a:p>
          <a:p>
            <a:r>
              <a:rPr lang="en-US" sz="2400" dirty="0" smtClean="0"/>
              <a:t>Branch of external iliac aa</a:t>
            </a:r>
            <a:endParaRPr lang="en-US" sz="2400" dirty="0" smtClean="0"/>
          </a:p>
          <a:p>
            <a:r>
              <a:rPr lang="en-US" dirty="0" smtClean="0"/>
              <a:t>Branches </a:t>
            </a:r>
            <a:endParaRPr lang="en-US" dirty="0" smtClean="0"/>
          </a:p>
          <a:p>
            <a:pPr lvl="2"/>
            <a:r>
              <a:rPr lang="en-US" dirty="0" smtClean="0"/>
              <a:t>Superficial &amp; deep external pudendal aa </a:t>
            </a:r>
            <a:endParaRPr lang="en-US" dirty="0" smtClean="0"/>
          </a:p>
          <a:p>
            <a:pPr lvl="3"/>
            <a:r>
              <a:rPr lang="en-US" dirty="0" smtClean="0"/>
              <a:t>supply scrotum and labium majus </a:t>
            </a:r>
            <a:endParaRPr lang="en-US" dirty="0" smtClean="0"/>
          </a:p>
          <a:p>
            <a:pPr lvl="2"/>
            <a:r>
              <a:rPr lang="en-US" dirty="0" smtClean="0"/>
              <a:t>Superficial epigastric artery </a:t>
            </a:r>
            <a:endParaRPr lang="en-US" dirty="0" smtClean="0"/>
          </a:p>
          <a:p>
            <a:pPr lvl="2"/>
            <a:r>
              <a:rPr lang="en-US" dirty="0" smtClean="0"/>
              <a:t>Superficial circumflex iliac artery</a:t>
            </a:r>
            <a:endParaRPr lang="en-US" dirty="0" smtClean="0"/>
          </a:p>
          <a:p>
            <a:pPr lvl="2"/>
            <a:r>
              <a:rPr lang="en-US" sz="2400" dirty="0" smtClean="0">
                <a:solidFill>
                  <a:srgbClr val="FF0000"/>
                </a:solidFill>
              </a:rPr>
              <a:t>Deep femoral </a:t>
            </a:r>
            <a:r>
              <a:rPr lang="en-US" sz="2400" dirty="0" smtClean="0"/>
              <a:t>(profunda </a:t>
            </a:r>
            <a:r>
              <a:rPr lang="en-US" sz="2400" dirty="0" err="1" smtClean="0"/>
              <a:t>femoris</a:t>
            </a:r>
            <a:r>
              <a:rPr lang="en-US" sz="2400" dirty="0" smtClean="0"/>
              <a:t>)</a:t>
            </a:r>
            <a:r>
              <a:rPr lang="en-US" sz="2400" i="1" dirty="0" smtClean="0"/>
              <a:t> </a:t>
            </a:r>
            <a:r>
              <a:rPr lang="en-US" sz="2400" dirty="0" smtClean="0"/>
              <a:t>artery :- Medial &amp; lateral circumflex femoral and perforating branch) </a:t>
            </a:r>
            <a:endParaRPr lang="en-US" sz="2400" dirty="0" smtClean="0"/>
          </a:p>
          <a:p>
            <a:pPr lvl="2"/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719762" y="2549525"/>
            <a:ext cx="2178050" cy="236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A4C8-F7FF-4659-993A-DF8CE3BC8E5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DE28-F4AF-4B8C-AD0C-F5818FDB7CFD}" type="slidenum">
              <a:rPr lang="en-US"/>
            </a:fld>
            <a:endParaRPr lang="en-US"/>
          </a:p>
        </p:txBody>
      </p:sp>
      <p:pic>
        <p:nvPicPr>
          <p:cNvPr id="62157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76400" y="0"/>
            <a:ext cx="56388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F022-D29B-44F1-96D9-7EB589AE45EF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67C1-5BFE-46D3-B56A-1F9AB55B62C8}" type="slidenum">
              <a:rPr lang="en-US"/>
            </a:fld>
            <a:endParaRPr lang="en-US"/>
          </a:p>
        </p:txBody>
      </p:sp>
      <p:sp>
        <p:nvSpPr>
          <p:cNvPr id="6236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304800"/>
            <a:ext cx="8610600" cy="6324600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       Femoral pulse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400" dirty="0" smtClean="0"/>
              <a:t>Palpable </a:t>
            </a:r>
            <a:r>
              <a:rPr lang="en-US" sz="2400" dirty="0"/>
              <a:t>just inferior to the midpoint of the inguinal ligament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 smtClean="0"/>
              <a:t>The </a:t>
            </a:r>
            <a:r>
              <a:rPr lang="en-US" sz="2400" dirty="0"/>
              <a:t>femoral artery may be compressed here to control arterial bleeding after lower limb trauma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The femoral artery may be </a:t>
            </a:r>
            <a:r>
              <a:rPr lang="en-US" sz="2400" dirty="0" err="1"/>
              <a:t>cannulated</a:t>
            </a:r>
            <a:r>
              <a:rPr lang="en-US" sz="2400" dirty="0"/>
              <a:t> just inferior to the midpoint of the inguinal ligament (e.g., for </a:t>
            </a:r>
            <a:r>
              <a:rPr lang="en-US" sz="2400" dirty="0" err="1"/>
              <a:t>cardioangiography</a:t>
            </a:r>
            <a:r>
              <a:rPr lang="en-US" sz="2400" dirty="0"/>
              <a:t>, radiography of the heart and great vessels after the introduction of contrast material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599" y="2743200"/>
            <a:ext cx="693571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13409-2D97-4DEE-8F2D-E3B9D504076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E2E6-A958-41D5-895C-E4B1DA727898}" type="slidenum">
              <a:rPr lang="en-US"/>
            </a:fld>
            <a:endParaRPr lang="en-US"/>
          </a:p>
        </p:txBody>
      </p:sp>
      <p:sp>
        <p:nvSpPr>
          <p:cNvPr id="4802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42672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Obturator artery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Arises </a:t>
            </a:r>
            <a:r>
              <a:rPr lang="en-US" sz="2400" dirty="0"/>
              <a:t>from </a:t>
            </a:r>
            <a:r>
              <a:rPr lang="en-US" sz="2400" dirty="0">
                <a:solidFill>
                  <a:srgbClr val="0000FF"/>
                </a:solidFill>
              </a:rPr>
              <a:t>internal iliac artery</a:t>
            </a:r>
            <a:endParaRPr lang="en-US" sz="2400" dirty="0">
              <a:solidFill>
                <a:srgbClr val="0000FF"/>
              </a:solidFill>
            </a:endParaRPr>
          </a:p>
          <a:p>
            <a:r>
              <a:rPr lang="en-US" sz="2400" dirty="0"/>
              <a:t>Passes through </a:t>
            </a:r>
            <a:r>
              <a:rPr lang="en-US" sz="2400" dirty="0" err="1"/>
              <a:t>obturator</a:t>
            </a:r>
            <a:r>
              <a:rPr lang="en-US" sz="2400" dirty="0"/>
              <a:t> foramen</a:t>
            </a:r>
            <a:endParaRPr lang="en-US" sz="2400" dirty="0"/>
          </a:p>
          <a:p>
            <a:r>
              <a:rPr lang="en-US" sz="2400" dirty="0"/>
              <a:t>Enters medial compartment of the thigh</a:t>
            </a:r>
            <a:endParaRPr lang="en-US" sz="2400" dirty="0"/>
          </a:p>
          <a:p>
            <a:r>
              <a:rPr lang="en-US" sz="2400" dirty="0"/>
              <a:t>Divides into anterior and posterior branches</a:t>
            </a:r>
            <a:endParaRPr lang="en-US" sz="2400" dirty="0"/>
          </a:p>
          <a:p>
            <a:r>
              <a:rPr lang="en-US" sz="2400" dirty="0"/>
              <a:t>Supplies </a:t>
            </a:r>
            <a:r>
              <a:rPr lang="en-US" sz="2400" dirty="0" err="1">
                <a:solidFill>
                  <a:srgbClr val="0000FF"/>
                </a:solidFill>
              </a:rPr>
              <a:t>obturator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externus</a:t>
            </a:r>
            <a:r>
              <a:rPr lang="en-US" sz="2400" dirty="0">
                <a:solidFill>
                  <a:srgbClr val="0000FF"/>
                </a:solidFill>
              </a:rPr>
              <a:t> and adductors of thigh </a:t>
            </a:r>
            <a:endParaRPr lang="en-US" sz="2400" dirty="0">
              <a:solidFill>
                <a:srgbClr val="0000FF"/>
              </a:solidFill>
            </a:endParaRPr>
          </a:p>
          <a:p>
            <a:r>
              <a:rPr lang="en-US" sz="2400" dirty="0"/>
              <a:t>Posterior branch gives of </a:t>
            </a:r>
            <a:r>
              <a:rPr lang="en-US" sz="2400" dirty="0" err="1"/>
              <a:t>acetabular</a:t>
            </a:r>
            <a:r>
              <a:rPr lang="en-US" sz="2400" dirty="0"/>
              <a:t> branch to head of femur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94991" y="1447800"/>
            <a:ext cx="4749009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39A4-AB1C-47F8-9F37-F9FEA2E1F256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2400"/>
            <a:ext cx="8534400" cy="26670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400" b="1" dirty="0" smtClean="0">
                <a:solidFill>
                  <a:srgbClr val="0000FF"/>
                </a:solidFill>
              </a:rPr>
              <a:t>The femoral vein</a:t>
            </a:r>
            <a:endParaRPr lang="en-US" sz="3400" b="1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Is the continuation of the popliteal vein at adductor hiatus</a:t>
            </a:r>
            <a:endParaRPr lang="en-US" sz="2800" dirty="0" smtClean="0"/>
          </a:p>
          <a:p>
            <a:r>
              <a:rPr lang="en-US" sz="2800" dirty="0" smtClean="0"/>
              <a:t>Tributaries </a:t>
            </a:r>
            <a:endParaRPr lang="en-US" sz="2800" dirty="0" smtClean="0"/>
          </a:p>
          <a:p>
            <a:pPr marL="990600" lvl="1" indent="-533400"/>
            <a:r>
              <a:rPr lang="en-US" sz="3200" dirty="0" smtClean="0"/>
              <a:t>Descending </a:t>
            </a:r>
            <a:r>
              <a:rPr lang="en-US" sz="3200" dirty="0" err="1" smtClean="0"/>
              <a:t>genicular</a:t>
            </a:r>
            <a:r>
              <a:rPr lang="en-US" sz="3200" dirty="0" smtClean="0"/>
              <a:t> </a:t>
            </a:r>
            <a:endParaRPr lang="en-US" sz="3200" dirty="0" smtClean="0"/>
          </a:p>
          <a:p>
            <a:pPr marL="990600" lvl="1" indent="-533400"/>
            <a:r>
              <a:rPr lang="en-US" sz="3200" dirty="0" smtClean="0"/>
              <a:t>Profunda </a:t>
            </a:r>
            <a:r>
              <a:rPr lang="en-US" sz="3200" dirty="0" err="1" smtClean="0"/>
              <a:t>femoris</a:t>
            </a:r>
            <a:r>
              <a:rPr lang="en-US" sz="3200" dirty="0" smtClean="0"/>
              <a:t> </a:t>
            </a:r>
            <a:endParaRPr lang="en-US" sz="3200" dirty="0" smtClean="0"/>
          </a:p>
          <a:p>
            <a:pPr marL="990600" lvl="1" indent="-533400"/>
            <a:r>
              <a:rPr lang="en-US" sz="3200" dirty="0" smtClean="0"/>
              <a:t>circumflex femoral</a:t>
            </a:r>
            <a:endParaRPr lang="en-US" sz="3200" dirty="0" smtClean="0"/>
          </a:p>
          <a:p>
            <a:pPr marL="990600" lvl="1" indent="-533400"/>
            <a:r>
              <a:rPr lang="en-US" sz="3200" dirty="0" smtClean="0"/>
              <a:t>Deep external pudendal </a:t>
            </a:r>
            <a:endParaRPr lang="en-US" sz="3200" dirty="0" smtClean="0"/>
          </a:p>
          <a:p>
            <a:pPr marL="990600" lvl="1" indent="-533400"/>
            <a:r>
              <a:rPr lang="en-US" sz="3200" dirty="0" smtClean="0"/>
              <a:t>Great saphenous</a:t>
            </a:r>
            <a:endParaRPr lang="en-US" sz="3200" dirty="0" smtClean="0"/>
          </a:p>
          <a:p>
            <a:pPr marL="716280" indent="-533400">
              <a:buNone/>
            </a:pPr>
            <a:r>
              <a:rPr lang="en-US" sz="3600" dirty="0" smtClean="0"/>
              <a:t>Ends at external iliac vein </a:t>
            </a:r>
            <a:endParaRPr lang="en-US" sz="36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081587" y="2619375"/>
            <a:ext cx="3454400" cy="22288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17833</Words>
  <Application>WPS Presentation</Application>
  <PresentationFormat>On-screen Show (4:3)</PresentationFormat>
  <Paragraphs>1012</Paragraphs>
  <Slides>69</Slides>
  <Notes>94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0" baseType="lpstr">
      <vt:lpstr>Arial</vt:lpstr>
      <vt:lpstr>SimSun</vt:lpstr>
      <vt:lpstr>Wingdings</vt:lpstr>
      <vt:lpstr>Wingdings 2</vt:lpstr>
      <vt:lpstr>Calibri</vt:lpstr>
      <vt:lpstr>Times New Roman</vt:lpstr>
      <vt:lpstr>Microsoft YaHei</vt:lpstr>
      <vt:lpstr>Arial Unicode MS</vt:lpstr>
      <vt:lpstr>Symbol</vt:lpstr>
      <vt:lpstr>Courier New</vt:lpstr>
      <vt:lpstr>Equity</vt:lpstr>
      <vt:lpstr>                        Pelvic Girdle </vt:lpstr>
      <vt:lpstr>PowerPoint 演示文稿</vt:lpstr>
      <vt:lpstr>                   BONES OF THE LOWER LIMB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FEMUR</vt:lpstr>
      <vt:lpstr>PowerPoint 演示文稿</vt:lpstr>
      <vt:lpstr>PowerPoint 演示文稿</vt:lpstr>
      <vt:lpstr>PowerPoint 演示文稿</vt:lpstr>
      <vt:lpstr>             Tibia </vt:lpstr>
      <vt:lpstr>PowerPoint 演示文稿</vt:lpstr>
      <vt:lpstr>Fibula </vt:lpstr>
      <vt:lpstr> Tarsus, Metatarsus,&amp; Phalanges</vt:lpstr>
      <vt:lpstr>PowerPoint 演示文稿</vt:lpstr>
      <vt:lpstr>PowerPoint 演示文稿</vt:lpstr>
      <vt:lpstr>        Superficial structure of Lower Limb</vt:lpstr>
      <vt:lpstr>        Superficial structure of Lower Limb</vt:lpstr>
      <vt:lpstr>PowerPoint 演示文稿</vt:lpstr>
      <vt:lpstr>PowerPoint 演示文稿</vt:lpstr>
      <vt:lpstr>           Venous Drainage of Lower Limb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Lymphatic drainage of lower limb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THE THIGH</vt:lpstr>
      <vt:lpstr>PowerPoint 演示文稿</vt:lpstr>
      <vt:lpstr>          ANTERIOR COMPARTMENT OF THIGH</vt:lpstr>
      <vt:lpstr>PowerPoint 演示文稿</vt:lpstr>
      <vt:lpstr>             Quadriceps femoris</vt:lpstr>
      <vt:lpstr>PowerPoint 演示文稿</vt:lpstr>
      <vt:lpstr>THE MEDIAL COMPARTMENT</vt:lpstr>
      <vt:lpstr>PowerPoint 演示文稿</vt:lpstr>
      <vt:lpstr>PowerPoint 演示文稿</vt:lpstr>
      <vt:lpstr>    THE POSTERIOR COMPARTMENT</vt:lpstr>
      <vt:lpstr>PowerPoint 演示文稿</vt:lpstr>
      <vt:lpstr>           THE FEMORAL TRIANGLE</vt:lpstr>
      <vt:lpstr>PowerPoint 演示文稿</vt:lpstr>
      <vt:lpstr>PowerPoint 演示文稿</vt:lpstr>
      <vt:lpstr>PowerPoint 演示文稿</vt:lpstr>
      <vt:lpstr>PowerPoint 演示文稿</vt:lpstr>
      <vt:lpstr>           The adductor canal</vt:lpstr>
      <vt:lpstr>PowerPoint 演示文稿</vt:lpstr>
      <vt:lpstr>          Neurovasculature in Anteromedial Thigh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daved</cp:lastModifiedBy>
  <cp:revision>53</cp:revision>
  <dcterms:created xsi:type="dcterms:W3CDTF">2025-10-01T03:43:00Z</dcterms:created>
  <dcterms:modified xsi:type="dcterms:W3CDTF">2026-10-01T23:30:38Z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7D1D1F9BF12E4032AA5BFA77B4681A61_12</vt:lpwstr>
  </property>
  <property fmtid="{D5CDD505-2E9C-101B-9397-08002B2CF9AE}" pid="3" name="KSOProductBuildVer">
    <vt:lpwstr>1033-12.1.0.28485</vt:lpwstr>
  </property>
</Properties>
</file>