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417" r:id="rId3"/>
    <p:sldId id="418" r:id="rId4"/>
    <p:sldId id="419" r:id="rId5"/>
    <p:sldId id="420" r:id="rId6"/>
    <p:sldId id="421" r:id="rId7"/>
    <p:sldId id="422" r:id="rId8"/>
    <p:sldId id="423" r:id="rId9"/>
    <p:sldId id="424" r:id="rId10"/>
    <p:sldId id="425" r:id="rId11"/>
    <p:sldId id="426" r:id="rId12"/>
    <p:sldId id="428" r:id="rId13"/>
    <p:sldId id="429" r:id="rId14"/>
    <p:sldId id="430" r:id="rId15"/>
    <p:sldId id="431" r:id="rId16"/>
    <p:sldId id="432" r:id="rId17"/>
    <p:sldId id="433" r:id="rId18"/>
    <p:sldId id="434" r:id="rId19"/>
    <p:sldId id="435" r:id="rId20"/>
    <p:sldId id="436" r:id="rId21"/>
    <p:sldId id="437" r:id="rId22"/>
    <p:sldId id="438" r:id="rId23"/>
    <p:sldId id="439" r:id="rId24"/>
    <p:sldId id="440" r:id="rId25"/>
    <p:sldId id="441" r:id="rId26"/>
    <p:sldId id="442" r:id="rId27"/>
    <p:sldId id="443" r:id="rId28"/>
    <p:sldId id="444" r:id="rId29"/>
    <p:sldId id="445" r:id="rId30"/>
    <p:sldId id="446" r:id="rId31"/>
    <p:sldId id="447" r:id="rId32"/>
    <p:sldId id="448" r:id="rId33"/>
    <p:sldId id="449" r:id="rId34"/>
    <p:sldId id="450" r:id="rId36"/>
    <p:sldId id="451" r:id="rId37"/>
    <p:sldId id="452" r:id="rId38"/>
    <p:sldId id="453" r:id="rId39"/>
    <p:sldId id="454" r:id="rId40"/>
    <p:sldId id="455" r:id="rId41"/>
    <p:sldId id="456" r:id="rId42"/>
    <p:sldId id="457" r:id="rId43"/>
    <p:sldId id="458" r:id="rId44"/>
    <p:sldId id="459" r:id="rId45"/>
    <p:sldId id="460" r:id="rId46"/>
    <p:sldId id="461" r:id="rId47"/>
    <p:sldId id="462" r:id="rId48"/>
    <p:sldId id="464" r:id="rId49"/>
    <p:sldId id="465" r:id="rId50"/>
    <p:sldId id="466" r:id="rId51"/>
    <p:sldId id="467" r:id="rId52"/>
    <p:sldId id="468" r:id="rId53"/>
    <p:sldId id="469" r:id="rId54"/>
    <p:sldId id="470" r:id="rId55"/>
    <p:sldId id="471" r:id="rId56"/>
    <p:sldId id="472" r:id="rId57"/>
    <p:sldId id="473" r:id="rId58"/>
    <p:sldId id="474" r:id="rId59"/>
    <p:sldId id="475" r:id="rId60"/>
    <p:sldId id="476" r:id="rId61"/>
    <p:sldId id="477" r:id="rId62"/>
    <p:sldId id="478" r:id="rId63"/>
    <p:sldId id="479" r:id="rId64"/>
    <p:sldId id="480" r:id="rId6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862D-8B54-4CDD-8F85-E7AD9CD9322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F300F-BBDA-4407-AF8A-C7FA6ABBCE8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A79F4-6704-450A-AD32-4D29671138E9}" type="slidenum">
              <a:rPr 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4C11-C584-4F7E-B6BF-F773E27A3577}" type="datetime1">
              <a:rPr lang="en-US" smtClean="0"/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FABE656-228C-406A-9A57-1E237FF79507}" type="slidenum">
              <a:rPr lang="en-US" smtClean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D2B08-2F63-41F8-A383-29486B532222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B01A-E40F-41B6-A05B-AE2D1C4DEECC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ACA23-3469-43D1-A552-179F4BEC6B6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B66BE-CE19-4735-90F2-231AC62970BD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1C05-A31B-4359-8FAE-3CB8B5CFDAF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B3FAE-45AF-439C-A762-EC6468E0908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5D080-A202-46A6-BCC7-3C49A4836C84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3E182-3362-4A56-A8EC-155D9CF3D658}" type="datetime1">
              <a:rPr lang="en-US" smtClean="0">
                <a:solidFill>
                  <a:srgbClr val="F4E7ED"/>
                </a:solidFill>
              </a:rPr>
            </a:fld>
            <a:endParaRPr lang="en-US" dirty="0">
              <a:solidFill>
                <a:srgbClr val="F4E7ED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 smtClean="0">
                <a:solidFill>
                  <a:srgbClr val="F4E7ED"/>
                </a:solidFill>
              </a:rPr>
              <a:t>By: Rebuma S(MSc, MPHE)</a:t>
            </a:r>
            <a:endParaRPr lang="en-US" dirty="0">
              <a:solidFill>
                <a:srgbClr val="F4E7E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ABE656-228C-406A-9A57-1E237FF79507}" type="slidenum">
              <a:rPr lang="en-US" smtClean="0">
                <a:solidFill>
                  <a:srgbClr val="F4E7ED"/>
                </a:solidFill>
              </a:rPr>
            </a:fld>
            <a:endParaRPr lang="en-US" dirty="0">
              <a:solidFill>
                <a:srgbClr val="F4E7ED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2A81-38DA-4869-99E7-93B9EF4336C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2914-A835-49B3-B46C-8AF56C7D74AD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FB9E90-4952-4089-8DAF-AC643F5A865A}" type="datetime1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696464"/>
                </a:solidFill>
              </a:rPr>
              <a:t>By: Rebuma S(MSc, MPHE)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2F5B8F-EA73-40E0-A31A-5073FE3D67FE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740CBA6-71A9-4133-9A2A-719A02FDF8B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69D8412-A232-4D6F-BEE2-F8F1A41323B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0887C-0AD0-4570-984E-713F7989786D}" type="datetime1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696464"/>
                </a:solidFill>
              </a:rPr>
              <a:t>By: Rebuma S(MSc, MPHE)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B85E59-99A9-49A2-B699-54E56DB16675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71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24300"/>
            <a:ext cx="8229600" cy="2171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168A5B9-7AF8-4CD4-82E5-647AB487994D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8959A138-7F5E-44B8-877C-D89754D9637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A59C65B-B0B8-4F08-B9D0-2B8B50D824DE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9F273128-4E4D-489D-882C-97F09F42428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w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w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w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w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2648219" y="2067133"/>
            <a:ext cx="4304762" cy="3333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04800" y="228600"/>
            <a:ext cx="838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</a:t>
            </a:r>
            <a:endParaRPr lang="en-US" sz="2400" b="1" dirty="0" smtClean="0">
              <a:solidFill>
                <a:prstClr val="black"/>
              </a:solidFill>
            </a:endParaRPr>
          </a:p>
          <a:p>
            <a:r>
              <a:rPr lang="en-US" sz="2400" dirty="0" smtClean="0">
                <a:solidFill>
                  <a:prstClr val="black"/>
                </a:solidFill>
              </a:rPr>
              <a:t>The muscles are divided into anterior (flexor)</a:t>
            </a:r>
            <a:r>
              <a:rPr lang="en-US" sz="2400" i="1" dirty="0" smtClean="0">
                <a:solidFill>
                  <a:prstClr val="black"/>
                </a:solidFill>
              </a:rPr>
              <a:t> </a:t>
            </a:r>
            <a:r>
              <a:rPr lang="en-US" sz="2400" dirty="0" smtClean="0">
                <a:solidFill>
                  <a:prstClr val="black"/>
                </a:solidFill>
              </a:rPr>
              <a:t>and posterior (extensor)</a:t>
            </a:r>
            <a:r>
              <a:rPr lang="en-US" sz="2400" i="1" dirty="0" smtClean="0">
                <a:solidFill>
                  <a:prstClr val="black"/>
                </a:solidFill>
              </a:rPr>
              <a:t> </a:t>
            </a:r>
            <a:r>
              <a:rPr lang="en-US" sz="2400" dirty="0" smtClean="0">
                <a:solidFill>
                  <a:prstClr val="black"/>
                </a:solidFill>
              </a:rPr>
              <a:t>groups by intermuscular septum </a:t>
            </a:r>
            <a:endParaRPr lang="en-US" sz="2400" dirty="0" smtClean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219200"/>
            <a:ext cx="2362200" cy="363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400" b="1" dirty="0" smtClean="0">
                <a:solidFill>
                  <a:srgbClr val="00B050"/>
                </a:solidFill>
              </a:rPr>
              <a:t>Three flexors </a:t>
            </a:r>
            <a:endParaRPr lang="en-US" sz="2400" b="1" dirty="0" smtClean="0">
              <a:solidFill>
                <a:srgbClr val="00B050"/>
              </a:solidFill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prstClr val="black"/>
                </a:solidFill>
              </a:rPr>
              <a:t>biceps brachii, brachialis, and coracobrachialis</a:t>
            </a:r>
            <a:endParaRPr lang="en-US" sz="2000" dirty="0" smtClean="0">
              <a:solidFill>
                <a:prstClr val="black"/>
              </a:solidFill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prstClr val="black"/>
                </a:solidFill>
              </a:rPr>
              <a:t>supplied by musculocutaneous nerve </a:t>
            </a:r>
            <a:endParaRPr lang="en-US" sz="2000" dirty="0" smtClean="0">
              <a:solidFill>
                <a:prstClr val="black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400" b="1" dirty="0" smtClean="0">
                <a:solidFill>
                  <a:srgbClr val="00B050"/>
                </a:solidFill>
              </a:rPr>
              <a:t>One extensor</a:t>
            </a:r>
            <a:endParaRPr lang="en-US" sz="2400" b="1" dirty="0" smtClean="0">
              <a:solidFill>
                <a:srgbClr val="00B050"/>
              </a:solidFill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prstClr val="black"/>
                </a:solidFill>
              </a:rPr>
              <a:t>triceps brachi</a:t>
            </a:r>
            <a:endParaRPr lang="en-US" sz="2000" dirty="0" smtClean="0">
              <a:solidFill>
                <a:prstClr val="black"/>
              </a:solidFill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prstClr val="black"/>
                </a:solidFill>
              </a:rPr>
              <a:t>supplied by radial nerve  </a:t>
            </a:r>
            <a:endParaRPr lang="en-US" sz="2000" dirty="0" smtClean="0">
              <a:solidFill>
                <a:prstClr val="black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800" b="1" dirty="0" smtClean="0">
                <a:solidFill>
                  <a:srgbClr val="00B050"/>
                </a:solidFill>
              </a:rPr>
              <a:t>Anconeus</a:t>
            </a:r>
            <a:r>
              <a:rPr lang="en-US" sz="2800" dirty="0" smtClean="0">
                <a:solidFill>
                  <a:prstClr val="black"/>
                </a:solidFill>
              </a:rPr>
              <a:t>  </a:t>
            </a:r>
            <a:endParaRPr lang="en-US" sz="2800" dirty="0" smtClean="0">
              <a:solidFill>
                <a:prstClr val="black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B8C88-A36A-467A-ADE8-290D36088AAF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304800"/>
            <a:ext cx="4876800" cy="6324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3200" b="1" dirty="0" smtClean="0">
                <a:solidFill>
                  <a:srgbClr val="FF0000"/>
                </a:solidFill>
              </a:rPr>
              <a:t>                      Biceps brachii </a:t>
            </a:r>
            <a:endParaRPr lang="en-US" sz="3200" b="1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dirty="0" smtClean="0"/>
              <a:t>Has two heads; long head and short head</a:t>
            </a: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b="1" dirty="0" smtClean="0">
                <a:solidFill>
                  <a:srgbClr val="C00000"/>
                </a:solidFill>
              </a:rPr>
              <a:t>Origin</a:t>
            </a:r>
            <a:r>
              <a:rPr lang="en-US" sz="2800" b="1" dirty="0" smtClean="0"/>
              <a:t>: </a:t>
            </a:r>
            <a:endParaRPr lang="en-US" sz="2800" b="1" dirty="0" smtClean="0"/>
          </a:p>
          <a:p>
            <a:pPr lvl="1">
              <a:lnSpc>
                <a:spcPct val="90000"/>
              </a:lnSpc>
            </a:pPr>
            <a:r>
              <a:rPr lang="en-US" sz="2800" dirty="0" smtClean="0"/>
              <a:t>Short head: tip of coracoid process of scapula </a:t>
            </a:r>
            <a:endParaRPr lang="en-US" sz="2800" dirty="0" smtClean="0"/>
          </a:p>
          <a:p>
            <a:pPr lvl="1">
              <a:lnSpc>
                <a:spcPct val="90000"/>
              </a:lnSpc>
            </a:pPr>
            <a:r>
              <a:rPr lang="en-US" sz="2800" dirty="0" smtClean="0"/>
              <a:t>Long head: supraglenoid tubercle of scapula </a:t>
            </a: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b="1" dirty="0" smtClean="0">
                <a:solidFill>
                  <a:srgbClr val="C00000"/>
                </a:solidFill>
              </a:rPr>
              <a:t>Insertion</a:t>
            </a:r>
            <a:r>
              <a:rPr lang="en-US" sz="2800" dirty="0" smtClean="0"/>
              <a:t>: tuberosity of radius and fascia of forearm via bicipital aponeurosis</a:t>
            </a: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b="1" dirty="0" smtClean="0">
                <a:solidFill>
                  <a:srgbClr val="C00000"/>
                </a:solidFill>
              </a:rPr>
              <a:t>Innervation</a:t>
            </a:r>
            <a:r>
              <a:rPr lang="en-US" sz="2800" dirty="0" smtClean="0"/>
              <a:t>: Musculocutaneous nerve (C5, </a:t>
            </a:r>
            <a:r>
              <a:rPr lang="en-US" sz="2800" b="1" dirty="0" smtClean="0"/>
              <a:t>C6</a:t>
            </a:r>
            <a:r>
              <a:rPr lang="en-US" sz="2800" dirty="0" smtClean="0"/>
              <a:t>) </a:t>
            </a: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b="1" dirty="0" smtClean="0">
                <a:solidFill>
                  <a:srgbClr val="C00000"/>
                </a:solidFill>
              </a:rPr>
              <a:t>Action</a:t>
            </a:r>
            <a:r>
              <a:rPr lang="en-US" sz="2800" dirty="0" smtClean="0"/>
              <a:t>: Supinates forearm and, and when it is supine, flexes forearm; short head  resists dislocation of shoulder </a:t>
            </a:r>
            <a:endParaRPr lang="en-US" sz="2800" dirty="0" smtClean="0"/>
          </a:p>
          <a:p>
            <a:pPr>
              <a:buNone/>
            </a:pP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075293" y="432104"/>
            <a:ext cx="4068708" cy="6197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AABC1-F7DE-47D3-BABB-86C702DD03F7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3962400" cy="6324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00B050"/>
                </a:solidFill>
              </a:rPr>
              <a:t>      Brachialis </a:t>
            </a:r>
            <a:endParaRPr lang="en-US" sz="2800" b="1" dirty="0" smtClean="0">
              <a:solidFill>
                <a:srgbClr val="00B050"/>
              </a:solidFill>
            </a:endParaRPr>
          </a:p>
          <a:p>
            <a:r>
              <a:rPr lang="en-US" sz="2400" dirty="0" smtClean="0"/>
              <a:t>Lies posterior (deep) to the biceps </a:t>
            </a:r>
            <a:endParaRPr lang="en-US" sz="2400" dirty="0" smtClean="0"/>
          </a:p>
          <a:p>
            <a:r>
              <a:rPr lang="en-US" sz="2400" dirty="0" smtClean="0"/>
              <a:t>It is the only </a:t>
            </a:r>
            <a:r>
              <a:rPr lang="en-US" sz="2400" b="1" dirty="0" smtClean="0">
                <a:solidFill>
                  <a:srgbClr val="0000CC"/>
                </a:solidFill>
              </a:rPr>
              <a:t>pure flexor</a:t>
            </a:r>
            <a:endParaRPr lang="en-US" sz="2400" b="1" dirty="0" smtClean="0">
              <a:solidFill>
                <a:srgbClr val="0000CC"/>
              </a:solidFill>
            </a:endParaRPr>
          </a:p>
          <a:p>
            <a:r>
              <a:rPr lang="en-US" sz="2400" b="1" dirty="0" smtClean="0">
                <a:solidFill>
                  <a:srgbClr val="C00000"/>
                </a:solidFill>
              </a:rPr>
              <a:t>Origin</a:t>
            </a:r>
            <a:r>
              <a:rPr lang="en-US" sz="2400" dirty="0" smtClean="0"/>
              <a:t>: Distal half of anterior surface of humerus  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C00000"/>
                </a:solidFill>
              </a:rPr>
              <a:t>Insertion</a:t>
            </a:r>
            <a:r>
              <a:rPr lang="en-US" sz="2400" dirty="0" smtClean="0"/>
              <a:t>: Coronoid process and tuberosity of ulna 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C00000"/>
                </a:solidFill>
              </a:rPr>
              <a:t>Innervation</a:t>
            </a:r>
            <a:r>
              <a:rPr lang="en-US" sz="2400" dirty="0" smtClean="0"/>
              <a:t>: Musculocutaneous nerve (C5, </a:t>
            </a:r>
            <a:r>
              <a:rPr lang="en-US" sz="2400" b="1" dirty="0" smtClean="0"/>
              <a:t>C6</a:t>
            </a:r>
            <a:r>
              <a:rPr lang="en-US" sz="2400" dirty="0" smtClean="0"/>
              <a:t>) 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C00000"/>
                </a:solidFill>
              </a:rPr>
              <a:t>Action</a:t>
            </a:r>
            <a:r>
              <a:rPr lang="en-US" sz="2400" dirty="0" smtClean="0"/>
              <a:t>: Flexes forearm in all positions </a:t>
            </a:r>
            <a:endParaRPr lang="en-US" sz="2400" dirty="0" smtClean="0"/>
          </a:p>
          <a:p>
            <a:r>
              <a:rPr lang="en-US" sz="2400" dirty="0" smtClean="0"/>
              <a:t>It is the workhorse among the flexor mm of the elbow joint. </a:t>
            </a:r>
            <a:endParaRPr lang="en-US" sz="2400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876800" y="129767"/>
            <a:ext cx="4267201" cy="6499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58A8-B79D-44E1-BBA5-C2866CCB4BC6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4038600" cy="63246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00B050"/>
                </a:solidFill>
              </a:rPr>
              <a:t>    </a:t>
            </a:r>
            <a:r>
              <a:rPr lang="en-US" sz="2800" b="1" dirty="0" smtClean="0">
                <a:solidFill>
                  <a:srgbClr val="FF0000"/>
                </a:solidFill>
              </a:rPr>
              <a:t>Coracobrachialis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dirty="0" smtClean="0"/>
              <a:t>Elongated muscle in the superomedial part of the arm</a:t>
            </a: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dirty="0" smtClean="0"/>
              <a:t>Useful landmark for locating other structures in the arm </a:t>
            </a:r>
            <a:endParaRPr lang="en-US" sz="2800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musculocutaneous nerve pierces it</a:t>
            </a: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distal part of its attachment indicates the location of the nutrient foramen of the humerus</a:t>
            </a:r>
            <a:endParaRPr lang="en-US" dirty="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800" b="1" dirty="0" smtClean="0"/>
              <a:t>Origin</a:t>
            </a:r>
            <a:r>
              <a:rPr lang="en-US" sz="2800" dirty="0" smtClean="0"/>
              <a:t>: Tip of coracoid process of scapula </a:t>
            </a:r>
            <a:endParaRPr lang="en-US" sz="2800" dirty="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b="1" dirty="0" smtClean="0"/>
              <a:t>Insertion</a:t>
            </a:r>
            <a:r>
              <a:rPr lang="en-US" dirty="0" smtClean="0"/>
              <a:t>: Middle third of medial surface of humerus </a:t>
            </a:r>
            <a:endParaRPr lang="en-US" dirty="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b="1" dirty="0" smtClean="0"/>
              <a:t>Innervation</a:t>
            </a:r>
            <a:r>
              <a:rPr lang="en-US" dirty="0" smtClean="0"/>
              <a:t>: Musculocutaneous nerve  </a:t>
            </a:r>
            <a:endParaRPr lang="en-US" dirty="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b="1" dirty="0" smtClean="0"/>
              <a:t>Action</a:t>
            </a:r>
            <a:r>
              <a:rPr lang="en-US" dirty="0" smtClean="0"/>
              <a:t>: Helps flex and adduct arm at the shoulder joint; stabilize shoulder joint</a:t>
            </a:r>
            <a:endParaRPr lang="en-US" dirty="0" smtClean="0"/>
          </a:p>
          <a:p>
            <a:pPr>
              <a:lnSpc>
                <a:spcPct val="90000"/>
              </a:lnSpc>
            </a:pPr>
            <a:endParaRPr lang="en-US" sz="2800" dirty="0" smtClean="0"/>
          </a:p>
          <a:p>
            <a:pPr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419599" y="1752600"/>
            <a:ext cx="4724401" cy="4895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8B025-D295-4829-8216-1F4DBFB39CF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4191000" cy="6324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Triceps brachii </a:t>
            </a:r>
            <a:endParaRPr lang="en-US" b="1" dirty="0" smtClean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b="1" dirty="0" smtClean="0"/>
              <a:t>Origin</a:t>
            </a:r>
            <a:r>
              <a:rPr lang="en-US" sz="2800" dirty="0" smtClean="0"/>
              <a:t>: </a:t>
            </a:r>
            <a:endParaRPr lang="en-US" sz="2800" dirty="0" smtClean="0"/>
          </a:p>
          <a:p>
            <a:pPr lvl="1"/>
            <a:r>
              <a:rPr lang="en-US" b="1" dirty="0" smtClean="0">
                <a:solidFill>
                  <a:srgbClr val="0000CC"/>
                </a:solidFill>
              </a:rPr>
              <a:t>Long head</a:t>
            </a:r>
            <a:r>
              <a:rPr lang="en-US" dirty="0" smtClean="0"/>
              <a:t>: infra-glenoid tubercle of scapula</a:t>
            </a:r>
            <a:endParaRPr lang="en-US" dirty="0" smtClean="0"/>
          </a:p>
          <a:p>
            <a:pPr lvl="1"/>
            <a:r>
              <a:rPr lang="en-US" b="1" dirty="0" smtClean="0">
                <a:solidFill>
                  <a:srgbClr val="280FBF"/>
                </a:solidFill>
              </a:rPr>
              <a:t>Lateral head</a:t>
            </a:r>
            <a:r>
              <a:rPr lang="en-US" dirty="0" smtClean="0"/>
              <a:t>: posterior surface of humerus, superior to radial groove</a:t>
            </a:r>
            <a:endParaRPr lang="en-US" dirty="0" smtClean="0"/>
          </a:p>
          <a:p>
            <a:pPr lvl="1"/>
            <a:r>
              <a:rPr lang="en-US" b="1" dirty="0" smtClean="0">
                <a:solidFill>
                  <a:srgbClr val="0000FF"/>
                </a:solidFill>
              </a:rPr>
              <a:t>Medial head</a:t>
            </a:r>
            <a:r>
              <a:rPr lang="en-US" dirty="0" smtClean="0"/>
              <a:t>: posterior surface of humerus, inferior to radial groove </a:t>
            </a:r>
            <a:endParaRPr lang="en-US" dirty="0" smtClean="0"/>
          </a:p>
          <a:p>
            <a:r>
              <a:rPr lang="en-US" sz="2800" b="1" dirty="0" smtClean="0"/>
              <a:t>Insertion</a:t>
            </a:r>
            <a:r>
              <a:rPr lang="en-US" sz="2800" dirty="0" smtClean="0"/>
              <a:t>: Proximal end of olecranon of ulna and fascia of forearm </a:t>
            </a:r>
            <a:endParaRPr lang="en-US" sz="2800" dirty="0" smtClean="0"/>
          </a:p>
          <a:p>
            <a:r>
              <a:rPr lang="en-US" sz="2800" b="1" dirty="0" smtClean="0"/>
              <a:t>Innervation</a:t>
            </a:r>
            <a:r>
              <a:rPr lang="en-US" sz="2800" dirty="0" smtClean="0"/>
              <a:t>: Radial nerve  </a:t>
            </a:r>
            <a:endParaRPr lang="en-US" sz="2800" dirty="0" smtClean="0"/>
          </a:p>
          <a:p>
            <a:r>
              <a:rPr lang="en-US" sz="2800" b="1" dirty="0" smtClean="0"/>
              <a:t>Action</a:t>
            </a:r>
            <a:r>
              <a:rPr lang="en-US" sz="2800" dirty="0" smtClean="0"/>
              <a:t>: Chief extensor of forearm; long head resists dislocation of humerus</a:t>
            </a:r>
            <a:endParaRPr lang="en-US" sz="2800" dirty="0" smtClean="0"/>
          </a:p>
          <a:p>
            <a:pPr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48199" y="879309"/>
            <a:ext cx="4191001" cy="5721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16941-ADF2-413F-94FA-42B01248591E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4648200" cy="6324600"/>
          </a:xfrm>
        </p:spPr>
        <p:txBody>
          <a:bodyPr/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Anconeus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Origin</a:t>
            </a:r>
            <a:r>
              <a:rPr lang="en-US" dirty="0" smtClean="0"/>
              <a:t>: Lateral epicondyle of humerus </a:t>
            </a:r>
            <a:endParaRPr lang="en-US" dirty="0" smtClean="0"/>
          </a:p>
          <a:p>
            <a:r>
              <a:rPr lang="en-US" b="1" dirty="0" smtClean="0"/>
              <a:t>Insertion</a:t>
            </a:r>
            <a:r>
              <a:rPr lang="en-US" dirty="0" smtClean="0"/>
              <a:t>: Lateral surface of olecranon and superior part of posterior surface of ulna </a:t>
            </a:r>
            <a:endParaRPr lang="en-US" dirty="0" smtClean="0"/>
          </a:p>
          <a:p>
            <a:r>
              <a:rPr lang="en-US" b="1" dirty="0" smtClean="0"/>
              <a:t>Innervation</a:t>
            </a:r>
            <a:r>
              <a:rPr lang="en-US" dirty="0" smtClean="0"/>
              <a:t>: Radial nerve </a:t>
            </a:r>
            <a:endParaRPr lang="en-US" dirty="0" smtClean="0"/>
          </a:p>
          <a:p>
            <a:r>
              <a:rPr lang="en-US" b="1" dirty="0" smtClean="0"/>
              <a:t>Action</a:t>
            </a:r>
            <a:r>
              <a:rPr lang="en-US" dirty="0" smtClean="0"/>
              <a:t>: Assists triceps in extending forearm; stabilizes elbow joint; may abduct ulna during pronation 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800600" y="838200"/>
            <a:ext cx="3988279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0DE91-7B33-4F00-877A-C900AA87BFC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2296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 b="1" dirty="0" smtClean="0">
                <a:solidFill>
                  <a:srgbClr val="C00000"/>
                </a:solidFill>
              </a:rPr>
              <a:t>              Cubital fossa</a:t>
            </a:r>
            <a:endParaRPr lang="en-US" sz="3200" b="1" dirty="0" smtClean="0">
              <a:solidFill>
                <a:srgbClr val="C00000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82CF6F-6F99-4177-BEB2-FEEBE01D6FA7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20275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609600"/>
            <a:ext cx="8610600" cy="6019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200" dirty="0" smtClean="0"/>
              <a:t>A triangular depression on anterior surface of the elbow </a:t>
            </a:r>
            <a:endParaRPr lang="en-US" sz="3200" dirty="0" smtClean="0"/>
          </a:p>
          <a:p>
            <a:pPr eaLnBrk="1" hangingPunct="1">
              <a:lnSpc>
                <a:spcPct val="90000"/>
              </a:lnSpc>
            </a:pPr>
            <a:r>
              <a:rPr lang="en-US" sz="3200" dirty="0" smtClean="0"/>
              <a:t>Boundaries </a:t>
            </a:r>
            <a:endParaRPr lang="en-US" sz="32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sz="2800" b="1" dirty="0" smtClean="0"/>
              <a:t>Superiorly</a:t>
            </a:r>
            <a:r>
              <a:rPr lang="en-US" sz="2800" dirty="0" smtClean="0"/>
              <a:t>;- an imaginary line connecting the medial and lateral epicondyles</a:t>
            </a:r>
            <a:endParaRPr lang="en-US" sz="28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sz="2800" b="1" dirty="0" smtClean="0"/>
              <a:t>Medially</a:t>
            </a:r>
            <a:r>
              <a:rPr lang="en-US" sz="2800" dirty="0" smtClean="0"/>
              <a:t>:- pronator teres</a:t>
            </a:r>
            <a:endParaRPr lang="en-US" sz="28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sz="2800" b="1" dirty="0" smtClean="0"/>
              <a:t>Laterally</a:t>
            </a:r>
            <a:r>
              <a:rPr lang="en-US" sz="2800" dirty="0" smtClean="0"/>
              <a:t>:- brachioradialis</a:t>
            </a:r>
            <a:endParaRPr lang="en-US" sz="28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sz="2800" b="1" dirty="0" smtClean="0"/>
              <a:t>Floor</a:t>
            </a:r>
            <a:r>
              <a:rPr lang="en-US" sz="2800" dirty="0" smtClean="0"/>
              <a:t>:-  brachialis and supinator muscles</a:t>
            </a:r>
            <a:endParaRPr lang="en-US" sz="28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sz="3200" b="1" dirty="0" smtClean="0"/>
              <a:t>Roof</a:t>
            </a:r>
            <a:r>
              <a:rPr lang="en-US" sz="3200" dirty="0" smtClean="0"/>
              <a:t> :-</a:t>
            </a:r>
            <a:r>
              <a:rPr lang="en-US" sz="2800" dirty="0" smtClean="0"/>
              <a:t>the continuity of brachial and antebrachial (deep) fascia, reinforced by the bicipital aponeurosis, subcutaneous tissue and skin</a:t>
            </a:r>
            <a:endParaRPr lang="en-US" sz="2800" dirty="0" smtClean="0"/>
          </a:p>
          <a:p>
            <a:pPr eaLnBrk="1" hangingPunct="1">
              <a:lnSpc>
                <a:spcPct val="90000"/>
              </a:lnSpc>
            </a:pPr>
            <a:endParaRPr lang="en-US" sz="3200" dirty="0" smtClean="0"/>
          </a:p>
          <a:p>
            <a:pPr eaLnBrk="1" hangingPunct="1">
              <a:lnSpc>
                <a:spcPct val="90000"/>
              </a:lnSpc>
            </a:pPr>
            <a:endParaRPr lang="en-US" sz="28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D22B6-7D40-4AF6-AB45-EA90490F263D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53F388-8119-44FD-AAA6-A13FBD9B082B}" type="slidenum">
              <a:rPr lang="en-US" smtClean="0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pic>
        <p:nvPicPr>
          <p:cNvPr id="20377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0" y="228600"/>
            <a:ext cx="8991600" cy="6477000"/>
          </a:xfr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2DCC3-E815-4F3F-84C2-7207735D303A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F8E668-4481-4328-B43E-C3F1E12D1892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2058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914400"/>
            <a:ext cx="8534400" cy="5791200"/>
          </a:xfrm>
        </p:spPr>
        <p:txBody>
          <a:bodyPr/>
          <a:lstStyle/>
          <a:p>
            <a:pPr eaLnBrk="1" hangingPunct="1"/>
            <a:r>
              <a:rPr lang="en-US" sz="3200" b="1" dirty="0" smtClean="0"/>
              <a:t>Contents  </a:t>
            </a:r>
            <a:endParaRPr lang="en-US" b="1" dirty="0" smtClean="0"/>
          </a:p>
          <a:p>
            <a:pPr lvl="1" eaLnBrk="1" hangingPunct="1"/>
            <a:r>
              <a:rPr lang="en-US" sz="2800" dirty="0" smtClean="0"/>
              <a:t>Brachial artery and branches, radial and ulnar arteries</a:t>
            </a:r>
            <a:endParaRPr lang="en-US" sz="2800" dirty="0" smtClean="0"/>
          </a:p>
          <a:p>
            <a:pPr lvl="1" eaLnBrk="1" hangingPunct="1"/>
            <a:r>
              <a:rPr lang="en-US" sz="2800" dirty="0" smtClean="0"/>
              <a:t>Accompanying veins of the arteries</a:t>
            </a:r>
            <a:endParaRPr lang="en-US" sz="2800" dirty="0" smtClean="0"/>
          </a:p>
          <a:p>
            <a:pPr lvl="1" eaLnBrk="1" hangingPunct="1"/>
            <a:r>
              <a:rPr lang="en-US" sz="2800" dirty="0" smtClean="0"/>
              <a:t>Biceps brachii tendon</a:t>
            </a:r>
            <a:endParaRPr lang="en-US" sz="2800" dirty="0" smtClean="0"/>
          </a:p>
          <a:p>
            <a:pPr lvl="1" eaLnBrk="1" hangingPunct="1"/>
            <a:r>
              <a:rPr lang="en-US" sz="2800" dirty="0" smtClean="0"/>
              <a:t>Median nerve</a:t>
            </a:r>
            <a:endParaRPr lang="en-US" sz="2800" dirty="0" smtClean="0"/>
          </a:p>
          <a:p>
            <a:pPr lvl="1" eaLnBrk="1" hangingPunct="1"/>
            <a:r>
              <a:rPr lang="en-US" sz="2800" dirty="0" smtClean="0"/>
              <a:t>Radial nerve, dividing into its superficial and deep branches</a:t>
            </a:r>
            <a:endParaRPr lang="en-US" sz="2800" dirty="0" smtClean="0"/>
          </a:p>
          <a:p>
            <a:pPr lvl="1" eaLnBrk="1" hangingPunct="1"/>
            <a:r>
              <a:rPr lang="en-US" sz="2800" dirty="0" smtClean="0"/>
              <a:t>Median</a:t>
            </a:r>
            <a:r>
              <a:rPr lang="en-US" sz="2800" i="1" dirty="0" smtClean="0"/>
              <a:t> </a:t>
            </a:r>
            <a:r>
              <a:rPr lang="en-US" sz="2800" dirty="0" smtClean="0"/>
              <a:t>cubital</a:t>
            </a:r>
            <a:r>
              <a:rPr lang="en-US" sz="2800" i="1" dirty="0" smtClean="0"/>
              <a:t> </a:t>
            </a:r>
            <a:r>
              <a:rPr lang="en-US" sz="2800" dirty="0" smtClean="0"/>
              <a:t>vein</a:t>
            </a:r>
            <a:r>
              <a:rPr lang="en-US" sz="2800" i="1" dirty="0" smtClean="0"/>
              <a:t>, </a:t>
            </a:r>
            <a:r>
              <a:rPr lang="en-US" sz="2800" dirty="0" smtClean="0"/>
              <a:t>medial and lateral cutaneous nerves of the forearm- on the subcutaneous tissue overlying the cubital fossa </a:t>
            </a:r>
            <a:endParaRPr lang="en-US" sz="28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39EE-CDF9-4541-87D9-1E0C74F1C2BF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6A0F9-631E-4E5C-A741-FEF8C87D1250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pic>
        <p:nvPicPr>
          <p:cNvPr id="206851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46213" y="0"/>
            <a:ext cx="62515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5254E-9E2D-4149-A962-8CA475BB2051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8610600" cy="63246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           </a:t>
            </a:r>
            <a:r>
              <a:rPr lang="en-US" sz="32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FOREARM</a:t>
            </a:r>
            <a:endParaRPr lang="en-US" sz="3200" b="1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Muscles </a:t>
            </a:r>
            <a:r>
              <a:rPr lang="en-US" sz="3200" b="1" dirty="0" smtClean="0">
                <a:solidFill>
                  <a:srgbClr val="C00000"/>
                </a:solidFill>
              </a:rPr>
              <a:t>of Forearm</a:t>
            </a:r>
            <a:endParaRPr lang="en-US" sz="3200" b="1" dirty="0" smtClean="0">
              <a:solidFill>
                <a:srgbClr val="C00000"/>
              </a:solidFill>
            </a:endParaRPr>
          </a:p>
          <a:p>
            <a:r>
              <a:rPr lang="en-US" sz="2800" dirty="0" smtClean="0"/>
              <a:t>Anterior compartment:-</a:t>
            </a:r>
            <a:r>
              <a:rPr lang="en-US" sz="2800" b="1" dirty="0" smtClean="0"/>
              <a:t>flexors - pronators </a:t>
            </a:r>
            <a:r>
              <a:rPr lang="en-US" sz="2800" dirty="0" smtClean="0"/>
              <a:t>mm, and are served mainly by the </a:t>
            </a:r>
            <a:r>
              <a:rPr lang="en-US" sz="2800" b="1" dirty="0" smtClean="0"/>
              <a:t>median nerve</a:t>
            </a:r>
            <a:endParaRPr lang="en-US" sz="2800" b="1" dirty="0" smtClean="0"/>
          </a:p>
          <a:p>
            <a:r>
              <a:rPr lang="en-US" sz="2800" dirty="0" smtClean="0"/>
              <a:t>Posterior compartment:- </a:t>
            </a:r>
            <a:r>
              <a:rPr lang="en-US" sz="2800" b="1" dirty="0" smtClean="0"/>
              <a:t>extensor - supinators mm </a:t>
            </a:r>
            <a:r>
              <a:rPr lang="en-US" sz="2800" dirty="0" smtClean="0"/>
              <a:t>and  innervated by the </a:t>
            </a:r>
            <a:r>
              <a:rPr lang="en-US" sz="2800" b="1" dirty="0" smtClean="0"/>
              <a:t>radial nerve</a:t>
            </a:r>
            <a:endParaRPr lang="en-US" sz="2800" b="1" dirty="0" smtClean="0"/>
          </a:p>
          <a:p>
            <a:pPr>
              <a:buNone/>
            </a:pPr>
            <a:endParaRPr lang="en-US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33401" y="2796141"/>
            <a:ext cx="7784284" cy="4061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3C3E9-A97F-4DDF-BFE6-0D59FE02E809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8610600" cy="6324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 smtClean="0">
                <a:solidFill>
                  <a:srgbClr val="FF0000"/>
                </a:solidFill>
              </a:rPr>
              <a:t>           Anterior compartment muscles  </a:t>
            </a:r>
            <a:endParaRPr lang="en-US" sz="32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Are arranged in three layers</a:t>
            </a:r>
            <a:endParaRPr lang="en-US" sz="2400" dirty="0" smtClean="0"/>
          </a:p>
          <a:p>
            <a:pPr lvl="2"/>
            <a:r>
              <a:rPr lang="en-US" sz="2400" b="1" dirty="0" smtClean="0">
                <a:solidFill>
                  <a:srgbClr val="0070C0"/>
                </a:solidFill>
              </a:rPr>
              <a:t>Superficial layers:- </a:t>
            </a:r>
            <a:endParaRPr lang="en-US" sz="2400" b="1" dirty="0" smtClean="0">
              <a:solidFill>
                <a:srgbClr val="0070C0"/>
              </a:solidFill>
            </a:endParaRPr>
          </a:p>
          <a:p>
            <a:pPr lvl="5"/>
            <a:r>
              <a:rPr lang="en-US" sz="2400" dirty="0" smtClean="0"/>
              <a:t>Have common origin-  a flexor tendon on medial epicondyle of humerus </a:t>
            </a:r>
            <a:endParaRPr lang="en-US" sz="2400" dirty="0" smtClean="0"/>
          </a:p>
          <a:p>
            <a:pPr lvl="5"/>
            <a:r>
              <a:rPr lang="en-US" sz="2400" dirty="0" smtClean="0"/>
              <a:t>Innervated by median nerve except flexor carpi ulnaris</a:t>
            </a:r>
            <a:endParaRPr lang="en-US" sz="2400" dirty="0" smtClean="0"/>
          </a:p>
          <a:p>
            <a:pPr lvl="5"/>
            <a:r>
              <a:rPr lang="en-US" sz="2400" b="1" dirty="0" smtClean="0">
                <a:solidFill>
                  <a:srgbClr val="FF0000"/>
                </a:solidFill>
              </a:rPr>
              <a:t>Pronator teres</a:t>
            </a:r>
            <a:r>
              <a:rPr lang="en-US" sz="2400" dirty="0" smtClean="0"/>
              <a:t>:- Inserted</a:t>
            </a:r>
            <a:r>
              <a:rPr lang="en-US" sz="2400" b="1" dirty="0" smtClean="0"/>
              <a:t> </a:t>
            </a:r>
            <a:r>
              <a:rPr lang="en-US" sz="2400" dirty="0" smtClean="0"/>
              <a:t>on</a:t>
            </a:r>
            <a:r>
              <a:rPr lang="en-US" sz="2400" b="1" dirty="0" smtClean="0"/>
              <a:t> </a:t>
            </a:r>
            <a:r>
              <a:rPr lang="en-US" sz="2400" dirty="0" smtClean="0"/>
              <a:t>middle of lateral surface of radius  &amp; is pronator and flexor of the  forearm </a:t>
            </a:r>
            <a:endParaRPr lang="en-US" sz="2400" dirty="0" smtClean="0"/>
          </a:p>
          <a:p>
            <a:pPr lvl="5"/>
            <a:r>
              <a:rPr lang="en-US" sz="2400" b="1" dirty="0" smtClean="0">
                <a:solidFill>
                  <a:srgbClr val="FF0000"/>
                </a:solidFill>
              </a:rPr>
              <a:t>Flexor carpi radialis</a:t>
            </a:r>
            <a:r>
              <a:rPr lang="en-US" sz="2400" dirty="0" smtClean="0"/>
              <a:t>:- Inserted</a:t>
            </a:r>
            <a:r>
              <a:rPr lang="en-US" sz="2400" b="1" dirty="0" smtClean="0"/>
              <a:t> </a:t>
            </a:r>
            <a:r>
              <a:rPr lang="en-US" sz="2400" dirty="0" smtClean="0"/>
              <a:t>on</a:t>
            </a:r>
            <a:r>
              <a:rPr lang="en-US" sz="2400" b="1" dirty="0" smtClean="0"/>
              <a:t> b</a:t>
            </a:r>
            <a:r>
              <a:rPr lang="en-US" sz="2400" dirty="0" smtClean="0"/>
              <a:t>ases of 2nd metacarpal, it flexes and abduct hand </a:t>
            </a:r>
            <a:endParaRPr lang="en-US" sz="2400" dirty="0" smtClean="0"/>
          </a:p>
          <a:p>
            <a:pPr lvl="5"/>
            <a:r>
              <a:rPr lang="en-US" sz="2400" b="1" dirty="0" smtClean="0">
                <a:solidFill>
                  <a:srgbClr val="FF0000"/>
                </a:solidFill>
              </a:rPr>
              <a:t>Palmaris longus</a:t>
            </a:r>
            <a:r>
              <a:rPr lang="en-US" sz="2400" dirty="0" smtClean="0"/>
              <a:t>:- insertion is on distal half of flexor retinaculum ; it flex hands</a:t>
            </a:r>
            <a:endParaRPr lang="en-US" sz="2400" dirty="0" smtClean="0"/>
          </a:p>
          <a:p>
            <a:pPr lvl="5"/>
            <a:r>
              <a:rPr lang="en-US" sz="2400" b="1" dirty="0" smtClean="0">
                <a:solidFill>
                  <a:srgbClr val="FF0000"/>
                </a:solidFill>
              </a:rPr>
              <a:t>Flexor carpi ulnaris</a:t>
            </a:r>
            <a:r>
              <a:rPr lang="en-US" sz="2400" dirty="0" smtClean="0"/>
              <a:t>:- inserted in to pisiform, hook of hamate, 5th metacarpal bones ; it flexes and abduct hand and is innervated by ulnar nerve  </a:t>
            </a:r>
            <a:endParaRPr lang="en-US" sz="2400" dirty="0" smtClean="0"/>
          </a:p>
          <a:p>
            <a:endParaRPr 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43B5-103C-4002-A11F-E24A3F88592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533400" y="457200"/>
            <a:ext cx="8422488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542DB-FB78-4272-9EA4-725E35AFBD7A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0"/>
            <a:ext cx="2895599" cy="6860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381000"/>
            <a:ext cx="3438525" cy="623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200025"/>
            <a:ext cx="3533775" cy="665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5C28A-7677-4274-ABBF-ABDA20E72E82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9472CD-3FD0-4C9F-8CB1-6DD8565F13FF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21811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609600"/>
            <a:ext cx="4038600" cy="6019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rgbClr val="C00000"/>
                </a:solidFill>
              </a:rPr>
              <a:t> </a:t>
            </a:r>
            <a:r>
              <a:rPr lang="en-US" sz="2800" b="1" dirty="0" smtClean="0">
                <a:solidFill>
                  <a:srgbClr val="0070C0"/>
                </a:solidFill>
              </a:rPr>
              <a:t>Intermediate layer</a:t>
            </a:r>
            <a:endParaRPr lang="en-US" sz="2800" b="1" dirty="0" smtClean="0">
              <a:solidFill>
                <a:srgbClr val="0070C0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rgbClr val="FF0000"/>
                </a:solidFill>
              </a:rPr>
              <a:t>Flexor digitorum superficialis </a:t>
            </a:r>
            <a:r>
              <a:rPr lang="en-US" dirty="0" smtClean="0"/>
              <a:t>:- arise from the common origin and inserted in to middle phalanges of medial four fingers; served by median nerve and is flexor of middle phalanges </a:t>
            </a:r>
            <a:endParaRPr lang="en-US" dirty="0" smtClean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876800" y="42428"/>
            <a:ext cx="3667125" cy="6653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CAB8-8D32-442F-9C2B-B1AA7E9C9FE7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8610600" cy="63246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rgbClr val="0070C0"/>
                </a:solidFill>
              </a:rPr>
              <a:t>Deep layer</a:t>
            </a:r>
            <a:endParaRPr lang="en-US" sz="2800" b="1" dirty="0" smtClean="0">
              <a:solidFill>
                <a:srgbClr val="0070C0"/>
              </a:solidFill>
            </a:endParaRPr>
          </a:p>
          <a:p>
            <a:pPr lvl="2"/>
            <a:r>
              <a:rPr lang="en-US" sz="2400" b="1" dirty="0" smtClean="0">
                <a:solidFill>
                  <a:srgbClr val="FF0000"/>
                </a:solidFill>
              </a:rPr>
              <a:t>Flexor digitorum profundus:-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 lvl="4"/>
            <a:r>
              <a:rPr lang="en-US" sz="2400" dirty="0" smtClean="0"/>
              <a:t>Arise  from proximal ¾ of ulna and interosseous membrane and inserted to bases of distal phalanges </a:t>
            </a:r>
            <a:endParaRPr lang="en-US" sz="2400" dirty="0" smtClean="0"/>
          </a:p>
          <a:p>
            <a:pPr lvl="4"/>
            <a:r>
              <a:rPr lang="en-US" sz="2400" dirty="0" smtClean="0"/>
              <a:t>Served by ulnar and median nerves; is flexor of distal phalanges </a:t>
            </a:r>
            <a:endParaRPr lang="en-US" sz="2400" dirty="0" smtClean="0"/>
          </a:p>
          <a:p>
            <a:pPr lvl="2"/>
            <a:r>
              <a:rPr lang="en-US" sz="2400" b="1" dirty="0" smtClean="0">
                <a:solidFill>
                  <a:srgbClr val="FF0000"/>
                </a:solidFill>
              </a:rPr>
              <a:t>Flexor pollicis longus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 lvl="4"/>
            <a:r>
              <a:rPr lang="en-US" sz="2400" dirty="0" smtClean="0"/>
              <a:t>Arise from  anterior surface of radius and interosseous membrane and inserted in to base of distal phalanx of thumb </a:t>
            </a:r>
            <a:endParaRPr lang="en-US" sz="2400" dirty="0" smtClean="0"/>
          </a:p>
          <a:p>
            <a:pPr lvl="4"/>
            <a:r>
              <a:rPr lang="en-US" sz="2400" dirty="0" smtClean="0"/>
              <a:t>It flex the thumb and innervated by </a:t>
            </a:r>
            <a:r>
              <a:rPr lang="en-US" sz="2400" b="1" dirty="0" smtClean="0">
                <a:solidFill>
                  <a:srgbClr val="C00000"/>
                </a:solidFill>
              </a:rPr>
              <a:t>median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nerve</a:t>
            </a:r>
            <a:r>
              <a:rPr lang="en-US" sz="2400" dirty="0" smtClean="0"/>
              <a:t> </a:t>
            </a:r>
            <a:endParaRPr lang="en-US" sz="2400" dirty="0" smtClean="0"/>
          </a:p>
          <a:p>
            <a:pPr lvl="2"/>
            <a:r>
              <a:rPr lang="en-US" sz="2400" b="1" dirty="0" smtClean="0">
                <a:solidFill>
                  <a:srgbClr val="FF0000"/>
                </a:solidFill>
              </a:rPr>
              <a:t>Pronator quadratus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 lvl="4"/>
            <a:r>
              <a:rPr lang="en-US" sz="2400" dirty="0" smtClean="0"/>
              <a:t>Originated from distal quarter of anterior surface of ulna and end on distal quarter of anterior surface of radius </a:t>
            </a:r>
            <a:endParaRPr lang="en-US" sz="2400" dirty="0" smtClean="0"/>
          </a:p>
          <a:p>
            <a:pPr lvl="4"/>
            <a:r>
              <a:rPr lang="en-US" sz="2400" dirty="0" smtClean="0"/>
              <a:t>Is Pronator of  the  forearm , and served by median nerve</a:t>
            </a:r>
            <a:endParaRPr lang="en-US" sz="2400" dirty="0" smtClean="0"/>
          </a:p>
          <a:p>
            <a:pPr lvl="4"/>
            <a:endParaRPr lang="pt-BR" sz="2400" dirty="0" smtClean="0"/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2C85E-B266-406F-AEF9-7C0A2F472E41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8610600" cy="6324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Muscles in the posterior compartment of the forearm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b="1" dirty="0" smtClean="0"/>
              <a:t>All are innervated by radial nerve </a:t>
            </a:r>
            <a:endParaRPr lang="en-US" b="1" dirty="0" smtClean="0"/>
          </a:p>
          <a:p>
            <a:pPr>
              <a:lnSpc>
                <a:spcPct val="90000"/>
              </a:lnSpc>
            </a:pPr>
            <a:r>
              <a:rPr lang="en-US" b="1" dirty="0" smtClean="0">
                <a:solidFill>
                  <a:srgbClr val="FF0000"/>
                </a:solidFill>
              </a:rPr>
              <a:t>Superficial extensors 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2800" dirty="0" smtClean="0"/>
              <a:t>Attached proximally by a </a:t>
            </a:r>
            <a:r>
              <a:rPr lang="en-US" sz="2800" dirty="0" smtClean="0">
                <a:solidFill>
                  <a:srgbClr val="C00000"/>
                </a:solidFill>
              </a:rPr>
              <a:t>common</a:t>
            </a: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C00000"/>
                </a:solidFill>
              </a:rPr>
              <a:t>extensor</a:t>
            </a:r>
            <a:r>
              <a:rPr lang="en-US" sz="2800" dirty="0" smtClean="0"/>
              <a:t> tendon</a:t>
            </a:r>
            <a:r>
              <a:rPr lang="en-US" sz="2800" i="1" dirty="0" smtClean="0"/>
              <a:t> </a:t>
            </a:r>
            <a:r>
              <a:rPr lang="en-US" sz="2800" dirty="0" smtClean="0"/>
              <a:t>to lateral epicondyle</a:t>
            </a:r>
            <a:endParaRPr lang="en-US" sz="2800" i="1" dirty="0" smtClean="0"/>
          </a:p>
          <a:p>
            <a:pPr lvl="2">
              <a:lnSpc>
                <a:spcPct val="90000"/>
              </a:lnSpc>
            </a:pPr>
            <a:r>
              <a:rPr lang="en-US" sz="2400" dirty="0" smtClean="0"/>
              <a:t>Extensor carpi radialis brevis</a:t>
            </a:r>
            <a:endParaRPr lang="en-US" sz="2400" dirty="0" smtClean="0"/>
          </a:p>
          <a:p>
            <a:pPr lvl="2">
              <a:lnSpc>
                <a:spcPct val="90000"/>
              </a:lnSpc>
            </a:pPr>
            <a:r>
              <a:rPr lang="en-US" sz="2400" dirty="0" smtClean="0"/>
              <a:t>Extensor digitorum</a:t>
            </a:r>
            <a:endParaRPr lang="en-US" sz="2400" dirty="0" smtClean="0"/>
          </a:p>
          <a:p>
            <a:pPr lvl="2">
              <a:lnSpc>
                <a:spcPct val="90000"/>
              </a:lnSpc>
            </a:pPr>
            <a:r>
              <a:rPr lang="en-US" sz="2400" dirty="0" smtClean="0"/>
              <a:t>Extensor digiti minimi</a:t>
            </a:r>
            <a:endParaRPr lang="en-US" sz="2400" dirty="0" smtClean="0"/>
          </a:p>
          <a:p>
            <a:pPr lvl="2">
              <a:lnSpc>
                <a:spcPct val="90000"/>
              </a:lnSpc>
            </a:pPr>
            <a:r>
              <a:rPr lang="en-US" sz="2400" dirty="0" smtClean="0"/>
              <a:t>Extensor carpi ulnaris</a:t>
            </a:r>
            <a:endParaRPr lang="en-US" sz="2400" dirty="0" smtClean="0"/>
          </a:p>
          <a:p>
            <a:pPr lvl="2">
              <a:lnSpc>
                <a:spcPct val="90000"/>
              </a:lnSpc>
            </a:pPr>
            <a:r>
              <a:rPr lang="en-US" sz="2400" dirty="0" smtClean="0"/>
              <a:t>Brachioradialis </a:t>
            </a:r>
            <a:endParaRPr lang="en-US" sz="2400" dirty="0" smtClean="0"/>
          </a:p>
          <a:p>
            <a:pPr lvl="2">
              <a:lnSpc>
                <a:spcPct val="90000"/>
              </a:lnSpc>
            </a:pPr>
            <a:r>
              <a:rPr lang="en-US" sz="2400" dirty="0" smtClean="0"/>
              <a:t>Extensor carpi radialis longus</a:t>
            </a:r>
            <a:endParaRPr lang="en-US" sz="2400" dirty="0" smtClean="0"/>
          </a:p>
          <a:p>
            <a:r>
              <a:rPr lang="en-US" sz="2800" b="1" dirty="0" smtClean="0">
                <a:solidFill>
                  <a:srgbClr val="FF0000"/>
                </a:solidFill>
              </a:rPr>
              <a:t>Deep extensors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 lvl="3"/>
            <a:r>
              <a:rPr lang="en-US" sz="2800" dirty="0" smtClean="0"/>
              <a:t>Abductor pollicis longus </a:t>
            </a:r>
            <a:endParaRPr lang="en-US" sz="2800" dirty="0" smtClean="0"/>
          </a:p>
          <a:p>
            <a:pPr lvl="3"/>
            <a:r>
              <a:rPr lang="en-US" sz="2800" dirty="0" smtClean="0"/>
              <a:t>Extensor pollicis brevis</a:t>
            </a:r>
            <a:endParaRPr lang="en-US" sz="2800" dirty="0" smtClean="0"/>
          </a:p>
          <a:p>
            <a:pPr lvl="3"/>
            <a:r>
              <a:rPr lang="en-US" sz="2800" dirty="0" smtClean="0"/>
              <a:t>Extensor pollicis longus</a:t>
            </a:r>
            <a:endParaRPr lang="en-US" sz="2800" dirty="0" smtClean="0"/>
          </a:p>
          <a:p>
            <a:pPr lvl="3"/>
            <a:r>
              <a:rPr lang="en-US" sz="2800" dirty="0" smtClean="0"/>
              <a:t>Extensor indicis </a:t>
            </a:r>
            <a:endParaRPr lang="en-US" sz="2800" dirty="0" smtClean="0"/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2C2D-7636-426A-B21F-7BD94BDABA64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838200" y="0"/>
            <a:ext cx="7239000" cy="6705600"/>
          </a:xfrm>
          <a:prstGeom prst="rect">
            <a:avLst/>
          </a:prstGeo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CB5A-F418-406B-8DDD-8270F8ADDFBB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8610600" cy="63246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0070C0"/>
                </a:solidFill>
              </a:rPr>
              <a:t> Superficial layer</a:t>
            </a:r>
            <a:endParaRPr lang="en-US" sz="2800" b="1" dirty="0" smtClean="0">
              <a:solidFill>
                <a:srgbClr val="0070C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b="1" dirty="0" smtClean="0">
                <a:solidFill>
                  <a:srgbClr val="0070C0"/>
                </a:solidFill>
              </a:rPr>
              <a:t>Brachioradialis </a:t>
            </a:r>
            <a:endParaRPr lang="en-US" b="1" dirty="0" smtClean="0">
              <a:solidFill>
                <a:srgbClr val="0070C0"/>
              </a:solidFill>
            </a:endParaRPr>
          </a:p>
          <a:p>
            <a:pPr lvl="3">
              <a:lnSpc>
                <a:spcPct val="90000"/>
              </a:lnSpc>
            </a:pPr>
            <a:r>
              <a:rPr lang="en-US" sz="2400" dirty="0" smtClean="0"/>
              <a:t>Arise from supraepicondylar ridge of humerus  and Inserted in to  Lateral surface of distal end of radius proximal to styloid process</a:t>
            </a:r>
            <a:endParaRPr lang="en-US" sz="2400" dirty="0" smtClean="0"/>
          </a:p>
          <a:p>
            <a:pPr lvl="3">
              <a:lnSpc>
                <a:spcPct val="90000"/>
              </a:lnSpc>
            </a:pPr>
            <a:r>
              <a:rPr lang="en-US" sz="2400" dirty="0" smtClean="0"/>
              <a:t>Functionally is flexor of the forearm</a:t>
            </a:r>
            <a:endParaRPr lang="en-US" sz="2400" dirty="0" smtClean="0"/>
          </a:p>
          <a:p>
            <a:pPr lvl="1">
              <a:lnSpc>
                <a:spcPct val="90000"/>
              </a:lnSpc>
            </a:pPr>
            <a:r>
              <a:rPr lang="en-US" sz="2800" b="1" dirty="0" smtClean="0">
                <a:solidFill>
                  <a:srgbClr val="0070C0"/>
                </a:solidFill>
              </a:rPr>
              <a:t>Extensor carpi radialis longus and brevis </a:t>
            </a:r>
            <a:endParaRPr lang="en-US" sz="2800" dirty="0" smtClean="0"/>
          </a:p>
          <a:p>
            <a:pPr lvl="3">
              <a:lnSpc>
                <a:spcPct val="90000"/>
              </a:lnSpc>
            </a:pPr>
            <a:r>
              <a:rPr lang="en-US" sz="2400" dirty="0" smtClean="0"/>
              <a:t>Originated from lateral supraepicondylar ridge and epicondyle of  humerus and inserted in to base of 2</a:t>
            </a:r>
            <a:r>
              <a:rPr lang="en-US" sz="2400" baseline="30000" dirty="0" smtClean="0"/>
              <a:t>nd</a:t>
            </a:r>
            <a:r>
              <a:rPr lang="en-US" sz="2400" dirty="0" smtClean="0"/>
              <a:t> and 3</a:t>
            </a:r>
            <a:r>
              <a:rPr lang="en-US" sz="2400" baseline="30000" dirty="0" smtClean="0"/>
              <a:t>rd</a:t>
            </a:r>
            <a:r>
              <a:rPr lang="en-US" sz="2400" dirty="0" smtClean="0"/>
              <a:t> metacarpal bones</a:t>
            </a:r>
            <a:endParaRPr lang="en-US" sz="2400" dirty="0" smtClean="0"/>
          </a:p>
          <a:p>
            <a:pPr lvl="3">
              <a:lnSpc>
                <a:spcPct val="90000"/>
              </a:lnSpc>
            </a:pPr>
            <a:r>
              <a:rPr lang="en-US" sz="2400" dirty="0" smtClean="0"/>
              <a:t>They extend and abduct hand at wrist joint</a:t>
            </a:r>
            <a:endParaRPr lang="en-US" sz="2400" dirty="0" smtClean="0"/>
          </a:p>
          <a:p>
            <a:pPr lvl="1">
              <a:lnSpc>
                <a:spcPct val="90000"/>
              </a:lnSpc>
            </a:pPr>
            <a:r>
              <a:rPr lang="en-US" sz="2800" b="1" dirty="0" smtClean="0">
                <a:solidFill>
                  <a:srgbClr val="C00000"/>
                </a:solidFill>
              </a:rPr>
              <a:t> Extensor (digitorum &amp; digiti minimi) muscle</a:t>
            </a:r>
            <a:endParaRPr lang="en-US" sz="2800" dirty="0" smtClean="0"/>
          </a:p>
          <a:p>
            <a:pPr lvl="3">
              <a:lnSpc>
                <a:spcPct val="90000"/>
              </a:lnSpc>
            </a:pPr>
            <a:r>
              <a:rPr lang="en-US" sz="2400" dirty="0" smtClean="0"/>
              <a:t>Extend from common extensor origin to extensor expansions of  fingers</a:t>
            </a:r>
            <a:endParaRPr lang="en-US" sz="2400" dirty="0" smtClean="0"/>
          </a:p>
          <a:p>
            <a:pPr lvl="3">
              <a:lnSpc>
                <a:spcPct val="90000"/>
              </a:lnSpc>
            </a:pPr>
            <a:r>
              <a:rPr lang="en-US" sz="2400" dirty="0" smtClean="0"/>
              <a:t>They extends fingers at metacarpophalangeal and interphalangeal joints</a:t>
            </a:r>
            <a:endParaRPr lang="en-US" sz="2400" dirty="0" smtClean="0"/>
          </a:p>
          <a:p>
            <a:pPr lvl="1">
              <a:lnSpc>
                <a:spcPct val="90000"/>
              </a:lnSpc>
            </a:pPr>
            <a:r>
              <a:rPr lang="en-US" b="1" dirty="0" smtClean="0">
                <a:solidFill>
                  <a:srgbClr val="C00000"/>
                </a:solidFill>
              </a:rPr>
              <a:t>Extensor carpi ulnaris</a:t>
            </a:r>
            <a:r>
              <a:rPr lang="en-US" sz="1600" b="1" dirty="0" smtClean="0">
                <a:solidFill>
                  <a:srgbClr val="C00000"/>
                </a:solidFill>
              </a:rPr>
              <a:t> </a:t>
            </a:r>
            <a:r>
              <a:rPr lang="en-US" sz="2200" b="1" dirty="0" smtClean="0">
                <a:solidFill>
                  <a:srgbClr val="C00000"/>
                </a:solidFill>
              </a:rPr>
              <a:t>muscle </a:t>
            </a:r>
            <a:endParaRPr lang="en-US" sz="1600" b="1" dirty="0" smtClean="0">
              <a:solidFill>
                <a:srgbClr val="C00000"/>
              </a:solidFill>
            </a:endParaRPr>
          </a:p>
          <a:p>
            <a:pPr lvl="3">
              <a:lnSpc>
                <a:spcPct val="90000"/>
              </a:lnSpc>
            </a:pPr>
            <a:r>
              <a:rPr lang="en-US" dirty="0" smtClean="0"/>
              <a:t>Has common attachment with above </a:t>
            </a:r>
            <a:endParaRPr lang="en-US" dirty="0" smtClean="0"/>
          </a:p>
          <a:p>
            <a:pPr lvl="3">
              <a:lnSpc>
                <a:spcPct val="90000"/>
              </a:lnSpc>
            </a:pPr>
            <a:r>
              <a:rPr lang="en-US" dirty="0" smtClean="0"/>
              <a:t>It  extend and abduct hand at wrist joint</a:t>
            </a:r>
            <a:endParaRPr lang="en-US" dirty="0" smtClean="0"/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buNone/>
            </a:pPr>
            <a:endParaRPr 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C2EBC-DDA1-4A2A-ACC5-7BE387FC6DEE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8610600" cy="6324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             Deep layer </a:t>
            </a:r>
            <a:endParaRPr lang="en-US" sz="3200" b="1" dirty="0" smtClean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rgbClr val="0070C0"/>
                </a:solidFill>
              </a:rPr>
              <a:t>Supinator </a:t>
            </a:r>
            <a:endParaRPr lang="en-US" sz="2800" b="1" dirty="0" smtClean="0">
              <a:solidFill>
                <a:srgbClr val="0070C0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Extend from common origin to proximal  3</a:t>
            </a:r>
            <a:r>
              <a:rPr lang="en-US" baseline="30000" dirty="0" smtClean="0"/>
              <a:t>rd</a:t>
            </a:r>
            <a:r>
              <a:rPr lang="en-US" dirty="0" smtClean="0"/>
              <a:t> of radius 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Supinator of the forearm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rgbClr val="0070C0"/>
                </a:solidFill>
              </a:rPr>
              <a:t>Outcropping muscles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rgbClr val="C00000"/>
                </a:solidFill>
              </a:rPr>
              <a:t>Abductor pollicis longus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rgbClr val="C00000"/>
                </a:solidFill>
              </a:rPr>
              <a:t>Extensor pollicis longus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rgbClr val="C00000"/>
                </a:solidFill>
              </a:rPr>
              <a:t>Extensor pollicis brevis</a:t>
            </a:r>
            <a:endParaRPr lang="en-US" dirty="0" smtClean="0"/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400" dirty="0" smtClean="0"/>
              <a:t>They extend from the posterior surface of ulna and radius up to phalanx of the thumb </a:t>
            </a:r>
            <a:endParaRPr lang="en-US" sz="2400" dirty="0" smtClean="0"/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400" dirty="0" smtClean="0"/>
              <a:t>Are extensor and abductor of the phalanx of the thumb 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C00000"/>
                </a:solidFill>
              </a:rPr>
              <a:t>Extensor indicis </a:t>
            </a:r>
            <a:endParaRPr lang="en-US" sz="2400" b="1" dirty="0" smtClean="0">
              <a:solidFill>
                <a:srgbClr val="C00000"/>
              </a:solidFill>
            </a:endParaRP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400" dirty="0" smtClean="0"/>
              <a:t>It covers the area b/n distal third of ulna to extensor expansion of 2nd finger ; it extends 2nd finger =  “</a:t>
            </a:r>
            <a:r>
              <a:rPr lang="en-US" sz="2400" b="1" dirty="0" smtClean="0">
                <a:solidFill>
                  <a:srgbClr val="C00000"/>
                </a:solidFill>
              </a:rPr>
              <a:t>pointing position</a:t>
            </a:r>
            <a:r>
              <a:rPr lang="en-US" sz="2400" dirty="0" smtClean="0"/>
              <a:t>”  </a:t>
            </a:r>
            <a:endParaRPr 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2B792-03FE-4367-9417-E130325E6B99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2079885" y="1447800"/>
            <a:ext cx="5441429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9CDD1-F176-4EA6-BD2A-D5E1C9ED1D8B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3505200" cy="6324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  <a:latin typeface="Aharoni" pitchFamily="2" charset="-79"/>
                <a:cs typeface="Aharoni" pitchFamily="2" charset="-79"/>
              </a:rPr>
              <a:t>Anatomical snuff box  </a:t>
            </a:r>
            <a:endParaRPr lang="en-US" sz="2800" b="1" dirty="0" smtClean="0">
              <a:solidFill>
                <a:srgbClr val="C00000"/>
              </a:solidFill>
              <a:latin typeface="Aharoni" pitchFamily="2" charset="-79"/>
              <a:cs typeface="Aharoni" pitchFamily="2" charset="-79"/>
            </a:endParaRPr>
          </a:p>
          <a:p>
            <a:r>
              <a:rPr lang="en-US" dirty="0" smtClean="0"/>
              <a:t>A triangular shallow depression on the lateral aspect of the wrist when the thumb is extended fully</a:t>
            </a:r>
            <a:endParaRPr lang="en-US" dirty="0" smtClean="0"/>
          </a:p>
          <a:p>
            <a:r>
              <a:rPr lang="en-US" dirty="0" smtClean="0"/>
              <a:t>The tendons of the </a:t>
            </a:r>
            <a:r>
              <a:rPr lang="en-US" b="1" dirty="0" smtClean="0">
                <a:solidFill>
                  <a:srgbClr val="C00000"/>
                </a:solidFill>
              </a:rPr>
              <a:t>abductor pollicis longus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C00000"/>
                </a:solidFill>
              </a:rPr>
              <a:t>extensor pollicis brevis</a:t>
            </a:r>
            <a:r>
              <a:rPr lang="en-US" dirty="0" smtClean="0"/>
              <a:t> bound anatomical snuff box laterally, and tendon of </a:t>
            </a:r>
            <a:r>
              <a:rPr lang="en-US" b="1" dirty="0" smtClean="0">
                <a:solidFill>
                  <a:srgbClr val="C00000"/>
                </a:solidFill>
              </a:rPr>
              <a:t>extensor pollicis longus </a:t>
            </a:r>
            <a:r>
              <a:rPr lang="en-US" dirty="0" smtClean="0"/>
              <a:t>bounds it medially</a:t>
            </a: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Radial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artery</a:t>
            </a:r>
            <a:r>
              <a:rPr lang="en-US" i="1" dirty="0" smtClean="0"/>
              <a:t> </a:t>
            </a:r>
            <a:r>
              <a:rPr lang="en-US" dirty="0" smtClean="0"/>
              <a:t>lies on the floor of the snuffbox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886200" y="685800"/>
            <a:ext cx="5257799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0413-EEE9-4655-B9BF-5AF01E060232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4038600" cy="63246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3200" b="1" dirty="0" smtClean="0">
                <a:solidFill>
                  <a:srgbClr val="FF0000"/>
                </a:solidFill>
              </a:rPr>
              <a:t>                        The hand</a:t>
            </a:r>
            <a:endParaRPr lang="en-US" sz="3200" b="1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 smtClean="0">
                <a:solidFill>
                  <a:srgbClr val="C00000"/>
                </a:solidFill>
              </a:rPr>
              <a:t>Fascia of palm:- </a:t>
            </a:r>
            <a:endParaRPr lang="en-US" sz="3200" b="1" dirty="0" smtClean="0">
              <a:solidFill>
                <a:srgbClr val="C00000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US" sz="2400" b="1" dirty="0" smtClean="0"/>
              <a:t>Palmar aponeurosis</a:t>
            </a:r>
            <a:endParaRPr lang="en-US" sz="2400" b="1" dirty="0" smtClean="0"/>
          </a:p>
          <a:p>
            <a:pPr lvl="3">
              <a:lnSpc>
                <a:spcPct val="90000"/>
              </a:lnSpc>
            </a:pPr>
            <a:r>
              <a:rPr lang="en-US" sz="2400" dirty="0" smtClean="0"/>
              <a:t>Strong condensation of  parts of the deep fascia of the palm</a:t>
            </a:r>
            <a:endParaRPr lang="en-US" sz="2400" dirty="0" smtClean="0"/>
          </a:p>
          <a:p>
            <a:pPr lvl="3">
              <a:lnSpc>
                <a:spcPct val="90000"/>
              </a:lnSpc>
            </a:pPr>
            <a:r>
              <a:rPr lang="en-US" sz="2400" dirty="0" smtClean="0"/>
              <a:t>Covers the soft tissues and overlies the flexor tendons</a:t>
            </a:r>
            <a:endParaRPr lang="en-US" sz="2400" dirty="0" smtClean="0"/>
          </a:p>
          <a:p>
            <a:pPr lvl="3">
              <a:lnSpc>
                <a:spcPct val="90000"/>
              </a:lnSpc>
            </a:pPr>
            <a:r>
              <a:rPr lang="en-US" sz="2400" dirty="0" smtClean="0"/>
              <a:t>Apex is continuous with the flexor retinaculum and palmaris longus tendon</a:t>
            </a:r>
            <a:endParaRPr lang="en-US" sz="2400" dirty="0" smtClean="0"/>
          </a:p>
          <a:p>
            <a:pPr lvl="3">
              <a:lnSpc>
                <a:spcPct val="90000"/>
              </a:lnSpc>
            </a:pPr>
            <a:r>
              <a:rPr lang="en-US" sz="2400" dirty="0" smtClean="0"/>
              <a:t>Four longitudinal digital bands radiate from the apex and attach distally to the bases of the proximal phalanges</a:t>
            </a:r>
            <a:endParaRPr lang="en-US" sz="2400" dirty="0" smtClean="0"/>
          </a:p>
          <a:p>
            <a:pPr>
              <a:buNone/>
            </a:pPr>
            <a:endParaRPr lang="en-US" sz="3200" b="1" dirty="0">
              <a:solidFill>
                <a:srgbClr val="FF0000"/>
              </a:solidFill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267200" y="1219200"/>
            <a:ext cx="48768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371600"/>
            <a:ext cx="4191000" cy="469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41829-7C49-4E5E-9269-35FE5A0FBC8C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8610600" cy="6324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 smtClean="0">
                <a:solidFill>
                  <a:srgbClr val="FF0000"/>
                </a:solidFill>
              </a:rPr>
              <a:t>      Flexor retinaculum </a:t>
            </a:r>
            <a:endParaRPr lang="en-US" sz="3200" b="1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dirty="0" smtClean="0"/>
              <a:t>Fibrous band covering anterior concavity of carpus and converts it into a </a:t>
            </a:r>
            <a:r>
              <a:rPr lang="en-US" sz="2800" b="1" dirty="0" smtClean="0">
                <a:solidFill>
                  <a:srgbClr val="FF0000"/>
                </a:solidFill>
              </a:rPr>
              <a:t>carpal tunnel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dirty="0" smtClean="0"/>
              <a:t>Attached in to medially </a:t>
            </a:r>
            <a:r>
              <a:rPr lang="en-US" dirty="0" smtClean="0"/>
              <a:t>to </a:t>
            </a:r>
            <a:r>
              <a:rPr lang="en-US" b="1" dirty="0" smtClean="0">
                <a:solidFill>
                  <a:srgbClr val="C00000"/>
                </a:solidFill>
              </a:rPr>
              <a:t>pisiform and hook of hamate and </a:t>
            </a:r>
            <a:r>
              <a:rPr lang="en-US" dirty="0" smtClean="0"/>
              <a:t>l</a:t>
            </a:r>
            <a:r>
              <a:rPr lang="en-US" sz="2800" dirty="0" smtClean="0"/>
              <a:t>aterally </a:t>
            </a:r>
            <a:r>
              <a:rPr lang="en-US" dirty="0" smtClean="0"/>
              <a:t>to </a:t>
            </a:r>
            <a:r>
              <a:rPr lang="en-US" b="1" dirty="0" smtClean="0">
                <a:solidFill>
                  <a:srgbClr val="C00000"/>
                </a:solidFill>
              </a:rPr>
              <a:t>scaphoid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trapezium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dirty="0" smtClean="0"/>
              <a:t>Relations </a:t>
            </a:r>
            <a:endParaRPr lang="en-US" sz="2800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Structures passing </a:t>
            </a:r>
            <a:r>
              <a:rPr lang="en-US" b="1" dirty="0" smtClean="0">
                <a:solidFill>
                  <a:srgbClr val="C00000"/>
                </a:solidFill>
              </a:rPr>
              <a:t>superficial</a:t>
            </a:r>
            <a:r>
              <a:rPr lang="en-US" dirty="0" smtClean="0"/>
              <a:t> to the retinaculum: </a:t>
            </a:r>
            <a:r>
              <a:rPr lang="en-US" b="1" dirty="0" smtClean="0">
                <a:solidFill>
                  <a:srgbClr val="C00000"/>
                </a:solidFill>
              </a:rPr>
              <a:t>tendon of palmaris longus, palmar cutaneous of medial and ulnar nerves, ulnar vessels and ulnar nerve</a:t>
            </a:r>
            <a:endParaRPr lang="en-US" b="1" dirty="0" smtClean="0">
              <a:solidFill>
                <a:srgbClr val="C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 smtClean="0"/>
              <a:t>Structures passing </a:t>
            </a:r>
            <a:r>
              <a:rPr lang="en-US" sz="2800" b="1" dirty="0" smtClean="0">
                <a:solidFill>
                  <a:srgbClr val="C00000"/>
                </a:solidFill>
              </a:rPr>
              <a:t>deep</a:t>
            </a:r>
            <a:r>
              <a:rPr lang="en-US" sz="2800" dirty="0" smtClean="0"/>
              <a:t> </a:t>
            </a:r>
            <a:r>
              <a:rPr lang="en-US" dirty="0" smtClean="0"/>
              <a:t>to the retinaculum: </a:t>
            </a:r>
            <a:r>
              <a:rPr lang="en-US" b="1" dirty="0" smtClean="0">
                <a:solidFill>
                  <a:srgbClr val="C00000"/>
                </a:solidFill>
              </a:rPr>
              <a:t>medial nerve, tendons of flexor digitorum superficialis, profundus, flexor pollicis longus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11FD0-C1F2-47E5-AA64-97964C875F72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28600" y="2438400"/>
            <a:ext cx="8740986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381000" y="228600"/>
            <a:ext cx="733963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 Carpal Tunnel Syndrome:- </a:t>
            </a:r>
            <a:endParaRPr lang="en-US" sz="2400" b="1" dirty="0" smtClean="0">
              <a:solidFill>
                <a:srgbClr val="C0000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prstClr val="black"/>
                </a:solidFill>
              </a:rPr>
              <a:t>Reduces the size of the carpal tunnel</a:t>
            </a:r>
            <a:endParaRPr lang="en-US" sz="2400" b="1" dirty="0" smtClean="0">
              <a:solidFill>
                <a:srgbClr val="C0000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rgbClr val="C00000"/>
                </a:solidFill>
              </a:rPr>
              <a:t>Median nerve </a:t>
            </a:r>
            <a:r>
              <a:rPr lang="en-US" sz="2400" dirty="0" smtClean="0">
                <a:solidFill>
                  <a:prstClr val="black"/>
                </a:solidFill>
              </a:rPr>
              <a:t>is the mostly affected </a:t>
            </a:r>
            <a:endParaRPr lang="en-US" sz="2400" dirty="0" smtClean="0">
              <a:solidFill>
                <a:prstClr val="black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C00000"/>
                </a:solidFill>
              </a:rPr>
              <a:t>Progressive loss of coordination and strength in the thumb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6510E-50B4-4914-81A6-4E65A51B5B3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52400"/>
            <a:ext cx="4572000" cy="63246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   Muscles of the hand </a:t>
            </a:r>
            <a:endParaRPr lang="en-US" sz="3200" b="1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The intrinsic muscles of the hand are located in five compartments</a:t>
            </a:r>
            <a:endParaRPr lang="en-US" dirty="0" smtClean="0"/>
          </a:p>
          <a:p>
            <a:pPr lvl="1"/>
            <a:r>
              <a:rPr lang="en-US" sz="2800" b="1" dirty="0" smtClean="0"/>
              <a:t>Thenar muscles </a:t>
            </a:r>
            <a:r>
              <a:rPr lang="en-US" dirty="0" smtClean="0"/>
              <a:t>in thenar compartment: abductor pollicis brevis, flexor pollicis brevis, and opponens pollicis </a:t>
            </a:r>
            <a:endParaRPr lang="en-US" dirty="0" smtClean="0"/>
          </a:p>
          <a:p>
            <a:pPr lvl="1"/>
            <a:r>
              <a:rPr lang="en-US" sz="2800" b="1" dirty="0" smtClean="0"/>
              <a:t>Hypothenar muscles </a:t>
            </a:r>
            <a:r>
              <a:rPr lang="en-US" dirty="0" smtClean="0"/>
              <a:t>in hypothenar compartment: abductor digiti minimi, flexor digiti minimi brevis and opponens digiti minimi</a:t>
            </a:r>
            <a:endParaRPr lang="en-US" dirty="0" smtClean="0"/>
          </a:p>
          <a:p>
            <a:pPr lvl="1"/>
            <a:r>
              <a:rPr lang="en-US" sz="2800" b="1" dirty="0" smtClean="0"/>
              <a:t>Adductor pollici</a:t>
            </a:r>
            <a:r>
              <a:rPr lang="en-US" dirty="0" smtClean="0"/>
              <a:t>s in adductor compartment</a:t>
            </a:r>
            <a:endParaRPr lang="en-US" dirty="0" smtClean="0"/>
          </a:p>
          <a:p>
            <a:pPr lvl="1"/>
            <a:r>
              <a:rPr lang="en-US" sz="2800" b="1" dirty="0" smtClean="0"/>
              <a:t>Lumbricals</a:t>
            </a:r>
            <a:r>
              <a:rPr lang="en-US" dirty="0" smtClean="0"/>
              <a:t> in central compartment</a:t>
            </a:r>
            <a:endParaRPr lang="en-US" dirty="0" smtClean="0"/>
          </a:p>
          <a:p>
            <a:pPr lvl="1"/>
            <a:r>
              <a:rPr lang="en-US" sz="2800" b="1" dirty="0" smtClean="0"/>
              <a:t>Interossei </a:t>
            </a:r>
            <a:r>
              <a:rPr lang="en-US" dirty="0" smtClean="0"/>
              <a:t>in interosseous compartment</a:t>
            </a:r>
            <a:endParaRPr lang="en-US" dirty="0" smtClean="0"/>
          </a:p>
          <a:p>
            <a:pPr>
              <a:buNone/>
            </a:pPr>
            <a:r>
              <a:rPr lang="en-US" sz="3200" dirty="0" smtClean="0"/>
              <a:t> </a:t>
            </a:r>
            <a:endParaRPr lang="en-US" sz="32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48200" y="1295400"/>
            <a:ext cx="4139184" cy="3596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5342-DE27-4C0B-A395-815830450557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8610600" cy="6324600"/>
          </a:xfrm>
        </p:spPr>
        <p:txBody>
          <a:bodyPr/>
          <a:lstStyle/>
          <a:p>
            <a:pPr marL="274320" lvl="1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800" b="1" dirty="0" smtClean="0"/>
              <a:t>Thenar muscles</a:t>
            </a:r>
            <a:endParaRPr lang="en-US" sz="2800" b="1" dirty="0" smtClean="0"/>
          </a:p>
          <a:p>
            <a:pPr marL="548640" lvl="2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400" dirty="0" smtClean="0"/>
              <a:t>Abductor pollicis brevis, flexor pollicis brevis, and opponens pollicis </a:t>
            </a:r>
            <a:endParaRPr lang="en-US" sz="2400" dirty="0" smtClean="0"/>
          </a:p>
          <a:p>
            <a:pPr marL="548640" lvl="2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400" dirty="0" smtClean="0"/>
              <a:t>Served by recurrent branch of </a:t>
            </a:r>
            <a:r>
              <a:rPr lang="en-US" sz="2400" b="1" dirty="0" smtClean="0">
                <a:solidFill>
                  <a:srgbClr val="FF0000"/>
                </a:solidFill>
              </a:rPr>
              <a:t>median nerve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 marL="548640" lvl="2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400" dirty="0" smtClean="0"/>
              <a:t>They oppose abduct and flex the thumb</a:t>
            </a:r>
            <a:endParaRPr lang="en-US" sz="2400" dirty="0" smtClean="0"/>
          </a:p>
          <a:p>
            <a:r>
              <a:rPr lang="en-US" sz="2800" b="1" dirty="0" smtClean="0">
                <a:solidFill>
                  <a:srgbClr val="C00000"/>
                </a:solidFill>
              </a:rPr>
              <a:t>Adductor pollicis</a:t>
            </a:r>
            <a:endParaRPr lang="en-US" sz="2800" b="1" dirty="0" smtClean="0">
              <a:solidFill>
                <a:srgbClr val="C00000"/>
              </a:solidFill>
            </a:endParaRPr>
          </a:p>
          <a:p>
            <a:pPr lvl="1"/>
            <a:r>
              <a:rPr lang="en-US" b="1" dirty="0" smtClean="0"/>
              <a:t>It adduct the thumb </a:t>
            </a:r>
            <a:endParaRPr lang="en-US" b="1" dirty="0" smtClean="0"/>
          </a:p>
          <a:p>
            <a:pPr lvl="1"/>
            <a:r>
              <a:rPr lang="en-US" sz="2000" b="1" dirty="0" smtClean="0"/>
              <a:t>Innervated by deep branch of </a:t>
            </a:r>
            <a:r>
              <a:rPr lang="en-US" sz="2000" dirty="0" smtClean="0">
                <a:solidFill>
                  <a:srgbClr val="FF0000"/>
                </a:solidFill>
              </a:rPr>
              <a:t>ulnar nerve </a:t>
            </a:r>
            <a:endParaRPr lang="en-US" sz="2000" b="1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486400" y="2217761"/>
            <a:ext cx="3657600" cy="4640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5D736-8F9D-4884-A323-9125D3879DA2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8610600" cy="6324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CAFC-C3B2-4936-9FE5-7CCC4077A60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8610600" cy="6324600"/>
          </a:xfrm>
        </p:spPr>
        <p:txBody>
          <a:bodyPr/>
          <a:lstStyle/>
          <a:p>
            <a:pPr>
              <a:buNone/>
            </a:pPr>
            <a:r>
              <a:rPr lang="en-US" sz="24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Hypothenar muscles</a:t>
            </a:r>
            <a:endParaRPr lang="en-US" sz="2400" b="1" dirty="0" smtClean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Abductor digiti minimi, flexor digiti minimi brevis and opponens digiti minimi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Supplied by deep branch of the </a:t>
            </a:r>
            <a:r>
              <a:rPr lang="en-US" sz="2400" b="1" dirty="0" smtClean="0">
                <a:solidFill>
                  <a:srgbClr val="FF0000"/>
                </a:solidFill>
              </a:rPr>
              <a:t>ulnar nerve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Act on the smallest digit (abduct, flex and oppose)</a:t>
            </a:r>
            <a:endParaRPr lang="en-US" sz="2400" dirty="0" smtClean="0"/>
          </a:p>
          <a:p>
            <a:pPr>
              <a:buNone/>
            </a:pPr>
            <a:endParaRPr lang="en-US" sz="2400" b="1" dirty="0" smtClean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>
              <a:buNone/>
            </a:pPr>
            <a:endParaRPr lang="en-US" sz="2400" b="1" dirty="0" smtClean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>
              <a:buNone/>
            </a:pP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362200" y="2286000"/>
            <a:ext cx="6096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8DB39-39AD-43CF-9F26-76665CF8F553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4038600" cy="632460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sz="3600" b="1" dirty="0" smtClean="0">
                <a:solidFill>
                  <a:srgbClr val="C00000"/>
                </a:solidFill>
              </a:rPr>
              <a:t>Lumbricals- </a:t>
            </a:r>
            <a:r>
              <a:rPr lang="en-US" b="1" dirty="0" smtClean="0">
                <a:solidFill>
                  <a:srgbClr val="C00000"/>
                </a:solidFill>
              </a:rPr>
              <a:t>1st to 4th</a:t>
            </a:r>
            <a:r>
              <a:rPr lang="en-US" sz="2800" b="1" dirty="0" smtClean="0">
                <a:solidFill>
                  <a:srgbClr val="C00000"/>
                </a:solidFill>
              </a:rPr>
              <a:t> </a:t>
            </a:r>
            <a:endParaRPr lang="en-US" sz="2800" b="1" dirty="0" smtClean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b="1" dirty="0" smtClean="0"/>
              <a:t>Attached in to </a:t>
            </a:r>
            <a:r>
              <a:rPr lang="en-US" sz="2800" dirty="0" smtClean="0"/>
              <a:t>2nd to 5th fingers and metacarpal bones </a:t>
            </a: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b="1" dirty="0" smtClean="0"/>
              <a:t>Innervation: </a:t>
            </a:r>
            <a:endParaRPr lang="en-US" sz="2800" b="1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1st and 2nd: </a:t>
            </a:r>
            <a:r>
              <a:rPr lang="en-US" b="1" dirty="0" smtClean="0">
                <a:solidFill>
                  <a:srgbClr val="FF0000"/>
                </a:solidFill>
              </a:rPr>
              <a:t>Median nerve  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 smtClean="0"/>
              <a:t>3rd and 4th: Deep branch of </a:t>
            </a:r>
            <a:r>
              <a:rPr lang="en-US" dirty="0" smtClean="0">
                <a:solidFill>
                  <a:srgbClr val="FF0000"/>
                </a:solidFill>
              </a:rPr>
              <a:t>ulnar nerve  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b="1" dirty="0" smtClean="0"/>
              <a:t>Action</a:t>
            </a:r>
            <a:r>
              <a:rPr lang="en-US" sz="2800" dirty="0" smtClean="0"/>
              <a:t>: </a:t>
            </a:r>
            <a:r>
              <a:rPr lang="en-US" sz="2400" b="1" dirty="0" smtClean="0">
                <a:solidFill>
                  <a:srgbClr val="FF0000"/>
                </a:solidFill>
              </a:rPr>
              <a:t>Flex</a:t>
            </a:r>
            <a:r>
              <a:rPr lang="en-US" sz="2400" dirty="0" smtClean="0"/>
              <a:t> metacarpophalangeal joints; </a:t>
            </a:r>
            <a:r>
              <a:rPr lang="en-US" sz="2400" b="1" dirty="0" smtClean="0">
                <a:solidFill>
                  <a:srgbClr val="FF0000"/>
                </a:solidFill>
              </a:rPr>
              <a:t>extend</a:t>
            </a:r>
            <a:r>
              <a:rPr lang="en-US" sz="2400" dirty="0" smtClean="0"/>
              <a:t> interphalangeal joints of 2nd - 5th fingers </a:t>
            </a:r>
            <a:endParaRPr lang="en-US" sz="2800" dirty="0" smtClean="0"/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886325" y="533400"/>
            <a:ext cx="4257675" cy="6024563"/>
          </a:xfrm>
          <a:prstGeom prst="rect">
            <a:avLst/>
          </a:prstGeo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F9569-C881-4556-BB47-68EFCEEDB1C0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8610600" cy="6324600"/>
          </a:xfrm>
        </p:spPr>
        <p:txBody>
          <a:bodyPr/>
          <a:lstStyle/>
          <a:p>
            <a:pPr>
              <a:buNone/>
            </a:pPr>
            <a:endParaRPr lang="en-US" sz="3600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3600" dirty="0" smtClean="0">
                <a:solidFill>
                  <a:srgbClr val="0070C0"/>
                </a:solidFill>
              </a:rPr>
              <a:t>Interossei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endParaRPr lang="en-US" dirty="0" smtClean="0">
              <a:solidFill>
                <a:srgbClr val="0070C0"/>
              </a:solidFill>
            </a:endParaRPr>
          </a:p>
          <a:p>
            <a:pPr lvl="1"/>
            <a:r>
              <a:rPr lang="en-US" sz="2800" b="1" dirty="0" smtClean="0"/>
              <a:t>Dorsal </a:t>
            </a:r>
            <a:endParaRPr lang="en-US" b="1" dirty="0" smtClean="0"/>
          </a:p>
          <a:p>
            <a:pPr lvl="3"/>
            <a:r>
              <a:rPr lang="en-US" sz="2400" b="1" dirty="0" smtClean="0"/>
              <a:t>Attached to </a:t>
            </a:r>
            <a:r>
              <a:rPr lang="en-US" sz="2400" dirty="0" smtClean="0"/>
              <a:t>metacarpals and 2</a:t>
            </a:r>
            <a:r>
              <a:rPr lang="en-US" sz="2400" baseline="30000" dirty="0" smtClean="0"/>
              <a:t>nd</a:t>
            </a:r>
            <a:r>
              <a:rPr lang="en-US" sz="2400" dirty="0" smtClean="0"/>
              <a:t>  to 4</a:t>
            </a:r>
            <a:r>
              <a:rPr lang="en-US" sz="2400" baseline="30000" dirty="0" smtClean="0"/>
              <a:t>th</a:t>
            </a:r>
            <a:r>
              <a:rPr lang="en-US" sz="2400" dirty="0" smtClean="0"/>
              <a:t>  fingers </a:t>
            </a:r>
            <a:endParaRPr lang="en-US" sz="2400" dirty="0" smtClean="0"/>
          </a:p>
          <a:p>
            <a:pPr lvl="3"/>
            <a:r>
              <a:rPr lang="en-US" sz="2400" b="1" dirty="0" smtClean="0"/>
              <a:t>Supplied by d</a:t>
            </a:r>
            <a:r>
              <a:rPr lang="en-US" sz="2400" dirty="0" smtClean="0"/>
              <a:t>eep branch of </a:t>
            </a:r>
            <a:r>
              <a:rPr lang="en-US" sz="2400" b="1" dirty="0" smtClean="0">
                <a:solidFill>
                  <a:srgbClr val="FF0000"/>
                </a:solidFill>
              </a:rPr>
              <a:t>ulnar nerve  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 lvl="3"/>
            <a:r>
              <a:rPr lang="en-US" sz="2400" b="1" dirty="0" smtClean="0">
                <a:solidFill>
                  <a:srgbClr val="FF0000"/>
                </a:solidFill>
              </a:rPr>
              <a:t>Abduct</a:t>
            </a:r>
            <a:r>
              <a:rPr lang="en-US" sz="2400" dirty="0" smtClean="0"/>
              <a:t> 2nd to 4th fingers</a:t>
            </a:r>
            <a:endParaRPr lang="en-US" sz="2400" dirty="0" smtClean="0"/>
          </a:p>
          <a:p>
            <a:pPr lvl="1">
              <a:lnSpc>
                <a:spcPct val="90000"/>
              </a:lnSpc>
            </a:pPr>
            <a:r>
              <a:rPr lang="en-US" sz="2800" b="1" dirty="0" smtClean="0">
                <a:solidFill>
                  <a:srgbClr val="0070C0"/>
                </a:solidFill>
              </a:rPr>
              <a:t>Palmar </a:t>
            </a:r>
            <a:endParaRPr lang="en-US" sz="2800" b="1" dirty="0" smtClean="0"/>
          </a:p>
          <a:p>
            <a:pPr lvl="3">
              <a:lnSpc>
                <a:spcPct val="90000"/>
              </a:lnSpc>
            </a:pPr>
            <a:r>
              <a:rPr lang="en-US" sz="2400" b="1" dirty="0" smtClean="0"/>
              <a:t>Attached on to </a:t>
            </a:r>
            <a:r>
              <a:rPr lang="en-US" sz="2400" dirty="0" smtClean="0"/>
              <a:t>2</a:t>
            </a:r>
            <a:r>
              <a:rPr lang="en-US" sz="2400" baseline="30000" dirty="0" smtClean="0"/>
              <a:t>nd</a:t>
            </a:r>
            <a:r>
              <a:rPr lang="en-US" sz="2400" dirty="0" smtClean="0"/>
              <a:t>, 4</a:t>
            </a:r>
            <a:r>
              <a:rPr lang="en-US" sz="2400" baseline="30000" dirty="0" smtClean="0"/>
              <a:t>th</a:t>
            </a:r>
            <a:r>
              <a:rPr lang="en-US" sz="2400" dirty="0" smtClean="0"/>
              <a:t>, and 5</a:t>
            </a:r>
            <a:r>
              <a:rPr lang="en-US" sz="2400" baseline="30000" dirty="0" smtClean="0"/>
              <a:t>th</a:t>
            </a:r>
            <a:r>
              <a:rPr lang="en-US" sz="2400" dirty="0" smtClean="0"/>
              <a:t>  metacarpals and fingers </a:t>
            </a:r>
            <a:endParaRPr lang="en-US" sz="2400" dirty="0" smtClean="0"/>
          </a:p>
          <a:p>
            <a:pPr lvl="3">
              <a:lnSpc>
                <a:spcPct val="90000"/>
              </a:lnSpc>
            </a:pPr>
            <a:r>
              <a:rPr lang="en-US" sz="2400" dirty="0" smtClean="0"/>
              <a:t>Supplied by deep branch of </a:t>
            </a:r>
            <a:r>
              <a:rPr lang="en-US" sz="2400" b="1" dirty="0" smtClean="0">
                <a:solidFill>
                  <a:srgbClr val="FF0000"/>
                </a:solidFill>
              </a:rPr>
              <a:t>ulnar nerve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 lvl="3">
              <a:lnSpc>
                <a:spcPct val="9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Adduct</a:t>
            </a:r>
            <a:r>
              <a:rPr lang="en-US" sz="2400" dirty="0" smtClean="0"/>
              <a:t> 2nd, 4th, and 5th fingers</a:t>
            </a:r>
            <a:endParaRPr lang="en-US" sz="24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19B21-DD70-451D-9468-BA43D85D230F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1741487" y="2219325"/>
            <a:ext cx="2095500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754687" y="2228850"/>
            <a:ext cx="210820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685800" y="1219200"/>
            <a:ext cx="31125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prstClr val="black"/>
                </a:solidFill>
              </a:rPr>
              <a:t>Dorsal interossei</a:t>
            </a:r>
            <a:endParaRPr lang="en-US" sz="3200" b="1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10200" y="1219200"/>
            <a:ext cx="32618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prstClr val="black"/>
                </a:solidFill>
              </a:rPr>
              <a:t>Palmar interossei </a:t>
            </a:r>
            <a:endParaRPr lang="en-US" sz="3200" b="1" dirty="0">
              <a:solidFill>
                <a:prstClr val="black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E969-C8D8-49AA-A5F3-A0EC85B39951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8C5C01-DD11-4FE3-89B0-8F06D9A87C17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32666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"/>
            <a:ext cx="8686800" cy="6400800"/>
          </a:xfrm>
        </p:spPr>
        <p:txBody>
          <a:bodyPr/>
          <a:lstStyle/>
          <a:p>
            <a:pPr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             Nerves of hand</a:t>
            </a:r>
            <a:endParaRPr lang="en-US" sz="3200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        Median nerve</a:t>
            </a:r>
            <a:r>
              <a:rPr lang="en-US" sz="2000" b="1" dirty="0" smtClean="0">
                <a:solidFill>
                  <a:srgbClr val="C00000"/>
                </a:solidFill>
              </a:rPr>
              <a:t> </a:t>
            </a:r>
            <a:endParaRPr lang="en-US" sz="2000" b="1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en-US" dirty="0" smtClean="0"/>
              <a:t>Enters the hand through carpal tunnel</a:t>
            </a:r>
            <a:endParaRPr lang="en-US" dirty="0" smtClean="0"/>
          </a:p>
          <a:p>
            <a:pPr eaLnBrk="1" hangingPunct="1"/>
            <a:r>
              <a:rPr lang="en-US" dirty="0" smtClean="0"/>
              <a:t>Supplies </a:t>
            </a:r>
            <a:endParaRPr lang="en-US" dirty="0" smtClean="0"/>
          </a:p>
          <a:p>
            <a:pPr lvl="1" eaLnBrk="1" hangingPunct="1"/>
            <a:r>
              <a:rPr lang="en-US" b="1" dirty="0" smtClean="0">
                <a:solidFill>
                  <a:srgbClr val="0000CC"/>
                </a:solidFill>
              </a:rPr>
              <a:t>Thenar muscles and the 1st and 2nd lumbricals</a:t>
            </a:r>
            <a:endParaRPr lang="en-US" b="1" dirty="0" smtClean="0">
              <a:solidFill>
                <a:srgbClr val="0000CC"/>
              </a:solidFill>
            </a:endParaRPr>
          </a:p>
          <a:p>
            <a:pPr lvl="1" eaLnBrk="1" hangingPunct="1"/>
            <a:r>
              <a:rPr lang="en-US" dirty="0" smtClean="0"/>
              <a:t>Skin  on the lateral palmar surface, the sides of the first three digits, the lateral half of the 4th digit, and the dorsum of the distal halves of these digits</a:t>
            </a:r>
            <a:endParaRPr lang="en-US" dirty="0" smtClean="0"/>
          </a:p>
          <a:p>
            <a:pPr lvl="1" eaLnBrk="1" hangingPunct="1">
              <a:buFontTx/>
              <a:buNone/>
            </a:pPr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657600" y="3429000"/>
            <a:ext cx="4400550" cy="3595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7633-4BB6-4082-93E3-6E80BE3EB9FE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838200" y="496229"/>
            <a:ext cx="7162800" cy="5852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FA613-0342-49DA-B539-DB4AEE1CE132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1F51D8-D0FF-4B10-8E23-CD34C2FA0AEF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327683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152400" y="228600"/>
            <a:ext cx="8763000" cy="6400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Ulnar nerve</a:t>
            </a:r>
            <a:r>
              <a:rPr lang="en-US" sz="1800" b="1" dirty="0" smtClean="0">
                <a:solidFill>
                  <a:srgbClr val="C00000"/>
                </a:solidFill>
              </a:rPr>
              <a:t> </a:t>
            </a:r>
            <a:endParaRPr lang="en-US" sz="1800" b="1" dirty="0" smtClean="0">
              <a:solidFill>
                <a:srgbClr val="C000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Leaves the forearm by emerging from </a:t>
            </a:r>
            <a:r>
              <a:rPr lang="en-US" sz="2800" dirty="0" smtClean="0">
                <a:solidFill>
                  <a:srgbClr val="C00000"/>
                </a:solidFill>
              </a:rPr>
              <a:t>deep to the tendon </a:t>
            </a:r>
            <a:r>
              <a:rPr lang="en-US" sz="2800" dirty="0" smtClean="0"/>
              <a:t>of the </a:t>
            </a:r>
            <a:r>
              <a:rPr lang="en-US" sz="2800" b="1" dirty="0" smtClean="0">
                <a:solidFill>
                  <a:srgbClr val="C00000"/>
                </a:solidFill>
              </a:rPr>
              <a:t>flexor carpi ulnaris</a:t>
            </a:r>
            <a:endParaRPr lang="en-US" sz="2800" b="1" dirty="0" smtClean="0">
              <a:solidFill>
                <a:srgbClr val="C000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Just proximal to the wrist, the ulnar nerve gives off </a:t>
            </a:r>
            <a:endParaRPr lang="en-US" sz="28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b="1" dirty="0" smtClean="0">
                <a:solidFill>
                  <a:srgbClr val="C00000"/>
                </a:solidFill>
              </a:rPr>
              <a:t>palmar</a:t>
            </a:r>
            <a:r>
              <a:rPr lang="en-US" b="1" i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cutaneous</a:t>
            </a:r>
            <a:r>
              <a:rPr lang="en-US" b="1" i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branch</a:t>
            </a:r>
            <a:r>
              <a:rPr lang="en-US" b="1" i="1" dirty="0" smtClean="0">
                <a:solidFill>
                  <a:srgbClr val="C00000"/>
                </a:solidFill>
              </a:rPr>
              <a:t> </a:t>
            </a:r>
            <a:endParaRPr lang="en-US" b="1" i="1" dirty="0" smtClean="0">
              <a:solidFill>
                <a:srgbClr val="C00000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dirty="0" smtClean="0"/>
              <a:t>supplies skin on the medial side of the palm</a:t>
            </a:r>
            <a:endParaRPr lang="en-US" dirty="0" smtClean="0"/>
          </a:p>
          <a:p>
            <a:pPr lvl="1" eaLnBrk="1" hangingPunct="1">
              <a:lnSpc>
                <a:spcPct val="80000"/>
              </a:lnSpc>
            </a:pPr>
            <a:r>
              <a:rPr lang="en-US" b="1" dirty="0" smtClean="0">
                <a:solidFill>
                  <a:srgbClr val="C00000"/>
                </a:solidFill>
              </a:rPr>
              <a:t>dorsal cutaneous branch</a:t>
            </a:r>
            <a:endParaRPr lang="en-US" b="1" dirty="0" smtClean="0">
              <a:solidFill>
                <a:srgbClr val="C00000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dirty="0" smtClean="0"/>
              <a:t>supplies the medial half of dorsum of the hand, the 5th finger, and the medial half of the 4th finger</a:t>
            </a:r>
            <a:endParaRPr lang="en-US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Ends at the flexor retinaculum by dividing into 2 branches </a:t>
            </a:r>
            <a:endParaRPr lang="en-US" sz="28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b="1" dirty="0" smtClean="0">
                <a:solidFill>
                  <a:srgbClr val="C00000"/>
                </a:solidFill>
              </a:rPr>
              <a:t>superficial branch</a:t>
            </a:r>
            <a:r>
              <a:rPr lang="en-US" dirty="0" smtClean="0"/>
              <a:t>:</a:t>
            </a:r>
            <a:r>
              <a:rPr lang="en-US" i="1" dirty="0" smtClean="0"/>
              <a:t> </a:t>
            </a:r>
            <a:r>
              <a:rPr lang="en-US" dirty="0" smtClean="0"/>
              <a:t>supplies anterior surface of medial one and a half fingers</a:t>
            </a:r>
            <a:endParaRPr lang="en-US" dirty="0" smtClean="0"/>
          </a:p>
          <a:p>
            <a:pPr lvl="1" eaLnBrk="1" hangingPunct="1">
              <a:lnSpc>
                <a:spcPct val="80000"/>
              </a:lnSpc>
            </a:pPr>
            <a:r>
              <a:rPr lang="en-US" b="1" dirty="0" smtClean="0">
                <a:solidFill>
                  <a:srgbClr val="C00000"/>
                </a:solidFill>
              </a:rPr>
              <a:t>deep branch</a:t>
            </a:r>
            <a:r>
              <a:rPr lang="en-US" dirty="0" smtClean="0"/>
              <a:t>: supplies </a:t>
            </a:r>
            <a:r>
              <a:rPr lang="en-US" b="1" dirty="0" smtClean="0">
                <a:solidFill>
                  <a:srgbClr val="0000CC"/>
                </a:solidFill>
              </a:rPr>
              <a:t>hypothenar</a:t>
            </a:r>
            <a:r>
              <a:rPr lang="en-US" dirty="0" smtClean="0"/>
              <a:t> muscles, </a:t>
            </a:r>
            <a:r>
              <a:rPr lang="en-US" dirty="0" smtClean="0">
                <a:solidFill>
                  <a:srgbClr val="0000CC"/>
                </a:solidFill>
              </a:rPr>
              <a:t>medial two lumbricals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00CC"/>
                </a:solidFill>
              </a:rPr>
              <a:t>adductor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CC"/>
                </a:solidFill>
              </a:rPr>
              <a:t>pollicis</a:t>
            </a:r>
            <a:r>
              <a:rPr lang="en-US" dirty="0" smtClean="0"/>
              <a:t>, and all the </a:t>
            </a:r>
            <a:r>
              <a:rPr lang="en-US" dirty="0" smtClean="0">
                <a:solidFill>
                  <a:srgbClr val="0000CC"/>
                </a:solidFill>
              </a:rPr>
              <a:t>interossei </a:t>
            </a:r>
            <a:endParaRPr lang="en-US" dirty="0" smtClean="0">
              <a:solidFill>
                <a:srgbClr val="0000CC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en-US" sz="28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7E142-E5D8-45CA-A701-6CD9704C160F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E4896B-73E9-49A2-A7B1-4C7F3D8AFF1D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328707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04800" y="228600"/>
            <a:ext cx="8610600" cy="6477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Radial nerve</a:t>
            </a:r>
            <a:r>
              <a:rPr lang="en-US" sz="2000" b="1" dirty="0" smtClean="0">
                <a:solidFill>
                  <a:srgbClr val="C00000"/>
                </a:solidFill>
              </a:rPr>
              <a:t> </a:t>
            </a:r>
            <a:endParaRPr lang="en-US" sz="2000" b="1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en-US" dirty="0" smtClean="0"/>
              <a:t>Supplies no hand muscles</a:t>
            </a:r>
            <a:endParaRPr lang="en-US" dirty="0" smtClean="0"/>
          </a:p>
          <a:p>
            <a:pPr eaLnBrk="1" hangingPunct="1"/>
            <a:r>
              <a:rPr lang="en-US" dirty="0" smtClean="0"/>
              <a:t>Supply the skin and fascia over the lateral two thirds of the dorsum of the hand, the thumb, and the proximal parts of the lateral two and a half digits</a:t>
            </a:r>
            <a:endParaRPr lang="en-US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dirty="0" smtClean="0"/>
          </a:p>
        </p:txBody>
      </p:sp>
      <p:pic>
        <p:nvPicPr>
          <p:cNvPr id="328708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14400" y="2438400"/>
            <a:ext cx="7781925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ECA3-0E34-4BFF-A06F-E55C425841EF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4114800" cy="6324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Arteries of the upper limb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 </a:t>
            </a:r>
            <a:r>
              <a:rPr lang="en-US" sz="3200" b="1" dirty="0" smtClean="0">
                <a:solidFill>
                  <a:srgbClr val="002060"/>
                </a:solidFill>
              </a:rPr>
              <a:t>Brachial artery</a:t>
            </a:r>
            <a:endParaRPr lang="en-US" sz="3200" b="1" dirty="0" smtClean="0">
              <a:solidFill>
                <a:srgbClr val="002060"/>
              </a:solidFill>
            </a:endParaRPr>
          </a:p>
          <a:p>
            <a:r>
              <a:rPr lang="en-US" dirty="0" smtClean="0"/>
              <a:t>Provides the main arterial supply to the arm </a:t>
            </a:r>
            <a:endParaRPr lang="en-US" dirty="0" smtClean="0"/>
          </a:p>
          <a:p>
            <a:r>
              <a:rPr lang="en-US" dirty="0" smtClean="0"/>
              <a:t>Is the continuation of the axillary artery</a:t>
            </a:r>
            <a:endParaRPr lang="en-US" dirty="0" smtClean="0"/>
          </a:p>
          <a:p>
            <a:r>
              <a:rPr lang="en-US" dirty="0" smtClean="0"/>
              <a:t>Begins at the inferior border of teres major </a:t>
            </a:r>
            <a:endParaRPr lang="en-US" dirty="0" smtClean="0"/>
          </a:p>
          <a:p>
            <a:r>
              <a:rPr lang="en-US" dirty="0" smtClean="0"/>
              <a:t>Ends in the cubital fossa opposite the </a:t>
            </a:r>
            <a:r>
              <a:rPr lang="en-US" dirty="0" smtClean="0">
                <a:solidFill>
                  <a:srgbClr val="0000CC"/>
                </a:solidFill>
              </a:rPr>
              <a:t>neck of the radius </a:t>
            </a:r>
            <a:r>
              <a:rPr lang="en-US" dirty="0" smtClean="0"/>
              <a:t>by dividing in to </a:t>
            </a:r>
            <a:r>
              <a:rPr lang="en-US" b="1" dirty="0" smtClean="0">
                <a:solidFill>
                  <a:srgbClr val="002060"/>
                </a:solidFill>
              </a:rPr>
              <a:t>radial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002060"/>
                </a:solidFill>
              </a:rPr>
              <a:t>ulnar</a:t>
            </a:r>
            <a:r>
              <a:rPr lang="en-US" dirty="0" smtClean="0"/>
              <a:t> arteries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360439" y="838200"/>
            <a:ext cx="4783561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1FE1-0FC2-494E-A0E6-870D03B3DF14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4114800" cy="6324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Arteries of the upper limb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 </a:t>
            </a:r>
            <a:r>
              <a:rPr lang="en-US" sz="3200" b="1" dirty="0" smtClean="0">
                <a:solidFill>
                  <a:srgbClr val="002060"/>
                </a:solidFill>
              </a:rPr>
              <a:t>Brachial artery</a:t>
            </a:r>
            <a:endParaRPr lang="en-US" sz="3200" b="1" dirty="0" smtClean="0">
              <a:solidFill>
                <a:srgbClr val="002060"/>
              </a:solidFill>
            </a:endParaRPr>
          </a:p>
          <a:p>
            <a:r>
              <a:rPr lang="en-US" sz="2800" b="1" dirty="0" smtClean="0"/>
              <a:t>Branches  </a:t>
            </a:r>
            <a:endParaRPr lang="en-US" sz="2800" b="1" dirty="0" smtClean="0"/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unnamed muscular branches</a:t>
            </a:r>
            <a:r>
              <a:rPr lang="en-US" i="1" dirty="0" smtClean="0">
                <a:solidFill>
                  <a:srgbClr val="002060"/>
                </a:solidFill>
              </a:rPr>
              <a:t> </a:t>
            </a:r>
            <a:endParaRPr lang="en-US" dirty="0" smtClean="0">
              <a:solidFill>
                <a:srgbClr val="002060"/>
              </a:solidFill>
            </a:endParaRP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humeral</a:t>
            </a:r>
            <a:r>
              <a:rPr lang="en-US" i="1" dirty="0" smtClean="0">
                <a:solidFill>
                  <a:srgbClr val="002060"/>
                </a:solidFill>
              </a:rPr>
              <a:t> </a:t>
            </a:r>
            <a:r>
              <a:rPr lang="en-US" dirty="0" smtClean="0">
                <a:solidFill>
                  <a:srgbClr val="002060"/>
                </a:solidFill>
              </a:rPr>
              <a:t>nutrient</a:t>
            </a:r>
            <a:r>
              <a:rPr lang="en-US" i="1" dirty="0" smtClean="0">
                <a:solidFill>
                  <a:srgbClr val="002060"/>
                </a:solidFill>
              </a:rPr>
              <a:t> </a:t>
            </a:r>
            <a:r>
              <a:rPr lang="en-US" dirty="0" smtClean="0">
                <a:solidFill>
                  <a:srgbClr val="002060"/>
                </a:solidFill>
              </a:rPr>
              <a:t>artery </a:t>
            </a:r>
            <a:endParaRPr lang="en-US" dirty="0" smtClean="0">
              <a:solidFill>
                <a:srgbClr val="002060"/>
              </a:solidFill>
            </a:endParaRP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deep artery of arm / profunda brachi</a:t>
            </a:r>
            <a:endParaRPr lang="en-US" dirty="0" smtClean="0">
              <a:solidFill>
                <a:srgbClr val="002060"/>
              </a:solidFill>
            </a:endParaRP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superior and inferior ulnar collateral arteries</a:t>
            </a:r>
            <a:endParaRPr lang="en-US" dirty="0" smtClean="0">
              <a:solidFill>
                <a:srgbClr val="002060"/>
              </a:solidFill>
            </a:endParaRPr>
          </a:p>
          <a:p>
            <a:pPr lvl="1"/>
            <a:r>
              <a:rPr lang="en-US" b="1" dirty="0" smtClean="0">
                <a:solidFill>
                  <a:srgbClr val="002060"/>
                </a:solidFill>
              </a:rPr>
              <a:t>Radial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002060"/>
                </a:solidFill>
              </a:rPr>
              <a:t>ulnar</a:t>
            </a:r>
            <a:r>
              <a:rPr lang="en-US" dirty="0" smtClean="0"/>
              <a:t> arteries</a:t>
            </a:r>
            <a:endParaRPr lang="en-US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360439" y="838200"/>
            <a:ext cx="4783561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F1B57-42C4-47CC-BBC3-6B392EC8892C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4114800" cy="63246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b="1" dirty="0" smtClean="0">
                <a:solidFill>
                  <a:srgbClr val="FF0000"/>
                </a:solidFill>
              </a:rPr>
              <a:t>Artery of the forearm </a:t>
            </a:r>
            <a:endParaRPr lang="en-US" b="1" dirty="0" smtClean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800" dirty="0" smtClean="0">
                <a:solidFill>
                  <a:srgbClr val="FF0000"/>
                </a:solidFill>
              </a:rPr>
              <a:t>Ulnar aa- </a:t>
            </a:r>
            <a:r>
              <a:rPr lang="en-US" sz="2800" dirty="0" smtClean="0"/>
              <a:t>from brachial aa</a:t>
            </a:r>
            <a:endParaRPr lang="en-US" sz="2800" dirty="0" smtClean="0"/>
          </a:p>
          <a:p>
            <a:pPr>
              <a:lnSpc>
                <a:spcPct val="80000"/>
              </a:lnSpc>
            </a:pPr>
            <a:r>
              <a:rPr lang="en-US" sz="2800" dirty="0" smtClean="0"/>
              <a:t>Branches </a:t>
            </a:r>
            <a:endParaRPr lang="en-US" sz="2800" dirty="0" smtClean="0"/>
          </a:p>
          <a:p>
            <a:pPr lvl="1">
              <a:lnSpc>
                <a:spcPct val="80000"/>
              </a:lnSpc>
            </a:pPr>
            <a:r>
              <a:rPr lang="en-US" dirty="0" smtClean="0"/>
              <a:t>Anterior and Posterior  ulnar </a:t>
            </a:r>
            <a:r>
              <a:rPr lang="en-US" dirty="0" smtClean="0">
                <a:solidFill>
                  <a:srgbClr val="0000CC"/>
                </a:solidFill>
              </a:rPr>
              <a:t>recurrent</a:t>
            </a:r>
            <a:r>
              <a:rPr lang="en-US" dirty="0" smtClean="0"/>
              <a:t> artery </a:t>
            </a:r>
            <a:endParaRPr lang="en-US" dirty="0" smtClean="0"/>
          </a:p>
          <a:p>
            <a:pPr lvl="1">
              <a:lnSpc>
                <a:spcPct val="80000"/>
              </a:lnSpc>
            </a:pPr>
            <a:r>
              <a:rPr lang="en-US" dirty="0" smtClean="0"/>
              <a:t>Common interosseous artery </a:t>
            </a:r>
            <a:endParaRPr lang="en-US" dirty="0" smtClean="0"/>
          </a:p>
          <a:p>
            <a:pPr lvl="1">
              <a:lnSpc>
                <a:spcPct val="80000"/>
              </a:lnSpc>
            </a:pPr>
            <a:r>
              <a:rPr lang="en-US" dirty="0" smtClean="0"/>
              <a:t>Anterior  and Posterior interosseous artery </a:t>
            </a:r>
            <a:endParaRPr lang="en-US" dirty="0" smtClean="0"/>
          </a:p>
          <a:p>
            <a:pPr lvl="1">
              <a:lnSpc>
                <a:spcPct val="80000"/>
              </a:lnSpc>
            </a:pPr>
            <a:r>
              <a:rPr lang="en-US" dirty="0" smtClean="0"/>
              <a:t>Recurrent interosseous artery </a:t>
            </a:r>
            <a:endParaRPr lang="en-US" dirty="0" smtClean="0"/>
          </a:p>
          <a:p>
            <a:pPr lvl="1">
              <a:lnSpc>
                <a:spcPct val="80000"/>
              </a:lnSpc>
            </a:pPr>
            <a:r>
              <a:rPr lang="en-US" dirty="0" smtClean="0"/>
              <a:t>Palmar carpal branch </a:t>
            </a:r>
            <a:endParaRPr lang="en-US" dirty="0" smtClean="0"/>
          </a:p>
          <a:p>
            <a:pPr lvl="1">
              <a:lnSpc>
                <a:spcPct val="80000"/>
              </a:lnSpc>
            </a:pPr>
            <a:r>
              <a:rPr lang="en-US" dirty="0" smtClean="0"/>
              <a:t>Dorsal carpal branch</a:t>
            </a:r>
            <a:endParaRPr lang="en-US" sz="3200" dirty="0" smtClean="0"/>
          </a:p>
          <a:p>
            <a:pPr>
              <a:lnSpc>
                <a:spcPct val="80000"/>
              </a:lnSpc>
            </a:pPr>
            <a:endParaRPr lang="en-US" sz="2800" dirty="0" smtClean="0"/>
          </a:p>
          <a:p>
            <a:pPr>
              <a:buNone/>
            </a:pPr>
            <a:endParaRPr lang="en-US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343400" y="762000"/>
            <a:ext cx="4800600" cy="5791200"/>
          </a:xfrm>
          <a:prstGeom prst="rect">
            <a:avLst/>
          </a:prstGeo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308C6-63CD-4652-B0B8-D56B493C14E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4114800" cy="6324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Artery of the forearm </a:t>
            </a:r>
            <a:r>
              <a:rPr lang="en-US" sz="2800" b="1" dirty="0" err="1" smtClean="0">
                <a:solidFill>
                  <a:srgbClr val="FF0000"/>
                </a:solidFill>
              </a:rPr>
              <a:t>con’t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b="1" dirty="0" smtClean="0">
                <a:solidFill>
                  <a:srgbClr val="FF0000"/>
                </a:solidFill>
              </a:rPr>
              <a:t>Radial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aa</a:t>
            </a:r>
            <a:r>
              <a:rPr lang="en-US" dirty="0" smtClean="0"/>
              <a:t>:- branch of brachial artery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b="1" dirty="0" smtClean="0">
                <a:solidFill>
                  <a:srgbClr val="FF0000"/>
                </a:solidFill>
              </a:rPr>
              <a:t>Branches 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 smtClean="0"/>
              <a:t>Radial recurrent artery </a:t>
            </a: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Palmar carpal branch </a:t>
            </a: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Dorsal carpal branc</a:t>
            </a:r>
            <a:r>
              <a:rPr lang="en-US" sz="2000" dirty="0" smtClean="0"/>
              <a:t>h</a:t>
            </a:r>
            <a:endParaRPr lang="en-US" dirty="0" smtClean="0"/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343400" y="762000"/>
            <a:ext cx="4800600" cy="5791200"/>
          </a:xfrm>
          <a:prstGeom prst="rect">
            <a:avLst/>
          </a:prstGeo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EFA1B-A2D9-4CC7-87C4-A0AD82277443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2296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 b="1" dirty="0" smtClean="0">
                <a:solidFill>
                  <a:srgbClr val="0070C0"/>
                </a:solidFill>
              </a:rPr>
              <a:t>                Arteries of Hand</a:t>
            </a:r>
            <a:endParaRPr lang="en-US" sz="3200" b="1" dirty="0" smtClean="0">
              <a:solidFill>
                <a:srgbClr val="0070C0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F1EC69-DDD5-4233-BD67-8CFA719A01CE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31949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685800"/>
            <a:ext cx="8686800" cy="5943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3200" b="1" dirty="0" smtClean="0">
                <a:solidFill>
                  <a:srgbClr val="0070C0"/>
                </a:solidFill>
              </a:rPr>
              <a:t>Ulnar artery</a:t>
            </a:r>
            <a:r>
              <a:rPr lang="en-US" sz="2000" b="1" i="1" dirty="0" smtClean="0">
                <a:solidFill>
                  <a:srgbClr val="0070C0"/>
                </a:solidFill>
              </a:rPr>
              <a:t> </a:t>
            </a:r>
            <a:endParaRPr lang="en-US" sz="2000" b="1" i="1" dirty="0" smtClean="0">
              <a:solidFill>
                <a:srgbClr val="0070C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Enters the hand anterior to the flexor retinaculum between the pisiform and the hook of hamate via the ulnar canal</a:t>
            </a:r>
            <a:r>
              <a:rPr lang="en-US" sz="2800" i="1" dirty="0" smtClean="0"/>
              <a:t> </a:t>
            </a:r>
            <a:r>
              <a:rPr lang="en-US" sz="2800" dirty="0" smtClean="0"/>
              <a:t>(Guyon canal)</a:t>
            </a:r>
            <a:endParaRPr lang="en-US" sz="2800" dirty="0" smtClean="0"/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Lies </a:t>
            </a:r>
            <a:r>
              <a:rPr lang="en-US" sz="2800" b="1" dirty="0" smtClean="0">
                <a:solidFill>
                  <a:srgbClr val="C00000"/>
                </a:solidFill>
              </a:rPr>
              <a:t>lateral to the ulnar nerve</a:t>
            </a:r>
            <a:endParaRPr lang="en-US" sz="2800" b="1" dirty="0" smtClean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Divides into two terminal branches</a:t>
            </a:r>
            <a:endParaRPr lang="en-US" sz="28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b="1" dirty="0" smtClean="0">
                <a:solidFill>
                  <a:srgbClr val="C00000"/>
                </a:solidFill>
              </a:rPr>
              <a:t>Superficial palmar arch</a:t>
            </a:r>
            <a:endParaRPr lang="en-US" b="1" dirty="0" smtClean="0">
              <a:solidFill>
                <a:srgbClr val="C0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b="1" dirty="0" smtClean="0">
                <a:solidFill>
                  <a:srgbClr val="C00000"/>
                </a:solidFill>
              </a:rPr>
              <a:t>Deep palmar branch</a:t>
            </a:r>
            <a:endParaRPr lang="en-US" b="1" dirty="0" smtClean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Superficial palmar arch</a:t>
            </a:r>
            <a:endParaRPr lang="en-US" sz="28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main termination of the ulnar artery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gives rise to three </a:t>
            </a:r>
            <a:r>
              <a:rPr lang="en-US" b="1" dirty="0" smtClean="0">
                <a:solidFill>
                  <a:srgbClr val="C00000"/>
                </a:solidFill>
              </a:rPr>
              <a:t>common palmar digital </a:t>
            </a:r>
            <a:r>
              <a:rPr lang="en-US" dirty="0" smtClean="0"/>
              <a:t>arteries that anastomose with palmar metacarpal arteries from the deep palmar arch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Each common palmar digital artery divides into a pair of </a:t>
            </a:r>
            <a:r>
              <a:rPr lang="en-US" b="1" dirty="0" smtClean="0">
                <a:solidFill>
                  <a:srgbClr val="C00000"/>
                </a:solidFill>
              </a:rPr>
              <a:t>proper palmar </a:t>
            </a:r>
            <a:r>
              <a:rPr lang="en-US" dirty="0" smtClean="0"/>
              <a:t>digital arteries that run along the adjacent side of the 2nd-4th fingers</a:t>
            </a:r>
            <a:endParaRPr lang="en-US" dirty="0" smtClean="0"/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D015E-2831-4FE5-B043-D6550FDEEFA4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762000" y="259516"/>
            <a:ext cx="6858000" cy="5899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59AFD-75AC-4951-8EDD-2EFC2BBAC7D3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2D9EB1-89A6-4653-A970-EA4D56C8B17E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322563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228600" y="228600"/>
            <a:ext cx="8686800" cy="6400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          Radial artery</a:t>
            </a:r>
            <a:r>
              <a:rPr lang="en-US" sz="2000" b="1" dirty="0" smtClean="0">
                <a:solidFill>
                  <a:srgbClr val="C00000"/>
                </a:solidFill>
              </a:rPr>
              <a:t> </a:t>
            </a:r>
            <a:endParaRPr lang="en-US" sz="2000" b="1" dirty="0" smtClean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Curves dorsally around the scaphoid and trapezium in the floor of anatomical snuff box </a:t>
            </a:r>
            <a:endParaRPr lang="en-US" sz="2800" dirty="0" smtClean="0"/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Enters the palm by passing between the heads of 1</a:t>
            </a:r>
            <a:r>
              <a:rPr lang="en-US" sz="2800" baseline="30000" dirty="0" smtClean="0"/>
              <a:t>st</a:t>
            </a:r>
            <a:r>
              <a:rPr lang="en-US" sz="2800" dirty="0" smtClean="0"/>
              <a:t> dorsal interosseous muscle</a:t>
            </a:r>
            <a:endParaRPr lang="en-US" sz="2800" dirty="0" smtClean="0"/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Turns medially and passes between the heads of the adductor pollicis </a:t>
            </a:r>
            <a:endParaRPr lang="en-US" sz="2800" dirty="0" smtClean="0"/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Ends by anastomosing with the deep branch of the ulnar artery to form the deep palmar arch</a:t>
            </a:r>
            <a:endParaRPr lang="en-US" sz="2800" dirty="0" smtClean="0"/>
          </a:p>
          <a:p>
            <a:pPr eaLnBrk="1" hangingPunct="1">
              <a:lnSpc>
                <a:spcPct val="90000"/>
              </a:lnSpc>
            </a:pPr>
            <a:r>
              <a:rPr lang="en-US" sz="2800" b="1" dirty="0" smtClean="0">
                <a:solidFill>
                  <a:srgbClr val="C00000"/>
                </a:solidFill>
              </a:rPr>
              <a:t>Deep palmar arch </a:t>
            </a:r>
            <a:endParaRPr lang="en-US" sz="2800" b="1" dirty="0" smtClean="0">
              <a:solidFill>
                <a:srgbClr val="C0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formed mainly by </a:t>
            </a:r>
            <a:r>
              <a:rPr lang="en-US" b="1" dirty="0" smtClean="0">
                <a:solidFill>
                  <a:srgbClr val="C00000"/>
                </a:solidFill>
              </a:rPr>
              <a:t>radial artery</a:t>
            </a:r>
            <a:endParaRPr lang="en-US" b="1" dirty="0" smtClean="0">
              <a:solidFill>
                <a:srgbClr val="C0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lies across the metacarpals just distal to their bases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gives rise to three </a:t>
            </a:r>
            <a:r>
              <a:rPr lang="en-US" b="1" dirty="0" smtClean="0">
                <a:solidFill>
                  <a:srgbClr val="C00000"/>
                </a:solidFill>
              </a:rPr>
              <a:t>palmar metacarpal arteries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princeps pollicis </a:t>
            </a:r>
            <a:r>
              <a:rPr lang="en-US" dirty="0" smtClean="0"/>
              <a:t>artery and </a:t>
            </a:r>
            <a:r>
              <a:rPr lang="en-US" b="1" dirty="0" smtClean="0">
                <a:solidFill>
                  <a:srgbClr val="C00000"/>
                </a:solidFill>
              </a:rPr>
              <a:t>radialis indicis</a:t>
            </a:r>
            <a:r>
              <a:rPr lang="en-US" b="1" i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artery</a:t>
            </a:r>
            <a:endParaRPr lang="en-US" b="1" dirty="0" smtClean="0">
              <a:solidFill>
                <a:srgbClr val="C0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C709A-5E64-4F88-AE92-F09FF10029EB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457201" y="484571"/>
            <a:ext cx="8245840" cy="5306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58162-507D-4003-B83A-49DDBC8EBD5B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685800" y="171706"/>
            <a:ext cx="7391400" cy="6610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B0810-AE89-4012-A4FC-4F7FDF1CECE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EFC588-C0D9-4442-B188-489EA23F3A18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34918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533400"/>
            <a:ext cx="3429000" cy="5562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endParaRPr lang="en-US" sz="2800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800" b="1" dirty="0" err="1" smtClean="0">
                <a:solidFill>
                  <a:srgbClr val="C00000"/>
                </a:solidFill>
              </a:rPr>
              <a:t>Glenohumeral</a:t>
            </a:r>
            <a:r>
              <a:rPr lang="en-US" sz="2800" b="1" dirty="0" smtClean="0">
                <a:solidFill>
                  <a:srgbClr val="C00000"/>
                </a:solidFill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</a:rPr>
              <a:t>Joint</a:t>
            </a:r>
            <a:endParaRPr lang="en-US" dirty="0" smtClean="0"/>
          </a:p>
          <a:p>
            <a:pPr eaLnBrk="1" hangingPunct="1"/>
            <a:r>
              <a:rPr lang="en-US" dirty="0" smtClean="0"/>
              <a:t>Type: </a:t>
            </a:r>
            <a:r>
              <a:rPr lang="en-US" b="1" dirty="0" smtClean="0">
                <a:solidFill>
                  <a:srgbClr val="FF0000"/>
                </a:solidFill>
              </a:rPr>
              <a:t>ball and socket synovial joint 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dirty="0" smtClean="0"/>
              <a:t>permits a wide range of movement</a:t>
            </a:r>
            <a:endParaRPr lang="en-US" dirty="0" smtClean="0"/>
          </a:p>
          <a:p>
            <a:pPr eaLnBrk="1" hangingPunct="1"/>
            <a:r>
              <a:rPr lang="en-US" dirty="0" smtClean="0"/>
              <a:t>Articulation</a:t>
            </a:r>
            <a:endParaRPr lang="en-US" dirty="0" smtClean="0"/>
          </a:p>
          <a:p>
            <a:pPr lvl="1" eaLnBrk="1" hangingPunct="1"/>
            <a:r>
              <a:rPr lang="en-US" dirty="0" smtClean="0"/>
              <a:t>The humeral head articulates with shallow glenoid cavity of the scapula held in the cavity by musculotendinous rotator cuff</a:t>
            </a:r>
            <a:endParaRPr lang="en-US" dirty="0" smtClean="0"/>
          </a:p>
          <a:p>
            <a:pPr eaLnBrk="1" hangingPunct="1"/>
            <a:endParaRPr lang="en-US" sz="2800" dirty="0" smtClean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657600" y="1371600"/>
            <a:ext cx="5486400" cy="4469655"/>
          </a:xfrm>
          <a:prstGeom prst="rect">
            <a:avLst/>
          </a:prstGeo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E310E-8F65-40E3-BA78-51393989365F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20562" y="76200"/>
            <a:ext cx="4388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JOINTS OF UPPER LIMB</a:t>
            </a:r>
            <a:endParaRPr lang="en-US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051BA1-9BAC-4759-A85A-2CFA922F6558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352259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04800" y="228600"/>
            <a:ext cx="8610600" cy="6477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dirty="0" smtClean="0"/>
              <a:t>Joint capsule</a:t>
            </a:r>
            <a:r>
              <a:rPr lang="en-US" sz="2800" dirty="0" smtClean="0"/>
              <a:t> </a:t>
            </a:r>
            <a:endParaRPr lang="en-US" sz="28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dirty="0" smtClean="0"/>
              <a:t>attached medially to the margins of the glenoid cavity and laterally to anatomical neck of the humerus</a:t>
            </a:r>
            <a:endParaRPr lang="en-US" dirty="0" smtClean="0"/>
          </a:p>
          <a:p>
            <a:pPr lvl="1" eaLnBrk="1" hangingPunct="1">
              <a:lnSpc>
                <a:spcPct val="80000"/>
              </a:lnSpc>
            </a:pPr>
            <a:r>
              <a:rPr lang="en-US" b="1" dirty="0" smtClean="0">
                <a:solidFill>
                  <a:srgbClr val="FF0000"/>
                </a:solidFill>
              </a:rPr>
              <a:t>superiorly</a:t>
            </a:r>
            <a:r>
              <a:rPr lang="en-US" dirty="0" smtClean="0"/>
              <a:t> it encloses tendon of long head of </a:t>
            </a:r>
            <a:r>
              <a:rPr lang="en-US" dirty="0" smtClean="0">
                <a:solidFill>
                  <a:srgbClr val="FF0000"/>
                </a:solidFill>
              </a:rPr>
              <a:t>biceps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brachii</a:t>
            </a:r>
            <a:endParaRPr lang="en-US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b="1" dirty="0" smtClean="0">
                <a:solidFill>
                  <a:srgbClr val="FF0000"/>
                </a:solidFill>
              </a:rPr>
              <a:t>inferior</a:t>
            </a:r>
            <a:r>
              <a:rPr lang="en-US" dirty="0" smtClean="0"/>
              <a:t> part which is </a:t>
            </a:r>
            <a:r>
              <a:rPr lang="en-US" dirty="0" smtClean="0">
                <a:solidFill>
                  <a:srgbClr val="FF0000"/>
                </a:solidFill>
              </a:rPr>
              <a:t>not reinforced </a:t>
            </a:r>
            <a:r>
              <a:rPr lang="en-US" dirty="0" smtClean="0"/>
              <a:t>by rotator cuff is weakest area</a:t>
            </a:r>
            <a:endParaRPr lang="en-US" dirty="0" smtClean="0"/>
          </a:p>
          <a:p>
            <a:pPr lvl="1" eaLnBrk="1" hangingPunct="1">
              <a:lnSpc>
                <a:spcPct val="80000"/>
              </a:lnSpc>
            </a:pPr>
            <a:r>
              <a:rPr lang="en-US" dirty="0" smtClean="0"/>
              <a:t>synovial membrane</a:t>
            </a:r>
            <a:r>
              <a:rPr lang="en-US" i="1" dirty="0" smtClean="0"/>
              <a:t> </a:t>
            </a:r>
            <a:r>
              <a:rPr lang="en-US" dirty="0" smtClean="0"/>
              <a:t>lines the internal surface  of fibrous capsule </a:t>
            </a:r>
            <a:endParaRPr lang="en-US" dirty="0" smtClean="0"/>
          </a:p>
        </p:txBody>
      </p:sp>
      <p:pic>
        <p:nvPicPr>
          <p:cNvPr id="35226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71600" y="2295525"/>
            <a:ext cx="6610350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315EF-0C32-489B-BEA2-88C0A251588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3352800" cy="63246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 Ligaments </a:t>
            </a:r>
            <a:endParaRPr lang="en-US" sz="2000" dirty="0" smtClean="0"/>
          </a:p>
          <a:p>
            <a:pPr lvl="1"/>
            <a:r>
              <a:rPr lang="en-US" sz="2000" b="1" dirty="0" smtClean="0">
                <a:solidFill>
                  <a:srgbClr val="C00000"/>
                </a:solidFill>
              </a:rPr>
              <a:t>Glenohumeral ligament</a:t>
            </a:r>
            <a:endParaRPr lang="en-US" sz="2000" b="1" dirty="0" smtClean="0">
              <a:solidFill>
                <a:srgbClr val="C00000"/>
              </a:solidFill>
            </a:endParaRPr>
          </a:p>
          <a:p>
            <a:pPr lvl="2"/>
            <a:r>
              <a:rPr lang="en-US" dirty="0" smtClean="0"/>
              <a:t>Strengthen anterior aspect of the capsule</a:t>
            </a:r>
            <a:endParaRPr lang="en-US" dirty="0" smtClean="0"/>
          </a:p>
          <a:p>
            <a:pPr lvl="1"/>
            <a:r>
              <a:rPr lang="en-US" sz="2000" b="1" dirty="0" smtClean="0">
                <a:solidFill>
                  <a:srgbClr val="C00000"/>
                </a:solidFill>
              </a:rPr>
              <a:t>Coracohumeral ligament</a:t>
            </a:r>
            <a:endParaRPr lang="en-US" sz="2000" b="1" dirty="0" smtClean="0">
              <a:solidFill>
                <a:srgbClr val="C00000"/>
              </a:solidFill>
            </a:endParaRPr>
          </a:p>
          <a:p>
            <a:pPr lvl="2"/>
            <a:r>
              <a:rPr lang="en-US" dirty="0" smtClean="0"/>
              <a:t>Strengthen superiorly</a:t>
            </a:r>
            <a:endParaRPr lang="en-US" dirty="0" smtClean="0"/>
          </a:p>
          <a:p>
            <a:pPr lvl="1"/>
            <a:r>
              <a:rPr lang="en-US" sz="2000" b="1" dirty="0" smtClean="0">
                <a:solidFill>
                  <a:srgbClr val="C00000"/>
                </a:solidFill>
              </a:rPr>
              <a:t>Coracoacromial arch</a:t>
            </a:r>
            <a:endParaRPr lang="en-US" sz="2000" b="1" dirty="0" smtClean="0">
              <a:solidFill>
                <a:srgbClr val="C00000"/>
              </a:solidFill>
            </a:endParaRPr>
          </a:p>
          <a:p>
            <a:pPr lvl="2"/>
            <a:r>
              <a:rPr lang="en-US" dirty="0" smtClean="0"/>
              <a:t>Formed by inferior aspect of acromion and coracoid process</a:t>
            </a:r>
            <a:endParaRPr lang="en-US" dirty="0" smtClean="0"/>
          </a:p>
          <a:p>
            <a:pPr lvl="2"/>
            <a:r>
              <a:rPr lang="en-US" dirty="0" smtClean="0"/>
              <a:t>Overlies the head of the humerus, prevents its superior displacemen</a:t>
            </a:r>
            <a:r>
              <a:rPr lang="en-US" sz="2400" dirty="0" smtClean="0"/>
              <a:t>t</a:t>
            </a:r>
            <a:endParaRPr lang="en-US" sz="2400" dirty="0" smtClean="0"/>
          </a:p>
          <a:p>
            <a:pPr>
              <a:buNone/>
            </a:pPr>
            <a:endParaRPr lang="en-US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498530" y="1905000"/>
            <a:ext cx="5416870" cy="4688465"/>
          </a:xfrm>
          <a:prstGeom prst="rect">
            <a:avLst/>
          </a:prstGeo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AED8-E5C8-4D8E-A630-668DB0D1F293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Movements: </a:t>
            </a:r>
            <a:r>
              <a:rPr lang="en-US" b="1" dirty="0" smtClean="0">
                <a:solidFill>
                  <a:srgbClr val="C00000"/>
                </a:solidFill>
              </a:rPr>
              <a:t>flexion-extension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abduction-adduction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rotation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circumduction</a:t>
            </a:r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C00000"/>
                </a:solidFill>
              </a:rPr>
              <a:t>Blood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supply</a:t>
            </a:r>
            <a:r>
              <a:rPr lang="en-US" dirty="0" smtClean="0"/>
              <a:t>: anterior and posterior </a:t>
            </a:r>
            <a:r>
              <a:rPr lang="en-US" b="1" dirty="0" smtClean="0">
                <a:solidFill>
                  <a:srgbClr val="C00000"/>
                </a:solidFill>
              </a:rPr>
              <a:t>circumflex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humeral</a:t>
            </a:r>
            <a:r>
              <a:rPr lang="en-US" dirty="0" smtClean="0"/>
              <a:t> arteries and branches of </a:t>
            </a:r>
            <a:r>
              <a:rPr lang="en-US" b="1" dirty="0" smtClean="0">
                <a:solidFill>
                  <a:srgbClr val="C00000"/>
                </a:solidFill>
              </a:rPr>
              <a:t>suprascapular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artery</a:t>
            </a:r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C00000"/>
                </a:solidFill>
              </a:rPr>
              <a:t>Innervation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C00000"/>
                </a:solidFill>
              </a:rPr>
              <a:t>suprascapular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axillary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lateral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pectoral</a:t>
            </a:r>
            <a:r>
              <a:rPr lang="en-US" dirty="0" smtClean="0"/>
              <a:t> nerves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74025-DDDD-4A38-94DD-D953BB74E4C9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F63B57-7627-4461-BBFB-1EFBFB57C7B1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36250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457200"/>
            <a:ext cx="3505200" cy="57150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</a:rPr>
              <a:t>Elbow joint </a:t>
            </a:r>
            <a:endParaRPr lang="en-US" dirty="0" smtClean="0"/>
          </a:p>
          <a:p>
            <a:pPr eaLnBrk="1" hangingPunct="1"/>
            <a:r>
              <a:rPr lang="en-US" dirty="0" smtClean="0"/>
              <a:t>Type: </a:t>
            </a:r>
            <a:r>
              <a:rPr lang="en-US" b="1" dirty="0" smtClean="0">
                <a:solidFill>
                  <a:srgbClr val="FF0000"/>
                </a:solidFill>
              </a:rPr>
              <a:t>Hinge synovial joint</a:t>
            </a:r>
            <a:endParaRPr lang="en-US" b="1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dirty="0" smtClean="0"/>
              <a:t>Articulation </a:t>
            </a:r>
            <a:endParaRPr lang="en-US" dirty="0" smtClean="0"/>
          </a:p>
          <a:p>
            <a:pPr lvl="1" eaLnBrk="1" hangingPunct="1"/>
            <a:r>
              <a:rPr lang="en-US" b="1" dirty="0" smtClean="0">
                <a:solidFill>
                  <a:srgbClr val="FF0000"/>
                </a:solidFill>
              </a:rPr>
              <a:t>Trochlea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FF0000"/>
                </a:solidFill>
              </a:rPr>
              <a:t>capitulum</a:t>
            </a:r>
            <a:r>
              <a:rPr lang="en-US" dirty="0" smtClean="0"/>
              <a:t> of humerus with trochlear </a:t>
            </a:r>
            <a:r>
              <a:rPr lang="en-US" b="1" dirty="0" smtClean="0">
                <a:solidFill>
                  <a:srgbClr val="FF0000"/>
                </a:solidFill>
              </a:rPr>
              <a:t>notch of ulna and head of radius</a:t>
            </a:r>
            <a:endParaRPr lang="en-US" b="1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dirty="0" smtClean="0"/>
              <a:t>Joint capsule</a:t>
            </a:r>
            <a:endParaRPr lang="en-US" dirty="0" smtClean="0"/>
          </a:p>
          <a:p>
            <a:pPr lvl="1" eaLnBrk="1" hangingPunct="1"/>
            <a:r>
              <a:rPr lang="en-US" dirty="0" smtClean="0"/>
              <a:t>Joint capsule surrounds the joint</a:t>
            </a:r>
            <a:endParaRPr lang="en-US" dirty="0" smtClean="0"/>
          </a:p>
          <a:p>
            <a:pPr lvl="1" eaLnBrk="1" hangingPunct="1"/>
            <a:r>
              <a:rPr lang="en-US" dirty="0" smtClean="0"/>
              <a:t>Weak anteriorly and posteriorly but strengthened on each side by ligaments </a:t>
            </a:r>
            <a:endParaRPr lang="en-US" dirty="0" smtClean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038600" y="1066800"/>
            <a:ext cx="4800599" cy="4743450"/>
          </a:xfrm>
          <a:prstGeom prst="rect">
            <a:avLst/>
          </a:prstGeo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8AA02-D060-4599-839B-485320F0E38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480EE5-D809-41AA-A3D3-10EFB95E76CD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364547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228600" y="304800"/>
            <a:ext cx="8686800" cy="6172200"/>
          </a:xfrm>
        </p:spPr>
        <p:txBody>
          <a:bodyPr/>
          <a:lstStyle/>
          <a:p>
            <a:pPr eaLnBrk="1" hangingPunct="1"/>
            <a:r>
              <a:rPr lang="en-US" dirty="0" smtClean="0"/>
              <a:t>Ligaments</a:t>
            </a:r>
            <a:endParaRPr lang="en-US" dirty="0" smtClean="0"/>
          </a:p>
          <a:p>
            <a:pPr lvl="1" eaLnBrk="1" hangingPunct="1"/>
            <a:r>
              <a:rPr lang="en-US" b="1" dirty="0" smtClean="0">
                <a:solidFill>
                  <a:srgbClr val="C00000"/>
                </a:solidFill>
              </a:rPr>
              <a:t>Radial collateral ligament </a:t>
            </a:r>
            <a:endParaRPr lang="en-US" b="1" dirty="0" smtClean="0">
              <a:solidFill>
                <a:srgbClr val="C00000"/>
              </a:solidFill>
            </a:endParaRPr>
          </a:p>
          <a:p>
            <a:pPr lvl="2" eaLnBrk="1" hangingPunct="1"/>
            <a:r>
              <a:rPr lang="en-US" sz="2400" dirty="0" smtClean="0"/>
              <a:t>extends from the </a:t>
            </a:r>
            <a:r>
              <a:rPr lang="en-US" sz="2400" dirty="0" smtClean="0">
                <a:solidFill>
                  <a:srgbClr val="0000CC"/>
                </a:solidFill>
              </a:rPr>
              <a:t>lateral epicondyle of the humerus </a:t>
            </a:r>
            <a:r>
              <a:rPr lang="en-US" sz="2400" dirty="0" smtClean="0"/>
              <a:t>and blends distally with </a:t>
            </a:r>
            <a:r>
              <a:rPr lang="en-US" sz="2400" dirty="0" smtClean="0">
                <a:solidFill>
                  <a:srgbClr val="0000CC"/>
                </a:solidFill>
              </a:rPr>
              <a:t>annular ligament of the radius </a:t>
            </a:r>
            <a:endParaRPr lang="en-US" sz="2400" dirty="0" smtClean="0">
              <a:solidFill>
                <a:srgbClr val="0000CC"/>
              </a:solidFill>
            </a:endParaRPr>
          </a:p>
          <a:p>
            <a:pPr lvl="2" eaLnBrk="1" hangingPunct="1"/>
            <a:r>
              <a:rPr lang="en-US" sz="2400" dirty="0" smtClean="0"/>
              <a:t>Encircles and holds the head of the radius in the radial notch of the ulna, forming the proximal radioulnar joint</a:t>
            </a:r>
            <a:endParaRPr lang="en-US" sz="2400" dirty="0" smtClean="0"/>
          </a:p>
          <a:p>
            <a:pPr lvl="1" eaLnBrk="1" hangingPunct="1"/>
            <a:r>
              <a:rPr lang="en-US" b="1" dirty="0" smtClean="0">
                <a:solidFill>
                  <a:srgbClr val="C00000"/>
                </a:solidFill>
              </a:rPr>
              <a:t>Ulnar collateral ligament </a:t>
            </a:r>
            <a:endParaRPr lang="en-US" b="1" dirty="0" smtClean="0">
              <a:solidFill>
                <a:srgbClr val="C00000"/>
              </a:solidFill>
            </a:endParaRPr>
          </a:p>
          <a:p>
            <a:pPr lvl="2" eaLnBrk="1" hangingPunct="1"/>
            <a:r>
              <a:rPr lang="en-US" sz="2400" dirty="0" smtClean="0"/>
              <a:t>extends from the </a:t>
            </a:r>
            <a:r>
              <a:rPr lang="en-US" sz="2400" dirty="0" smtClean="0">
                <a:solidFill>
                  <a:srgbClr val="0000CC"/>
                </a:solidFill>
              </a:rPr>
              <a:t>medial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0000CC"/>
                </a:solidFill>
              </a:rPr>
              <a:t>epicondyle</a:t>
            </a:r>
            <a:r>
              <a:rPr lang="en-US" sz="2400" dirty="0" smtClean="0"/>
              <a:t> of the humerus to the coronoid process and olecranon of the </a:t>
            </a:r>
            <a:r>
              <a:rPr lang="en-US" sz="2400" dirty="0" smtClean="0">
                <a:solidFill>
                  <a:srgbClr val="0000CC"/>
                </a:solidFill>
              </a:rPr>
              <a:t>ulna</a:t>
            </a:r>
            <a:endParaRPr lang="en-US" sz="2400" dirty="0" smtClean="0">
              <a:solidFill>
                <a:srgbClr val="0000CC"/>
              </a:solidFill>
            </a:endParaRPr>
          </a:p>
          <a:p>
            <a:r>
              <a:rPr lang="en-US" sz="2800" dirty="0" smtClean="0"/>
              <a:t>Movements: Flexion and extension </a:t>
            </a:r>
            <a:endParaRPr lang="en-US" sz="2800" dirty="0" smtClean="0"/>
          </a:p>
          <a:p>
            <a:r>
              <a:rPr lang="en-US" sz="2800" b="1" dirty="0" smtClean="0">
                <a:solidFill>
                  <a:srgbClr val="C00000"/>
                </a:solidFill>
              </a:rPr>
              <a:t>Blood</a:t>
            </a:r>
            <a:r>
              <a:rPr lang="en-US" sz="2800" dirty="0" smtClean="0"/>
              <a:t> </a:t>
            </a:r>
            <a:r>
              <a:rPr lang="en-US" sz="2800" b="1" dirty="0" smtClean="0"/>
              <a:t>supply</a:t>
            </a:r>
            <a:r>
              <a:rPr lang="en-US" sz="2800" dirty="0" smtClean="0"/>
              <a:t>: derived from the anastomosis of arteries around the elbow joint </a:t>
            </a:r>
            <a:endParaRPr lang="en-US" sz="2800" dirty="0" smtClean="0"/>
          </a:p>
          <a:p>
            <a:r>
              <a:rPr lang="en-US" sz="2800" b="1" dirty="0" smtClean="0">
                <a:solidFill>
                  <a:srgbClr val="C00000"/>
                </a:solidFill>
              </a:rPr>
              <a:t>Innervation</a:t>
            </a:r>
            <a:r>
              <a:rPr lang="en-US" sz="2800" dirty="0" smtClean="0"/>
              <a:t>: musculocutaneous, radial, and ulnar nerves</a:t>
            </a:r>
            <a:endParaRPr lang="en-US" sz="2800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sz="28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7172-00E7-428D-AEE8-A5AE0A77FDB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364280-664B-41E2-9584-0F6473346A03}" type="slidenum">
              <a:rPr lang="en-US" smtClean="0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pic>
        <p:nvPicPr>
          <p:cNvPr id="36557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1295400" y="228600"/>
            <a:ext cx="4854575" cy="6472238"/>
          </a:xfr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2445-A936-4B23-BE1C-7B04330EFD91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3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229600" cy="5635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 b="1" dirty="0" smtClean="0">
                <a:solidFill>
                  <a:srgbClr val="C00000"/>
                </a:solidFill>
              </a:rPr>
              <a:t>Proximal radio ulnar joint</a:t>
            </a:r>
            <a:endParaRPr lang="en-US" sz="3200" b="1" dirty="0" smtClean="0">
              <a:solidFill>
                <a:srgbClr val="C00000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3E755-6C63-4ABD-92BF-D9EF8CDDED8E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368644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228600" y="914400"/>
            <a:ext cx="8686800" cy="5791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Type: </a:t>
            </a:r>
            <a:r>
              <a:rPr lang="en-US" sz="2800" b="1" dirty="0" smtClean="0">
                <a:solidFill>
                  <a:srgbClr val="FF0000"/>
                </a:solidFill>
              </a:rPr>
              <a:t>pivot synovial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dirty="0" smtClean="0">
                <a:solidFill>
                  <a:srgbClr val="FF0000"/>
                </a:solidFill>
              </a:rPr>
              <a:t>Articulation </a:t>
            </a:r>
            <a:endParaRPr lang="en-US" sz="2800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The head of </a:t>
            </a:r>
            <a:r>
              <a:rPr lang="en-US" dirty="0" smtClean="0">
                <a:solidFill>
                  <a:srgbClr val="FF0000"/>
                </a:solidFill>
              </a:rPr>
              <a:t>radius</a:t>
            </a:r>
            <a:r>
              <a:rPr lang="en-US" dirty="0" smtClean="0"/>
              <a:t> articulates with radial notch of </a:t>
            </a:r>
            <a:r>
              <a:rPr lang="en-US" dirty="0" smtClean="0">
                <a:solidFill>
                  <a:srgbClr val="FF0000"/>
                </a:solidFill>
              </a:rPr>
              <a:t>ulna</a:t>
            </a:r>
            <a:endParaRPr lang="en-US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The radial head is held in place by the </a:t>
            </a:r>
            <a:r>
              <a:rPr lang="en-US" b="1" dirty="0" smtClean="0">
                <a:solidFill>
                  <a:srgbClr val="0000CC"/>
                </a:solidFill>
              </a:rPr>
              <a:t>annular ligament </a:t>
            </a:r>
            <a:endParaRPr lang="en-US" b="1" dirty="0" smtClean="0">
              <a:solidFill>
                <a:srgbClr val="0000CC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dirty="0" smtClean="0">
                <a:solidFill>
                  <a:srgbClr val="FF0000"/>
                </a:solidFill>
              </a:rPr>
              <a:t>Joint capsule </a:t>
            </a:r>
            <a:endParaRPr lang="en-US" sz="2800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The fibrous layer of the joint capsule encloses the joint and is continuous with that of the elbow joint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The synovial membrane lines the internal surface of the fibrous layer and non-articulating aspects of the bones</a:t>
            </a:r>
            <a:endParaRPr 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sz="2800" dirty="0" smtClean="0">
                <a:solidFill>
                  <a:srgbClr val="FF0000"/>
                </a:solidFill>
              </a:rPr>
              <a:t>Ligaments </a:t>
            </a:r>
            <a:endParaRPr lang="en-US" sz="2800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0000CC"/>
                </a:solidFill>
              </a:rPr>
              <a:t>Annular ligament </a:t>
            </a:r>
            <a:endParaRPr lang="en-US" dirty="0" smtClean="0">
              <a:solidFill>
                <a:srgbClr val="0000CC"/>
              </a:solidFill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sz="2400" dirty="0" smtClean="0"/>
              <a:t>attaches to the ulna, anterior and posterior to the radial notch, which forms a collar that, with the radial notch, forms a ring that completely encircles the head of the radius</a:t>
            </a:r>
            <a:endParaRPr lang="en-US" sz="24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800" dirty="0" smtClean="0"/>
          </a:p>
          <a:p>
            <a:pPr eaLnBrk="1" hangingPunct="1">
              <a:lnSpc>
                <a:spcPct val="90000"/>
              </a:lnSpc>
            </a:pPr>
            <a:endParaRPr lang="en-US" sz="28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FE2B-C76A-4DED-97A0-A6FF4E404A30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C70677-E7CD-44A8-A3EA-95DAC01637F4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369667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228600" y="457200"/>
            <a:ext cx="8458200" cy="6096000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rgbClr val="FF0000"/>
                </a:solidFill>
              </a:rPr>
              <a:t>Movements</a:t>
            </a:r>
            <a:r>
              <a:rPr lang="en-US" dirty="0" smtClean="0"/>
              <a:t>: Pronation and supination</a:t>
            </a:r>
            <a:endParaRPr lang="en-US" dirty="0" smtClean="0"/>
          </a:p>
          <a:p>
            <a:pPr eaLnBrk="1" hangingPunct="1"/>
            <a:r>
              <a:rPr lang="en-US" dirty="0" smtClean="0">
                <a:solidFill>
                  <a:srgbClr val="FF0000"/>
                </a:solidFill>
              </a:rPr>
              <a:t>Blood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supply</a:t>
            </a:r>
            <a:r>
              <a:rPr lang="en-US" dirty="0" smtClean="0"/>
              <a:t>: the radial portion of the arterial anastomosis of the elbow joint </a:t>
            </a:r>
            <a:endParaRPr lang="en-US" dirty="0" smtClean="0"/>
          </a:p>
          <a:p>
            <a:pPr eaLnBrk="1" hangingPunct="1"/>
            <a:r>
              <a:rPr lang="en-US" dirty="0" smtClean="0">
                <a:solidFill>
                  <a:srgbClr val="FF0000"/>
                </a:solidFill>
              </a:rPr>
              <a:t>Innervation</a:t>
            </a:r>
            <a:r>
              <a:rPr lang="en-US" dirty="0" smtClean="0"/>
              <a:t>: musculocutaneous, median, and radial nerves </a:t>
            </a:r>
            <a:endParaRPr lang="en-US" dirty="0" smtClean="0"/>
          </a:p>
          <a:p>
            <a:pPr lvl="1" eaLnBrk="1" hangingPunct="1"/>
            <a:r>
              <a:rPr lang="en-US" dirty="0" smtClean="0"/>
              <a:t>Pronation is essentially a function of the median nerve, whereas supination is a function of the musculocutaneous and radial nerve</a:t>
            </a:r>
            <a:endParaRPr lang="en-US" dirty="0" smtClean="0"/>
          </a:p>
          <a:p>
            <a:pPr eaLnBrk="1" hangingPunct="1"/>
            <a:endParaRPr lang="en-US" dirty="0" smtClean="0"/>
          </a:p>
        </p:txBody>
      </p:sp>
      <p:pic>
        <p:nvPicPr>
          <p:cNvPr id="369668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48200" y="3048000"/>
            <a:ext cx="42672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1" y="3021420"/>
            <a:ext cx="4190999" cy="3836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FE06-6A72-4242-8626-126A2B67192D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76400" y="685800"/>
            <a:ext cx="4624387" cy="50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447800" y="6096000"/>
            <a:ext cx="51584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Movements of the Proximal Radioulnar Joint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3CE56-C36F-4032-941D-EC5B50F7C056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229600" cy="639763"/>
          </a:xfrm>
        </p:spPr>
        <p:txBody>
          <a:bodyPr/>
          <a:lstStyle/>
          <a:p>
            <a:pPr eaLnBrk="1" hangingPunct="1"/>
            <a:r>
              <a:rPr lang="en-US" sz="2800" b="1" dirty="0" smtClean="0">
                <a:solidFill>
                  <a:srgbClr val="C00000"/>
                </a:solidFill>
              </a:rPr>
              <a:t>Distal radio ulnar joint</a:t>
            </a:r>
            <a:endParaRPr lang="en-US" sz="2800" b="1" dirty="0" smtClean="0">
              <a:solidFill>
                <a:srgbClr val="C00000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8E3A5B-C17B-450D-B986-99CFA88E4C76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37069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838200"/>
            <a:ext cx="8534400" cy="5791200"/>
          </a:xfrm>
        </p:spPr>
        <p:txBody>
          <a:bodyPr/>
          <a:lstStyle/>
          <a:p>
            <a:pPr eaLnBrk="1" hangingPunct="1"/>
            <a:r>
              <a:rPr lang="en-US" sz="2800" dirty="0" smtClean="0"/>
              <a:t>Type: </a:t>
            </a:r>
            <a:r>
              <a:rPr lang="en-US" sz="2800" b="1" dirty="0" smtClean="0">
                <a:solidFill>
                  <a:srgbClr val="FF0000"/>
                </a:solidFill>
              </a:rPr>
              <a:t>Pivot synovial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sz="2800" dirty="0" smtClean="0">
                <a:solidFill>
                  <a:srgbClr val="FF0000"/>
                </a:solidFill>
              </a:rPr>
              <a:t>Articulation </a:t>
            </a:r>
            <a:endParaRPr lang="en-US" sz="2800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dirty="0" smtClean="0"/>
              <a:t>rounded </a:t>
            </a:r>
            <a:r>
              <a:rPr lang="en-US" dirty="0" smtClean="0">
                <a:solidFill>
                  <a:srgbClr val="FF0000"/>
                </a:solidFill>
              </a:rPr>
              <a:t>head of ulna </a:t>
            </a:r>
            <a:r>
              <a:rPr lang="en-US" dirty="0" smtClean="0"/>
              <a:t>articulates with </a:t>
            </a:r>
            <a:r>
              <a:rPr lang="en-US" dirty="0" smtClean="0">
                <a:solidFill>
                  <a:srgbClr val="FF0000"/>
                </a:solidFill>
              </a:rPr>
              <a:t>ulnar notch </a:t>
            </a:r>
            <a:r>
              <a:rPr lang="en-US" dirty="0" smtClean="0"/>
              <a:t>on the medial side of distal end of radius</a:t>
            </a:r>
            <a:endParaRPr lang="en-US" dirty="0" smtClean="0"/>
          </a:p>
          <a:p>
            <a:pPr lvl="1" eaLnBrk="1" hangingPunct="1"/>
            <a:r>
              <a:rPr lang="en-US" dirty="0" smtClean="0"/>
              <a:t>fibrocartilaginous articular disc binds ulna and radius together </a:t>
            </a:r>
            <a:endParaRPr lang="en-US" dirty="0" smtClean="0"/>
          </a:p>
          <a:p>
            <a:pPr lvl="1" eaLnBrk="1" hangingPunct="1"/>
            <a:r>
              <a:rPr lang="en-US" b="1" dirty="0" smtClean="0">
                <a:solidFill>
                  <a:srgbClr val="0000CC"/>
                </a:solidFill>
              </a:rPr>
              <a:t>articular disc separates the cavity of the joint from the cavity of the wrist joint</a:t>
            </a:r>
            <a:endParaRPr lang="en-US" b="1" dirty="0" smtClean="0">
              <a:solidFill>
                <a:srgbClr val="0000CC"/>
              </a:solidFill>
            </a:endParaRPr>
          </a:p>
          <a:p>
            <a:pPr eaLnBrk="1" hangingPunct="1"/>
            <a:r>
              <a:rPr lang="en-US" sz="2800" dirty="0" smtClean="0">
                <a:solidFill>
                  <a:srgbClr val="FF0000"/>
                </a:solidFill>
              </a:rPr>
              <a:t>Joint capsule </a:t>
            </a:r>
            <a:endParaRPr lang="en-US" sz="2800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dirty="0" smtClean="0"/>
              <a:t>The fibrous layer of the joint capsule encloses the joint but deficient superiorly</a:t>
            </a:r>
            <a:endParaRPr lang="en-US" dirty="0" smtClean="0"/>
          </a:p>
          <a:p>
            <a:pPr lvl="1" eaLnBrk="1" hangingPunct="1"/>
            <a:r>
              <a:rPr lang="en-US" dirty="0" smtClean="0"/>
              <a:t>The synovial membrane extends superiorly between the radius and the ulna to form the recess  </a:t>
            </a:r>
            <a:endParaRPr lang="en-US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sz="28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4027D-6605-4A6A-9599-BC975AF370A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3473634" y="1447800"/>
            <a:ext cx="265393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57239-53C3-40AD-A8D9-4A3D7BF88D7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09DE9C-1704-4C0A-AD57-BADA593521F5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371715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228600" y="381000"/>
            <a:ext cx="8686800" cy="6096000"/>
          </a:xfrm>
        </p:spPr>
        <p:txBody>
          <a:bodyPr/>
          <a:lstStyle/>
          <a:p>
            <a:pPr eaLnBrk="1" hangingPunct="1"/>
            <a:r>
              <a:rPr lang="en-US" dirty="0" smtClean="0"/>
              <a:t>Ligaments</a:t>
            </a:r>
            <a:endParaRPr lang="en-US" dirty="0" smtClean="0"/>
          </a:p>
          <a:p>
            <a:pPr lvl="1" eaLnBrk="1" hangingPunct="1"/>
            <a:r>
              <a:rPr lang="en-US" b="1" dirty="0" smtClean="0">
                <a:solidFill>
                  <a:srgbClr val="FF0000"/>
                </a:solidFill>
              </a:rPr>
              <a:t>Anterior and posterior ligaments </a:t>
            </a:r>
            <a:r>
              <a:rPr lang="en-US" dirty="0" smtClean="0"/>
              <a:t>strengthen the fibrous layer of the joint capsule</a:t>
            </a:r>
            <a:endParaRPr lang="en-US" dirty="0" smtClean="0"/>
          </a:p>
          <a:p>
            <a:pPr eaLnBrk="1" hangingPunct="1"/>
            <a:r>
              <a:rPr lang="en-US" dirty="0" smtClean="0"/>
              <a:t>Movements </a:t>
            </a:r>
            <a:endParaRPr lang="en-US" dirty="0" smtClean="0"/>
          </a:p>
          <a:p>
            <a:pPr lvl="1" eaLnBrk="1" hangingPunct="1"/>
            <a:r>
              <a:rPr lang="en-US" dirty="0" smtClean="0"/>
              <a:t>The distal end of the radius rotates around the head of the ulna during </a:t>
            </a:r>
            <a:r>
              <a:rPr lang="en-US" b="1" dirty="0" smtClean="0">
                <a:solidFill>
                  <a:srgbClr val="C00000"/>
                </a:solidFill>
              </a:rPr>
              <a:t>pronation</a:t>
            </a:r>
            <a:r>
              <a:rPr lang="en-US" dirty="0" smtClean="0"/>
              <a:t> of the forearm and hand</a:t>
            </a:r>
            <a:endParaRPr lang="en-US" dirty="0" smtClean="0"/>
          </a:p>
          <a:p>
            <a:pPr eaLnBrk="1" hangingPunct="1"/>
            <a:r>
              <a:rPr lang="en-US" dirty="0" smtClean="0"/>
              <a:t>Blood supply: anterior and posterior </a:t>
            </a:r>
            <a:r>
              <a:rPr lang="en-US" b="1" dirty="0" smtClean="0">
                <a:solidFill>
                  <a:srgbClr val="0000CC"/>
                </a:solidFill>
              </a:rPr>
              <a:t>interosseous arteries </a:t>
            </a:r>
            <a:endParaRPr lang="en-US" b="1" dirty="0" smtClean="0">
              <a:solidFill>
                <a:srgbClr val="0000CC"/>
              </a:solidFill>
            </a:endParaRPr>
          </a:p>
          <a:p>
            <a:pPr eaLnBrk="1" hangingPunct="1"/>
            <a:r>
              <a:rPr lang="en-US" dirty="0" smtClean="0"/>
              <a:t>Innervation: anterior and posterior </a:t>
            </a:r>
            <a:r>
              <a:rPr lang="en-US" b="1" dirty="0" smtClean="0">
                <a:solidFill>
                  <a:srgbClr val="0000CC"/>
                </a:solidFill>
              </a:rPr>
              <a:t>interosseous nerves</a:t>
            </a:r>
            <a:endParaRPr lang="en-US" b="1" dirty="0" smtClean="0">
              <a:solidFill>
                <a:srgbClr val="0000CC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dirty="0" smtClean="0"/>
          </a:p>
          <a:p>
            <a:pPr eaLnBrk="1" hangingPunct="1"/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3476-7063-4CD3-9AFD-A7E7784A343E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8013D2-6DD5-4DD1-8F39-FA248F467BBD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37581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228600"/>
            <a:ext cx="8686800" cy="5181600"/>
          </a:xfrm>
        </p:spPr>
        <p:txBody>
          <a:bodyPr/>
          <a:lstStyle/>
          <a:p>
            <a:pPr>
              <a:buNone/>
            </a:pPr>
            <a:r>
              <a:rPr lang="en-US" sz="2400" b="1" dirty="0" smtClean="0">
                <a:solidFill>
                  <a:srgbClr val="C00000"/>
                </a:solidFill>
              </a:rPr>
              <a:t>Wrist (radiocarpal) joint</a:t>
            </a:r>
            <a:endParaRPr lang="en-US" dirty="0" smtClean="0"/>
          </a:p>
          <a:p>
            <a:pPr eaLnBrk="1" hangingPunct="1"/>
            <a:r>
              <a:rPr lang="en-US" dirty="0" smtClean="0"/>
              <a:t>Type: </a:t>
            </a:r>
            <a:r>
              <a:rPr lang="en-US" b="1" dirty="0" smtClean="0">
                <a:solidFill>
                  <a:srgbClr val="FF0000"/>
                </a:solidFill>
              </a:rPr>
              <a:t>Condyloid synovial joint</a:t>
            </a:r>
            <a:endParaRPr lang="en-US" b="1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dirty="0" smtClean="0"/>
              <a:t>Articulation</a:t>
            </a:r>
            <a:endParaRPr lang="en-US" dirty="0" smtClean="0"/>
          </a:p>
          <a:p>
            <a:pPr lvl="1" eaLnBrk="1" hangingPunct="1"/>
            <a:r>
              <a:rPr lang="en-US" dirty="0" smtClean="0"/>
              <a:t>Distal end of </a:t>
            </a:r>
            <a:r>
              <a:rPr lang="en-US" b="1" dirty="0" smtClean="0">
                <a:solidFill>
                  <a:srgbClr val="FF0000"/>
                </a:solidFill>
              </a:rPr>
              <a:t>radius</a:t>
            </a:r>
            <a:r>
              <a:rPr lang="en-US" dirty="0" smtClean="0"/>
              <a:t> and its articular disc with proximal row of carpal bones (</a:t>
            </a:r>
            <a:r>
              <a:rPr lang="en-US" b="1" dirty="0" smtClean="0">
                <a:solidFill>
                  <a:srgbClr val="C00000"/>
                </a:solidFill>
              </a:rPr>
              <a:t>except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pisiform</a:t>
            </a:r>
            <a:r>
              <a:rPr lang="en-US" dirty="0" smtClean="0"/>
              <a:t>) </a:t>
            </a:r>
            <a:endParaRPr lang="en-US" dirty="0" smtClean="0"/>
          </a:p>
          <a:p>
            <a:pPr eaLnBrk="1" hangingPunct="1"/>
            <a:r>
              <a:rPr lang="en-US" dirty="0" smtClean="0"/>
              <a:t>Joint capsule</a:t>
            </a:r>
            <a:endParaRPr lang="en-US" dirty="0" smtClean="0"/>
          </a:p>
          <a:p>
            <a:pPr lvl="1" eaLnBrk="1" hangingPunct="1"/>
            <a:r>
              <a:rPr lang="en-US" dirty="0" smtClean="0"/>
              <a:t>Fibrous layer of joint capsule surrounds joint and attaches to distal ends of radius and ulna and proximal row of carpal bones; lined by synovial membrane</a:t>
            </a:r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514600" y="3733800"/>
            <a:ext cx="6096000" cy="3124200"/>
          </a:xfrm>
          <a:prstGeom prst="rect">
            <a:avLst/>
          </a:prstGeo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C0D98-2B5E-4852-9B1E-815EED4FCF2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704F9D-1FE5-43BF-BA63-0A333B6A1C70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376835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228600" y="228600"/>
            <a:ext cx="8686800" cy="6400800"/>
          </a:xfrm>
        </p:spPr>
        <p:txBody>
          <a:bodyPr/>
          <a:lstStyle/>
          <a:p>
            <a:pPr eaLnBrk="1" hangingPunct="1"/>
            <a:r>
              <a:rPr lang="en-US" sz="2800" dirty="0" smtClean="0"/>
              <a:t>Ligaments</a:t>
            </a:r>
            <a:endParaRPr lang="en-US" sz="2800" dirty="0" smtClean="0"/>
          </a:p>
          <a:p>
            <a:pPr lvl="1" eaLnBrk="1" hangingPunct="1"/>
            <a:r>
              <a:rPr lang="en-US" b="1" dirty="0" smtClean="0">
                <a:solidFill>
                  <a:srgbClr val="C00000"/>
                </a:solidFill>
              </a:rPr>
              <a:t>Anterior and posterior ligaments </a:t>
            </a:r>
            <a:r>
              <a:rPr lang="en-US" dirty="0" smtClean="0"/>
              <a:t>strengthen fibrous capsule</a:t>
            </a:r>
            <a:endParaRPr lang="en-US" dirty="0" smtClean="0"/>
          </a:p>
          <a:p>
            <a:pPr lvl="1" eaLnBrk="1" hangingPunct="1"/>
            <a:r>
              <a:rPr lang="en-US" b="1" dirty="0" smtClean="0">
                <a:solidFill>
                  <a:srgbClr val="C00000"/>
                </a:solidFill>
              </a:rPr>
              <a:t>Ulnar collateral ligament</a:t>
            </a:r>
            <a:r>
              <a:rPr lang="en-US" dirty="0" smtClean="0"/>
              <a:t> attaches to styloid process of ulna and triquetrum</a:t>
            </a:r>
            <a:endParaRPr lang="en-US" dirty="0" smtClean="0"/>
          </a:p>
          <a:p>
            <a:pPr lvl="1" eaLnBrk="1" hangingPunct="1"/>
            <a:r>
              <a:rPr lang="en-US" b="1" dirty="0" smtClean="0">
                <a:solidFill>
                  <a:srgbClr val="C00000"/>
                </a:solidFill>
              </a:rPr>
              <a:t>Radial collateral ligament </a:t>
            </a:r>
            <a:r>
              <a:rPr lang="en-US" dirty="0" smtClean="0"/>
              <a:t>attaches to styloid process of radius and scaphoid</a:t>
            </a:r>
            <a:endParaRPr lang="en-US" dirty="0" smtClean="0"/>
          </a:p>
          <a:p>
            <a:pPr eaLnBrk="1" hangingPunct="1"/>
            <a:r>
              <a:rPr lang="en-US" sz="2800" dirty="0" smtClean="0"/>
              <a:t>Movements: Flexion - extension</a:t>
            </a:r>
            <a:r>
              <a:rPr lang="en-US" sz="2800" b="1" dirty="0" smtClean="0"/>
              <a:t>, </a:t>
            </a:r>
            <a:r>
              <a:rPr lang="en-US" sz="2800" dirty="0" smtClean="0"/>
              <a:t>abduction - adduction, circumduction</a:t>
            </a:r>
            <a:endParaRPr lang="en-US" sz="2800" dirty="0" smtClean="0"/>
          </a:p>
          <a:p>
            <a:pPr eaLnBrk="1" hangingPunct="1"/>
            <a:r>
              <a:rPr lang="en-US" sz="2800" dirty="0" smtClean="0"/>
              <a:t>Blood supply: Dorsal and palmar carpal arches</a:t>
            </a:r>
            <a:endParaRPr lang="en-US" sz="2800" dirty="0" smtClean="0"/>
          </a:p>
          <a:p>
            <a:pPr eaLnBrk="1" hangingPunct="1"/>
            <a:r>
              <a:rPr lang="en-US" sz="2800" dirty="0" smtClean="0"/>
              <a:t>Innervation: Anterior interosseous branch of </a:t>
            </a:r>
            <a:r>
              <a:rPr lang="en-US" sz="2800" b="1" dirty="0" smtClean="0">
                <a:solidFill>
                  <a:srgbClr val="C00000"/>
                </a:solidFill>
              </a:rPr>
              <a:t>median</a:t>
            </a:r>
            <a:r>
              <a:rPr lang="en-US" sz="2800" dirty="0" smtClean="0"/>
              <a:t> nerve, posterior interosseous</a:t>
            </a:r>
            <a:r>
              <a:rPr lang="en-US" sz="2800" b="1" dirty="0" smtClean="0"/>
              <a:t> </a:t>
            </a:r>
            <a:r>
              <a:rPr lang="en-US" sz="2800" dirty="0" smtClean="0"/>
              <a:t>branch of </a:t>
            </a:r>
            <a:r>
              <a:rPr lang="en-US" sz="2800" b="1" dirty="0" smtClean="0">
                <a:solidFill>
                  <a:srgbClr val="C00000"/>
                </a:solidFill>
              </a:rPr>
              <a:t>radial</a:t>
            </a:r>
            <a:r>
              <a:rPr lang="en-US" sz="2800" dirty="0" smtClean="0"/>
              <a:t> nerve, and dorsal and deep branches of </a:t>
            </a:r>
            <a:r>
              <a:rPr lang="en-US" sz="2800" b="1" dirty="0" smtClean="0">
                <a:solidFill>
                  <a:srgbClr val="C00000"/>
                </a:solidFill>
              </a:rPr>
              <a:t>ulnar</a:t>
            </a:r>
            <a:r>
              <a:rPr lang="en-US" sz="2800" dirty="0" smtClean="0"/>
              <a:t> nerve</a:t>
            </a:r>
            <a:endParaRPr lang="en-US" sz="2800" dirty="0" smtClean="0"/>
          </a:p>
          <a:p>
            <a:pPr eaLnBrk="1" hangingPunct="1"/>
            <a:endParaRPr lang="en-US" sz="2800" dirty="0" smtClean="0"/>
          </a:p>
          <a:p>
            <a:pPr eaLnBrk="1" hangingPunct="1"/>
            <a:endParaRPr lang="en-US" sz="2800" dirty="0" smtClean="0"/>
          </a:p>
          <a:p>
            <a:pPr eaLnBrk="1" hangingPunct="1"/>
            <a:endParaRPr lang="en-US" sz="28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6F705-DAD8-45B4-9D04-A1CA652E44C0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8610600" cy="63246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3200" b="1" dirty="0" smtClean="0">
                <a:solidFill>
                  <a:srgbClr val="0000CC"/>
                </a:solidFill>
              </a:rPr>
              <a:t>          Pulse points in the upper limb </a:t>
            </a:r>
            <a:endParaRPr lang="en-US" sz="3200" b="1" dirty="0" smtClean="0">
              <a:solidFill>
                <a:srgbClr val="0000CC"/>
              </a:solidFill>
            </a:endParaRPr>
          </a:p>
          <a:p>
            <a:r>
              <a:rPr lang="en-US" dirty="0" smtClean="0">
                <a:solidFill>
                  <a:srgbClr val="0000CC"/>
                </a:solidFill>
              </a:rPr>
              <a:t>Axillary pulse</a:t>
            </a:r>
            <a:r>
              <a:rPr lang="en-US" dirty="0" smtClean="0"/>
              <a:t>: axillary artery in the axilla</a:t>
            </a:r>
            <a:endParaRPr lang="en-US" dirty="0" smtClean="0"/>
          </a:p>
          <a:p>
            <a:r>
              <a:rPr lang="en-US" dirty="0" smtClean="0">
                <a:solidFill>
                  <a:srgbClr val="0000CC"/>
                </a:solidFill>
              </a:rPr>
              <a:t>Brachial pulse </a:t>
            </a:r>
            <a:r>
              <a:rPr lang="en-US" dirty="0" smtClean="0"/>
              <a:t>in mid-arm: brachial artery on the medial side of the arm. This is the position where a blood pressure cuff is placed </a:t>
            </a:r>
            <a:endParaRPr lang="en-US" dirty="0" smtClean="0"/>
          </a:p>
          <a:p>
            <a:r>
              <a:rPr lang="en-US" dirty="0" smtClean="0">
                <a:solidFill>
                  <a:srgbClr val="0000CC"/>
                </a:solidFill>
              </a:rPr>
              <a:t>Brachial pulse in the cubital fossa</a:t>
            </a:r>
            <a:r>
              <a:rPr lang="en-US" dirty="0" smtClean="0"/>
              <a:t>: brachial artery medial to the tendon of the biceps brachii muscle. This is the position where a stethoscope is placed to hear the pulse of the vessel when taking a blood pressure reading </a:t>
            </a:r>
            <a:endParaRPr lang="en-US" dirty="0" smtClean="0"/>
          </a:p>
          <a:p>
            <a:r>
              <a:rPr lang="en-US" b="1" dirty="0" smtClean="0">
                <a:solidFill>
                  <a:srgbClr val="0000CC"/>
                </a:solidFill>
              </a:rPr>
              <a:t>Radial pulse </a:t>
            </a:r>
            <a:r>
              <a:rPr lang="en-US" dirty="0" smtClean="0"/>
              <a:t>in the distal forearm: radial artery immediately lateral to the tendon of the flexor carpi radialis muscle. This is the most common site for 'taking a pulse</a:t>
            </a:r>
            <a:endParaRPr lang="en-US" dirty="0" smtClean="0"/>
          </a:p>
          <a:p>
            <a:r>
              <a:rPr lang="en-US" b="1" dirty="0" smtClean="0">
                <a:solidFill>
                  <a:srgbClr val="0000CC"/>
                </a:solidFill>
              </a:rPr>
              <a:t>Ulnar pulse </a:t>
            </a:r>
            <a:r>
              <a:rPr lang="en-US" dirty="0" smtClean="0"/>
              <a:t>in the distal forearm: ulnar artery immediately under the lateral margin of the flexor carpi ulnaris tendon and proximal to the pisiform. </a:t>
            </a:r>
            <a:endParaRPr lang="en-US" dirty="0" smtClean="0"/>
          </a:p>
          <a:p>
            <a:r>
              <a:rPr lang="en-US" b="1" dirty="0" smtClean="0">
                <a:solidFill>
                  <a:srgbClr val="0000CC"/>
                </a:solidFill>
              </a:rPr>
              <a:t>Radial pulse </a:t>
            </a:r>
            <a:r>
              <a:rPr lang="en-US" dirty="0" smtClean="0"/>
              <a:t>in the anatomical snuffbox: radial artery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C4E05-4786-4233-850B-4CD8424F3EBC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24000" y="51780"/>
            <a:ext cx="4953000" cy="6806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4AD9D-1E5C-4AEA-99BB-EA92EB90B30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18742</Words>
  <Application>WPS Presentation</Application>
  <PresentationFormat>On-screen Show (4:3)</PresentationFormat>
  <Paragraphs>820</Paragraphs>
  <Slides>62</Slides>
  <Notes>94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87" baseType="lpstr">
      <vt:lpstr>Arial</vt:lpstr>
      <vt:lpstr>SimSun</vt:lpstr>
      <vt:lpstr>Wingdings</vt:lpstr>
      <vt:lpstr>Wingdings 2</vt:lpstr>
      <vt:lpstr>Courier New</vt:lpstr>
      <vt:lpstr>Times New Roman</vt:lpstr>
      <vt:lpstr>Wingdings 2</vt:lpstr>
      <vt:lpstr>Perpetua</vt:lpstr>
      <vt:lpstr>Symbol</vt:lpstr>
      <vt:lpstr>Wingdings</vt:lpstr>
      <vt:lpstr>EucrosiaUPC</vt:lpstr>
      <vt:lpstr>Ethiopic Addis</vt:lpstr>
      <vt:lpstr>Calibri</vt:lpstr>
      <vt:lpstr>Microsoft YaHei</vt:lpstr>
      <vt:lpstr>Arial Unicode MS</vt:lpstr>
      <vt:lpstr>Franklin Gothic Book</vt:lpstr>
      <vt:lpstr>Tahoma</vt:lpstr>
      <vt:lpstr>Bookman Old Style</vt:lpstr>
      <vt:lpstr>Algerian</vt:lpstr>
      <vt:lpstr>Baskerville Old Face</vt:lpstr>
      <vt:lpstr>Aharoni</vt:lpstr>
      <vt:lpstr>BankGothic Md BT</vt:lpstr>
      <vt:lpstr>BankGothic Lt BT</vt:lpstr>
      <vt:lpstr>Angsana New</vt:lpstr>
      <vt:lpstr>Equity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        Cubital fossa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          Arteries of Hand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Proximal radio ulnar joint</vt:lpstr>
      <vt:lpstr>PowerPoint 演示文稿</vt:lpstr>
      <vt:lpstr>PowerPoint 演示文稿</vt:lpstr>
      <vt:lpstr>Distal radio ulnar joint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daved</cp:lastModifiedBy>
  <cp:revision>52</cp:revision>
  <dcterms:created xsi:type="dcterms:W3CDTF">2025-10-01T03:43:00Z</dcterms:created>
  <dcterms:modified xsi:type="dcterms:W3CDTF">2026-10-01T22:48:14Z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D8CB921C669941129720B22A0E551556_12</vt:lpwstr>
  </property>
  <property fmtid="{D5CDD505-2E9C-101B-9397-08002B2CF9AE}" pid="3" name="KSOProductBuildVer">
    <vt:lpwstr>1033-12.1.0.28485</vt:lpwstr>
  </property>
</Properties>
</file>