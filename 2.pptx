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181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Upper Limb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5867"/>
            <a:ext cx="6096000" cy="575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664F-D1E7-48C0-B074-08B2C69E98A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     Bones of Upper Limb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4648200" cy="5334000"/>
          </a:xfrm>
          <a:ln>
            <a:noFill/>
          </a:ln>
        </p:spPr>
        <p:txBody>
          <a:bodyPr/>
          <a:lstStyle/>
          <a:p>
            <a:r>
              <a:rPr lang="en-US" sz="2800" dirty="0" smtClean="0"/>
              <a:t>The superior appendicular skeleton </a:t>
            </a:r>
            <a:endParaRPr lang="en-US" sz="2800" dirty="0" smtClean="0"/>
          </a:p>
          <a:p>
            <a:pPr lvl="1"/>
            <a:r>
              <a:rPr lang="en-US" dirty="0" smtClean="0"/>
              <a:t>Composed of </a:t>
            </a:r>
            <a:endParaRPr lang="en-US" dirty="0" smtClean="0"/>
          </a:p>
          <a:p>
            <a:pPr lvl="2"/>
            <a:r>
              <a:rPr lang="en-US" sz="2800" dirty="0" smtClean="0"/>
              <a:t>pectoral girdle</a:t>
            </a:r>
            <a:endParaRPr lang="en-US" sz="2800" dirty="0" smtClean="0"/>
          </a:p>
          <a:p>
            <a:pPr lvl="2"/>
            <a:r>
              <a:rPr lang="en-US" sz="2800" dirty="0" smtClean="0"/>
              <a:t>bones of the free part of the upper limb </a:t>
            </a:r>
            <a:endParaRPr lang="en-US" sz="2800" dirty="0" smtClean="0"/>
          </a:p>
          <a:p>
            <a:pPr lvl="1"/>
            <a:r>
              <a:rPr lang="en-US" dirty="0" smtClean="0"/>
              <a:t>Articulates with the axial skeleton only at the </a:t>
            </a:r>
            <a:r>
              <a:rPr lang="en-US" b="1" dirty="0" smtClean="0">
                <a:solidFill>
                  <a:srgbClr val="002060"/>
                </a:solidFill>
              </a:rPr>
              <a:t>sternoclavicular</a:t>
            </a:r>
            <a:r>
              <a:rPr lang="en-US" dirty="0" smtClean="0"/>
              <a:t> joint</a:t>
            </a:r>
            <a:endParaRPr lang="en-US" dirty="0" smtClean="0"/>
          </a:p>
          <a:p>
            <a:pPr lvl="2"/>
            <a:r>
              <a:rPr lang="en-US" sz="2800" dirty="0" smtClean="0"/>
              <a:t>allows great mobility</a:t>
            </a:r>
            <a:endParaRPr lang="en-US" sz="28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57800" y="1219200"/>
            <a:ext cx="3489388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F3D15-4562-453E-A06E-F4EC3075590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8683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              Bones of Upper Limb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4191000" cy="533400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 smtClean="0"/>
              <a:t>Clavicle/</a:t>
            </a:r>
            <a:r>
              <a:rPr lang="en-US" sz="2800" dirty="0"/>
              <a:t> collar bone</a:t>
            </a:r>
            <a:endParaRPr lang="en-US" sz="3200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</a:t>
            </a:r>
            <a:r>
              <a:rPr lang="en-US" dirty="0" smtClean="0"/>
              <a:t>onnects the upper limb to the trunk.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b="1" dirty="0"/>
              <a:t>S</a:t>
            </a:r>
            <a:r>
              <a:rPr lang="en-US" b="1" dirty="0" smtClean="0"/>
              <a:t>ternal end/ </a:t>
            </a:r>
            <a:r>
              <a:rPr lang="en-US" dirty="0" err="1" smtClean="0"/>
              <a:t>sternoclavicular</a:t>
            </a:r>
            <a:r>
              <a:rPr lang="en-US" dirty="0" smtClean="0"/>
              <a:t> (SC) joint.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</a:t>
            </a:r>
            <a:r>
              <a:rPr lang="en-US" b="1" dirty="0" smtClean="0"/>
              <a:t>cromial end: </a:t>
            </a:r>
            <a:r>
              <a:rPr lang="en-US" dirty="0" err="1" smtClean="0"/>
              <a:t>acromioclavicular</a:t>
            </a:r>
            <a:r>
              <a:rPr lang="en-US" dirty="0" smtClean="0"/>
              <a:t> (AC) joint.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medial two thirds of the shaft </a:t>
            </a:r>
            <a:r>
              <a:rPr lang="en-US" dirty="0" smtClean="0">
                <a:solidFill>
                  <a:srgbClr val="FF0000"/>
                </a:solidFill>
              </a:rPr>
              <a:t>convex </a:t>
            </a:r>
            <a:r>
              <a:rPr lang="en-US" dirty="0" smtClean="0"/>
              <a:t>anteriorly, the lateral third is flattened and </a:t>
            </a:r>
            <a:r>
              <a:rPr lang="en-US" dirty="0" smtClean="0">
                <a:solidFill>
                  <a:srgbClr val="FF0000"/>
                </a:solidFill>
              </a:rPr>
              <a:t>concave </a:t>
            </a:r>
            <a:r>
              <a:rPr lang="en-US" dirty="0" smtClean="0"/>
              <a:t>anteriorly.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48193" y="1371598"/>
            <a:ext cx="4362307" cy="403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BEF8-8F4F-40FA-90EF-0731E1389F0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990600" y="412784"/>
            <a:ext cx="7010400" cy="6110669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9BE2-86C5-4A81-B6B2-56B043C21C4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81000"/>
            <a:ext cx="4724400" cy="6096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The weakest part is at the </a:t>
            </a:r>
            <a:r>
              <a:rPr lang="en-US" sz="2400" b="1" dirty="0" smtClean="0"/>
              <a:t>junction of its </a:t>
            </a:r>
            <a:r>
              <a:rPr lang="en-US" sz="2400" b="1" dirty="0" smtClean="0">
                <a:solidFill>
                  <a:srgbClr val="FF0000"/>
                </a:solidFill>
              </a:rPr>
              <a:t>middle and lateral thirds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/>
              <a:t>After fracture</a:t>
            </a:r>
            <a:endParaRPr lang="en-US" sz="2400" b="1" dirty="0" smtClean="0"/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sternocleidomastoid (SCM) muscle elevates the medial fragment of bone 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trapezius muscle is unable to hold up the lateral fragment owing to the weight of the upper limb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thus the shoulder drops 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05400" y="1447800"/>
            <a:ext cx="4038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FBD5-44DC-4956-A66E-7D7E433E696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715962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Bones of Upper Limb </a:t>
            </a:r>
            <a:r>
              <a:rPr lang="en-US" b="1" dirty="0" err="1" smtClean="0">
                <a:solidFill>
                  <a:srgbClr val="FF0000"/>
                </a:solidFill>
              </a:rPr>
              <a:t>cont’ed</a:t>
            </a:r>
            <a:r>
              <a:rPr lang="en-US" b="1" dirty="0" smtClean="0">
                <a:solidFill>
                  <a:srgbClr val="FF0000"/>
                </a:solidFill>
              </a:rPr>
              <a:t>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001000" cy="541020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 smtClean="0"/>
              <a:t>Scapula</a:t>
            </a:r>
            <a:endParaRPr lang="en-US" sz="3200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scapula (shoulder blade) is a triangular flat bone that lies on the </a:t>
            </a:r>
            <a:r>
              <a:rPr lang="en-US" dirty="0" err="1" smtClean="0"/>
              <a:t>posterolateral</a:t>
            </a:r>
            <a:r>
              <a:rPr lang="en-US" dirty="0" smtClean="0"/>
              <a:t> aspect of the thorax, overlying the 2</a:t>
            </a:r>
            <a:r>
              <a:rPr lang="en-US" baseline="30000" dirty="0" smtClean="0"/>
              <a:t>nd </a:t>
            </a:r>
            <a:r>
              <a:rPr lang="en-US" dirty="0" smtClean="0"/>
              <a:t>- 7</a:t>
            </a:r>
            <a:r>
              <a:rPr lang="en-US" baseline="30000" dirty="0" smtClean="0"/>
              <a:t>th</a:t>
            </a:r>
            <a:r>
              <a:rPr lang="en-US" dirty="0" smtClean="0"/>
              <a:t>  ribs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posterior surface </a:t>
            </a:r>
            <a:endParaRPr lang="en-US" dirty="0" smtClean="0"/>
          </a:p>
          <a:p>
            <a:pPr lvl="3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Convex, divided by it spine in to small </a:t>
            </a:r>
            <a:r>
              <a:rPr lang="en-US" b="1" dirty="0" err="1" smtClean="0">
                <a:solidFill>
                  <a:srgbClr val="FF0000"/>
                </a:solidFill>
              </a:rPr>
              <a:t>supraspinous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fossa and large </a:t>
            </a:r>
            <a:r>
              <a:rPr lang="en-US" b="1" dirty="0" err="1" smtClean="0">
                <a:solidFill>
                  <a:srgbClr val="FF0000"/>
                </a:solidFill>
              </a:rPr>
              <a:t>infraspinous</a:t>
            </a:r>
            <a:r>
              <a:rPr lang="en-US" b="1" dirty="0" smtClean="0"/>
              <a:t> fossa.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anterior or concave costal surface </a:t>
            </a:r>
            <a:endParaRPr lang="en-US" dirty="0" smtClean="0"/>
          </a:p>
          <a:p>
            <a:pPr lvl="3">
              <a:buFont typeface="Wingdings" panose="05000000000000000000" pitchFamily="2" charset="2"/>
              <a:buChar char="§"/>
            </a:pPr>
            <a:r>
              <a:rPr lang="en-US" dirty="0" smtClean="0"/>
              <a:t>has a large </a:t>
            </a:r>
            <a:r>
              <a:rPr lang="en-US" b="1" dirty="0" err="1" smtClean="0">
                <a:solidFill>
                  <a:srgbClr val="FF0000"/>
                </a:solidFill>
              </a:rPr>
              <a:t>subscapular</a:t>
            </a:r>
            <a:r>
              <a:rPr lang="en-US" dirty="0" smtClean="0"/>
              <a:t> fossa.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The triangular body (blade) of the scapula is thin and translucent superior and inferior to the scapular spine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F2075-FE0A-4A3C-AE13-25FCCDE8E93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762000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b="1" dirty="0" smtClean="0">
                <a:solidFill>
                  <a:srgbClr val="FF0000"/>
                </a:solidFill>
              </a:rPr>
            </a:b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                   Scapula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3886200" cy="54864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dirty="0" smtClean="0"/>
              <a:t>The scapula has: two </a:t>
            </a:r>
            <a:r>
              <a:rPr lang="en-US" dirty="0" smtClean="0">
                <a:solidFill>
                  <a:srgbClr val="FF0000"/>
                </a:solidFill>
              </a:rPr>
              <a:t>angles</a:t>
            </a:r>
            <a:r>
              <a:rPr lang="en-US" dirty="0" smtClean="0"/>
              <a:t> (superior, and inferior) </a:t>
            </a:r>
            <a:endParaRPr lang="en-US" dirty="0" smtClean="0"/>
          </a:p>
          <a:p>
            <a:r>
              <a:rPr lang="en-US" dirty="0" smtClean="0"/>
              <a:t>three </a:t>
            </a:r>
            <a:r>
              <a:rPr lang="en-US" dirty="0" smtClean="0">
                <a:solidFill>
                  <a:srgbClr val="FF0000"/>
                </a:solidFill>
              </a:rPr>
              <a:t>borders</a:t>
            </a:r>
            <a:r>
              <a:rPr lang="en-US" dirty="0" smtClean="0"/>
              <a:t> (superior, lateral, and medial); </a:t>
            </a:r>
            <a:endParaRPr lang="en-US" dirty="0" smtClean="0"/>
          </a:p>
          <a:p>
            <a:r>
              <a:rPr lang="en-US" dirty="0" smtClean="0"/>
              <a:t>two </a:t>
            </a:r>
            <a:r>
              <a:rPr lang="en-US" dirty="0" smtClean="0">
                <a:solidFill>
                  <a:srgbClr val="FF0000"/>
                </a:solidFill>
              </a:rPr>
              <a:t>surfaces</a:t>
            </a:r>
            <a:r>
              <a:rPr lang="en-US" dirty="0" smtClean="0"/>
              <a:t> (costal and posterior); and </a:t>
            </a:r>
            <a:endParaRPr lang="en-US" dirty="0" smtClean="0"/>
          </a:p>
          <a:p>
            <a:r>
              <a:rPr lang="en-US" dirty="0" smtClean="0"/>
              <a:t>Three </a:t>
            </a:r>
            <a:r>
              <a:rPr lang="en-US" dirty="0" smtClean="0">
                <a:solidFill>
                  <a:srgbClr val="FF0000"/>
                </a:solidFill>
              </a:rPr>
              <a:t>processes</a:t>
            </a:r>
            <a:r>
              <a:rPr lang="en-US" dirty="0" smtClean="0"/>
              <a:t> (spine, </a:t>
            </a:r>
            <a:r>
              <a:rPr lang="en-US" dirty="0" err="1" smtClean="0"/>
              <a:t>acromion</a:t>
            </a:r>
            <a:r>
              <a:rPr lang="en-US" dirty="0" smtClean="0"/>
              <a:t>, and coracoid process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91000" y="1219199"/>
            <a:ext cx="4831657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9545C-1F24-48B6-87E7-E8C22932556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15962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b="1" dirty="0" smtClean="0">
                <a:solidFill>
                  <a:srgbClr val="FF0000"/>
                </a:solidFill>
              </a:rPr>
            </a:b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                   Scapula…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1295400"/>
            <a:ext cx="4662107" cy="429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395" y="1295400"/>
            <a:ext cx="3882157" cy="429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33400" y="57150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Clinically the arm is measured from the tip of the acromion to the lateral epicondyle of the humerus </a:t>
            </a:r>
            <a:endParaRPr 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0C53-DA5A-4C84-8DFE-BFF1E81F017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10600" cy="6858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                Humerus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95400"/>
            <a:ext cx="4038600" cy="5334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 smtClean="0"/>
              <a:t>The proximal end of the humerus consists of the</a:t>
            </a:r>
            <a:r>
              <a:rPr lang="en-US" dirty="0" smtClean="0">
                <a:solidFill>
                  <a:srgbClr val="FF0000"/>
                </a:solidFill>
              </a:rPr>
              <a:t> head, 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FF0000"/>
                </a:solidFill>
              </a:rPr>
              <a:t> anatomical neck, the greater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lesser tubercles, the surgical neck,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the superior half </a:t>
            </a:r>
            <a:r>
              <a:rPr lang="en-US" dirty="0" smtClean="0"/>
              <a:t>of the shaft of humerus</a:t>
            </a:r>
            <a:endParaRPr lang="en-US" dirty="0" smtClean="0"/>
          </a:p>
          <a:p>
            <a:endParaRPr lang="en-US" dirty="0" smtClean="0"/>
          </a:p>
          <a:p>
            <a:r>
              <a:rPr lang="en-US" sz="2400" dirty="0" smtClean="0"/>
              <a:t>Surgical neck- </a:t>
            </a:r>
            <a:r>
              <a:rPr lang="en-US" sz="2400" dirty="0" smtClean="0">
                <a:solidFill>
                  <a:srgbClr val="0070C0"/>
                </a:solidFill>
              </a:rPr>
              <a:t>the most frequent site of fracture  </a:t>
            </a:r>
            <a:endParaRPr lang="en-US" sz="2400" dirty="0" smtClean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038600" y="914400"/>
            <a:ext cx="4711372" cy="576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06BE-6149-4CA7-AA25-7250644B225F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685800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                       Humerus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3403600" y="2130425"/>
            <a:ext cx="2794000" cy="320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85800" y="2590800"/>
            <a:ext cx="294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.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4267200" cy="413651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rgbClr val="FF0000"/>
                </a:solidFill>
              </a:rPr>
              <a:t>Shaft (body):- </a:t>
            </a:r>
            <a:r>
              <a:rPr lang="en-US" sz="2800" dirty="0" smtClean="0">
                <a:solidFill>
                  <a:prstClr val="black"/>
                </a:solidFill>
              </a:rPr>
              <a:t>features</a:t>
            </a:r>
            <a:endParaRPr lang="en-US" sz="2800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Deltoid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tuberosity</a:t>
            </a:r>
            <a:endParaRPr lang="en-US" sz="2400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Radial groove</a:t>
            </a:r>
            <a:endParaRPr lang="en-US" dirty="0" smtClean="0">
              <a:solidFill>
                <a:prstClr val="blac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FF0000"/>
                </a:solidFill>
              </a:rPr>
              <a:t>Inferior end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medial and lateral </a:t>
            </a:r>
            <a:r>
              <a:rPr lang="en-US" sz="2400" b="1" dirty="0" smtClean="0">
                <a:solidFill>
                  <a:srgbClr val="0070C0"/>
                </a:solidFill>
              </a:rPr>
              <a:t>supracondylar</a:t>
            </a:r>
            <a:r>
              <a:rPr lang="en-US" sz="2400" dirty="0" smtClean="0">
                <a:solidFill>
                  <a:prstClr val="black"/>
                </a:solidFill>
              </a:rPr>
              <a:t> ridges </a:t>
            </a:r>
            <a:endParaRPr lang="en-US" sz="2400" dirty="0" smtClean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medial and lateral epicondyles</a:t>
            </a:r>
            <a:endParaRPr lang="en-US" sz="2400" dirty="0" smtClean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prstClr val="black"/>
                </a:solidFill>
              </a:rPr>
              <a:t>The radial, Olecranon, &amp; Coronoid fossa</a:t>
            </a:r>
            <a:endParaRPr lang="en-US" sz="2400" b="1" dirty="0" smtClean="0">
              <a:solidFill>
                <a:prstClr val="black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Trochlea and capitulum</a:t>
            </a:r>
            <a:endParaRPr lang="en-US" sz="2400" b="1" dirty="0" smtClean="0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1088-A06E-48C3-A8BA-B10312C7E8E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>
            <a:lum bright="-30000" contrast="30000"/>
          </a:blip>
          <a:srcRect/>
          <a:stretch>
            <a:fillRect/>
          </a:stretch>
        </p:blipFill>
        <p:spPr>
          <a:xfrm>
            <a:off x="0" y="-76200"/>
            <a:ext cx="9144000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E4C96-AB49-4448-92EA-61619179ABD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371600"/>
            <a:ext cx="3810000" cy="4572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Because nerves are in contact with the humerus, they may be injured when the associated part of the humerus is fractured</a:t>
            </a:r>
            <a:endParaRPr lang="en-US" sz="2800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</a:rPr>
              <a:t>Surgical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neck</a:t>
            </a:r>
            <a:r>
              <a:rPr lang="en-US" dirty="0" smtClean="0"/>
              <a:t> – axillary nerve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</a:rPr>
              <a:t>Radial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groove</a:t>
            </a:r>
            <a:r>
              <a:rPr lang="en-US" dirty="0" smtClean="0"/>
              <a:t> – radial nerve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</a:rPr>
              <a:t>Distal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humerus</a:t>
            </a:r>
            <a:r>
              <a:rPr lang="en-US" dirty="0" smtClean="0"/>
              <a:t> – median nerve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</a:rPr>
              <a:t>Medial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epicondyle</a:t>
            </a:r>
            <a:r>
              <a:rPr lang="en-US" dirty="0" smtClean="0"/>
              <a:t> – ulnar nerve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91000" y="65087"/>
            <a:ext cx="4953000" cy="679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5A16-BA9C-4586-AF03-82BBBD52A37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70C0"/>
                </a:solidFill>
              </a:rPr>
              <a:t>                         Ulna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B725DB-97AB-44EC-B524-BED925087996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4800600" cy="5181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The medial and longer of the two forearm bones </a:t>
            </a:r>
            <a:endParaRPr lang="en-US" sz="2800" dirty="0" smtClean="0"/>
          </a:p>
          <a:p>
            <a:pPr eaLnBrk="1" hangingPunct="1"/>
            <a:r>
              <a:rPr lang="en-US" sz="2800" dirty="0" smtClean="0"/>
              <a:t>Its proximal end has two prominent projections</a:t>
            </a:r>
            <a:endParaRPr lang="en-US" sz="2800" dirty="0" smtClean="0"/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olecranon posteriorly </a:t>
            </a:r>
            <a:r>
              <a:rPr lang="en-US" dirty="0" smtClean="0"/>
              <a:t>– resemble the upper jaw </a:t>
            </a:r>
            <a:endParaRPr lang="en-US" dirty="0" smtClean="0"/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coronoid process anteriorly </a:t>
            </a:r>
            <a:r>
              <a:rPr lang="en-US" dirty="0" smtClean="0"/>
              <a:t>- form the walls of the trochlear notch </a:t>
            </a:r>
            <a:endParaRPr lang="en-US" dirty="0" smtClean="0"/>
          </a:p>
          <a:p>
            <a:pPr eaLnBrk="1" hangingPunct="1"/>
            <a:r>
              <a:rPr lang="en-US" sz="2800" dirty="0" smtClean="0">
                <a:solidFill>
                  <a:srgbClr val="FF0000"/>
                </a:solidFill>
              </a:rPr>
              <a:t>Trochlear notch </a:t>
            </a:r>
            <a:r>
              <a:rPr lang="en-US" sz="2800" dirty="0" smtClean="0"/>
              <a:t>-</a:t>
            </a:r>
            <a:endParaRPr lang="en-US" sz="2800" dirty="0" smtClean="0"/>
          </a:p>
          <a:p>
            <a:pPr lvl="1" eaLnBrk="1" hangingPunct="1"/>
            <a:r>
              <a:rPr lang="en-US" dirty="0" smtClean="0"/>
              <a:t>articulates with the trochlea of the humerus</a:t>
            </a:r>
            <a:endParaRPr lang="en-US" dirty="0" smtClean="0"/>
          </a:p>
        </p:txBody>
      </p:sp>
      <p:pic>
        <p:nvPicPr>
          <p:cNvPr id="39941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81600" y="1371600"/>
            <a:ext cx="3962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362C-E887-428E-905A-292513F947F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95E956-D65B-42D5-B49F-8072D6006932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19200"/>
            <a:ext cx="4572000" cy="5638800"/>
          </a:xfrm>
        </p:spPr>
        <p:txBody>
          <a:bodyPr>
            <a:normAutofit fontScale="92500"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Radial notch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dirty="0" smtClean="0"/>
              <a:t>on the lateral side of the coronoid process </a:t>
            </a:r>
            <a:endParaRPr lang="en-US" dirty="0" smtClean="0"/>
          </a:p>
          <a:p>
            <a:pPr lvl="1" eaLnBrk="1" hangingPunct="1"/>
            <a:r>
              <a:rPr lang="en-US" dirty="0" smtClean="0"/>
              <a:t>articulates with the head of radius </a:t>
            </a:r>
            <a:endParaRPr lang="en-US" dirty="0" smtClean="0"/>
          </a:p>
          <a:p>
            <a:pPr eaLnBrk="1" hangingPunct="1"/>
            <a:r>
              <a:rPr lang="en-US" dirty="0" smtClean="0"/>
              <a:t>Shaft (body) </a:t>
            </a:r>
            <a:endParaRPr lang="en-US" dirty="0" smtClean="0"/>
          </a:p>
          <a:p>
            <a:pPr lvl="1" eaLnBrk="1" hangingPunct="1"/>
            <a:r>
              <a:rPr lang="en-US" dirty="0" smtClean="0"/>
              <a:t>proximally it is thick, but it tapers distally</a:t>
            </a:r>
            <a:endParaRPr lang="en-US" dirty="0" smtClean="0"/>
          </a:p>
          <a:p>
            <a:pPr eaLnBrk="1" hangingPunct="1"/>
            <a:r>
              <a:rPr lang="en-US" dirty="0" smtClean="0"/>
              <a:t>Head  </a:t>
            </a:r>
            <a:endParaRPr lang="en-US" dirty="0" smtClean="0"/>
          </a:p>
          <a:p>
            <a:pPr lvl="1" eaLnBrk="1" hangingPunct="1"/>
            <a:r>
              <a:rPr lang="en-US" dirty="0" smtClean="0"/>
              <a:t>narrow distal end </a:t>
            </a:r>
            <a:endParaRPr lang="en-US" dirty="0" smtClean="0"/>
          </a:p>
          <a:p>
            <a:pPr lvl="1" eaLnBrk="1" hangingPunct="1"/>
            <a:r>
              <a:rPr lang="en-US" dirty="0" smtClean="0"/>
              <a:t>rounded with small, conical ulnar styloid process</a:t>
            </a:r>
            <a:endParaRPr lang="en-US" dirty="0" smtClean="0"/>
          </a:p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The ulna does not reach, and therefore does not participate in the wrist (radiocarpal) joint</a:t>
            </a:r>
            <a:endParaRPr lang="en-US" dirty="0" smtClean="0">
              <a:solidFill>
                <a:srgbClr val="FF0000"/>
              </a:solidFill>
            </a:endParaRPr>
          </a:p>
          <a:p>
            <a:pPr eaLnBrk="1" hangingPunct="1"/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8275" y="1219200"/>
            <a:ext cx="4425725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10000" y="304800"/>
            <a:ext cx="228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Ulna 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1C8D-A7F4-49DE-B154-329A8D62D1C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rgbClr val="0070C0"/>
                </a:solidFill>
              </a:rPr>
              <a:t>Radius 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CB7653-DA1D-4D50-8C99-3461CAAC9C23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548640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The lateral and shorter of the two forearm bones</a:t>
            </a:r>
            <a:endParaRPr lang="en-US" dirty="0" smtClean="0"/>
          </a:p>
          <a:p>
            <a:pPr eaLnBrk="1" hangingPunct="1"/>
            <a:r>
              <a:rPr lang="en-US" dirty="0" smtClean="0"/>
              <a:t>Its proximal end consists of a cylindrical  </a:t>
            </a:r>
            <a:r>
              <a:rPr lang="en-US" dirty="0" smtClean="0">
                <a:solidFill>
                  <a:srgbClr val="FF0000"/>
                </a:solidFill>
              </a:rPr>
              <a:t>head,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short neck</a:t>
            </a:r>
            <a:r>
              <a:rPr lang="en-US" dirty="0" smtClean="0"/>
              <a:t>, a projection from the medial surface (</a:t>
            </a:r>
            <a:r>
              <a:rPr lang="en-US" dirty="0" smtClean="0">
                <a:solidFill>
                  <a:srgbClr val="FF0000"/>
                </a:solidFill>
              </a:rPr>
              <a:t>radial tuberosity</a:t>
            </a:r>
            <a:r>
              <a:rPr lang="en-US" dirty="0" smtClean="0"/>
              <a:t>)</a:t>
            </a:r>
            <a:endParaRPr lang="en-US" dirty="0" smtClean="0"/>
          </a:p>
          <a:p>
            <a:pPr eaLnBrk="1" hangingPunct="1"/>
            <a:r>
              <a:rPr lang="en-US" dirty="0" smtClean="0"/>
              <a:t>Head</a:t>
            </a:r>
            <a:endParaRPr lang="en-US" dirty="0" smtClean="0"/>
          </a:p>
          <a:p>
            <a:pPr lvl="1" eaLnBrk="1" hangingPunct="1"/>
            <a:r>
              <a:rPr lang="en-US" sz="2800" dirty="0" smtClean="0"/>
              <a:t>superior surface is concave for articulation with </a:t>
            </a:r>
            <a:r>
              <a:rPr lang="en-US" sz="2800" dirty="0" smtClean="0">
                <a:solidFill>
                  <a:srgbClr val="FF0000"/>
                </a:solidFill>
              </a:rPr>
              <a:t>capitulum of humerus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800" dirty="0" smtClean="0"/>
              <a:t>medially articulate with </a:t>
            </a:r>
            <a:r>
              <a:rPr lang="en-US" sz="2800" dirty="0" smtClean="0">
                <a:solidFill>
                  <a:srgbClr val="FF0000"/>
                </a:solidFill>
              </a:rPr>
              <a:t>radial notch of ulna</a:t>
            </a:r>
            <a:endParaRPr lang="en-US" sz="2800" dirty="0" smtClean="0">
              <a:solidFill>
                <a:srgbClr val="FF0000"/>
              </a:solidFill>
            </a:endParaRPr>
          </a:p>
          <a:p>
            <a:pPr eaLnBrk="1" hangingPunct="1"/>
            <a:endParaRPr lang="en-US" sz="2800" dirty="0" smtClean="0"/>
          </a:p>
          <a:p>
            <a:pPr eaLnBrk="1" hangingPunct="1"/>
            <a:endParaRPr lang="en-US" sz="28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638800" y="1066800"/>
            <a:ext cx="3290888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C797-BB6D-4884-B59F-FC98B987DF5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513BE-34BB-4786-822B-BC930BC53757}" type="slidenum">
              <a:rPr lang="en-US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371600"/>
            <a:ext cx="5181600" cy="5105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Neck 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3200" dirty="0" smtClean="0"/>
              <a:t>narrow part between head and radial tuberosity</a:t>
            </a:r>
            <a:endParaRPr lang="en-US" sz="3200" dirty="0" smtClean="0"/>
          </a:p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Shaft (body)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3200" dirty="0" smtClean="0"/>
              <a:t>gradually enlarges distally</a:t>
            </a:r>
            <a:endParaRPr lang="en-US" sz="3200" dirty="0" smtClean="0"/>
          </a:p>
          <a:p>
            <a:pPr eaLnBrk="1" hangingPunct="1"/>
            <a:r>
              <a:rPr lang="en-US" dirty="0" smtClean="0"/>
              <a:t>Distal end</a:t>
            </a:r>
            <a:endParaRPr lang="en-US" dirty="0" smtClean="0"/>
          </a:p>
          <a:p>
            <a:pPr lvl="1" eaLnBrk="1" hangingPunct="1"/>
            <a:r>
              <a:rPr lang="en-US" sz="3200" dirty="0" smtClean="0"/>
              <a:t>medially - </a:t>
            </a:r>
            <a:r>
              <a:rPr lang="en-US" sz="3200" dirty="0" smtClean="0">
                <a:solidFill>
                  <a:srgbClr val="FF0000"/>
                </a:solidFill>
              </a:rPr>
              <a:t>ulnar notch </a:t>
            </a:r>
            <a:r>
              <a:rPr lang="en-US" sz="3200" dirty="0" smtClean="0"/>
              <a:t>for head of ulna</a:t>
            </a:r>
            <a:endParaRPr lang="en-US" sz="3200" dirty="0" smtClean="0"/>
          </a:p>
          <a:p>
            <a:pPr lvl="1" eaLnBrk="1" hangingPunct="1"/>
            <a:r>
              <a:rPr lang="en-US" sz="3200" dirty="0" smtClean="0"/>
              <a:t>laterally - </a:t>
            </a:r>
            <a:r>
              <a:rPr lang="en-US" sz="3200" dirty="0" smtClean="0">
                <a:solidFill>
                  <a:srgbClr val="FF0000"/>
                </a:solidFill>
              </a:rPr>
              <a:t>radial styloid </a:t>
            </a:r>
            <a:r>
              <a:rPr lang="en-US" sz="3200" dirty="0" smtClean="0"/>
              <a:t>process</a:t>
            </a:r>
            <a:endParaRPr lang="en-US" sz="3200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638800" y="1066800"/>
            <a:ext cx="3290888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29F9-A1A2-403A-BD9E-51C830B9B26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371600"/>
            <a:ext cx="50292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Colles fracture</a:t>
            </a:r>
            <a:r>
              <a:rPr lang="en-US" sz="2800" b="1" dirty="0" smtClean="0">
                <a:solidFill>
                  <a:srgbClr val="0070C0"/>
                </a:solidFill>
              </a:rPr>
              <a:t> </a:t>
            </a:r>
            <a:endParaRPr lang="en-US" sz="2800" b="1" dirty="0" smtClean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A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complete fracture of the distal </a:t>
            </a:r>
            <a:r>
              <a:rPr lang="en-US" dirty="0" smtClean="0">
                <a:solidFill>
                  <a:srgbClr val="FF0000"/>
                </a:solidFill>
              </a:rPr>
              <a:t>end of the radius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The most common fracture of the forearm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Results from forced dorsiflexion of the hand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The distal fragment of the radius is displaced dorsally and often broken into pieces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Often, the ulnar styloid process is avulsed (broken off)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372820" y="1524000"/>
            <a:ext cx="3771180" cy="3276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61EF5-E991-41D1-A70B-CBDA158B09C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838200"/>
          </a:xfrm>
          <a:ln>
            <a:noFill/>
          </a:ln>
        </p:spPr>
        <p:txBody>
          <a:bodyPr>
            <a:noAutofit/>
          </a:bodyPr>
          <a:lstStyle/>
          <a:p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r>
              <a:rPr lang="en-US" sz="3200" b="1" dirty="0" smtClean="0">
                <a:solidFill>
                  <a:srgbClr val="280FBF"/>
                </a:solidFill>
              </a:rPr>
              <a:t>     </a:t>
            </a: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r>
              <a:rPr lang="en-US" sz="3200" b="1" dirty="0" smtClean="0">
                <a:solidFill>
                  <a:srgbClr val="280FBF"/>
                </a:solidFill>
              </a:rPr>
              <a:t>                        </a:t>
            </a: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br>
              <a:rPr lang="en-US" sz="3200" b="1" dirty="0" smtClean="0">
                <a:solidFill>
                  <a:srgbClr val="280FBF"/>
                </a:solidFill>
              </a:rPr>
            </a:br>
            <a:r>
              <a:rPr lang="en-US" sz="3200" b="1" dirty="0" smtClean="0">
                <a:solidFill>
                  <a:srgbClr val="280FBF"/>
                </a:solidFill>
              </a:rPr>
              <a:t>                       </a:t>
            </a:r>
            <a:r>
              <a:rPr lang="en-US" sz="3200" b="1" dirty="0" smtClean="0">
                <a:solidFill>
                  <a:srgbClr val="FF0000"/>
                </a:solidFill>
              </a:rPr>
              <a:t>Bones of the Hand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95400"/>
            <a:ext cx="8686800" cy="52578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 smtClean="0"/>
              <a:t>The wrist, or </a:t>
            </a:r>
            <a:r>
              <a:rPr lang="en-US" dirty="0" err="1" smtClean="0"/>
              <a:t>carpus</a:t>
            </a:r>
            <a:r>
              <a:rPr lang="en-US" dirty="0" smtClean="0"/>
              <a:t>, is composed of eight carpal bones (carpals) arranged in proximal and distal rows of four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carpus</a:t>
            </a:r>
            <a:r>
              <a:rPr lang="en-US" dirty="0" smtClean="0"/>
              <a:t> is markedly convex from side to side posteriorly and concave anteriorly.</a:t>
            </a: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Proximal row from lateral to medial: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Scaphoid: boat-shaped with scaphoid tubercle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Lunate: moon-shaped 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Triquetrum: pyramidal 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</a:rPr>
              <a:t>Pisiform: pea-shaped; lies on palmar surface of triquetrum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1293A-90EA-4D4A-BDB1-5579F6ACDAF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2435225" y="1666875"/>
            <a:ext cx="47307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707AC-A067-4101-9718-BCB0EB5438B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ln>
            <a:noFill/>
          </a:ln>
        </p:spPr>
        <p:txBody>
          <a:bodyPr>
            <a:noAutofit/>
          </a:bodyPr>
          <a:lstStyle/>
          <a:p>
            <a:br>
              <a:rPr lang="en-US" sz="4400" b="1" dirty="0" smtClean="0">
                <a:solidFill>
                  <a:srgbClr val="FF0000"/>
                </a:solidFill>
                <a:latin typeface="+mn-lt"/>
              </a:rPr>
            </a:br>
            <a:br>
              <a:rPr lang="en-US" sz="4400" b="1" dirty="0" smtClean="0">
                <a:solidFill>
                  <a:srgbClr val="FF0000"/>
                </a:solidFill>
                <a:latin typeface="+mn-lt"/>
              </a:rPr>
            </a:br>
            <a:br>
              <a:rPr lang="en-US" sz="4400" b="1" dirty="0" smtClean="0">
                <a:solidFill>
                  <a:srgbClr val="FF0000"/>
                </a:solidFill>
                <a:latin typeface="+mn-lt"/>
              </a:rPr>
            </a:br>
            <a:br>
              <a:rPr lang="en-US" sz="4400" b="1" dirty="0" smtClean="0">
                <a:solidFill>
                  <a:srgbClr val="FF0000"/>
                </a:solidFill>
                <a:latin typeface="+mn-lt"/>
              </a:rPr>
            </a:br>
            <a:r>
              <a:rPr lang="en-US" sz="4400" b="1" dirty="0" smtClean="0">
                <a:solidFill>
                  <a:srgbClr val="FF0000"/>
                </a:solidFill>
                <a:latin typeface="+mn-lt"/>
              </a:rPr>
              <a:t>                      Distal row</a:t>
            </a:r>
            <a:endParaRPr lang="en-US" sz="4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95400"/>
            <a:ext cx="9144000" cy="5105400"/>
          </a:xfrm>
          <a:ln>
            <a:noFill/>
          </a:ln>
        </p:spPr>
        <p:txBody>
          <a:bodyPr>
            <a:normAutofit/>
          </a:bodyPr>
          <a:lstStyle/>
          <a:p>
            <a:pPr lvl="1"/>
            <a:r>
              <a:rPr lang="en-US" sz="3200" dirty="0" smtClean="0">
                <a:solidFill>
                  <a:schemeClr val="tx1"/>
                </a:solidFill>
              </a:rPr>
              <a:t>Articulate with proximal row of carpals proximally and metacarpals distally </a:t>
            </a:r>
            <a:endParaRPr lang="en-US" sz="3200" dirty="0" smtClean="0">
              <a:solidFill>
                <a:schemeClr val="tx1"/>
              </a:solidFill>
            </a:endParaRPr>
          </a:p>
          <a:p>
            <a:pPr lvl="1"/>
            <a:r>
              <a:rPr lang="en-US" sz="3200" dirty="0" smtClean="0">
                <a:solidFill>
                  <a:schemeClr val="tx1"/>
                </a:solidFill>
              </a:rPr>
              <a:t>Distal row from lateral to medial: </a:t>
            </a:r>
            <a:endParaRPr lang="en-US" sz="3200" dirty="0" smtClean="0">
              <a:solidFill>
                <a:schemeClr val="tx1"/>
              </a:solidFill>
            </a:endParaRPr>
          </a:p>
          <a:p>
            <a:pPr lvl="2"/>
            <a:r>
              <a:rPr lang="en-US" sz="3200" dirty="0" smtClean="0"/>
              <a:t>Trapezium: four sided </a:t>
            </a:r>
            <a:endParaRPr lang="en-US" sz="3200" dirty="0" smtClean="0"/>
          </a:p>
          <a:p>
            <a:pPr lvl="2"/>
            <a:r>
              <a:rPr lang="en-US" sz="3200" dirty="0" smtClean="0"/>
              <a:t>Trapezoid: wedge-shaped </a:t>
            </a:r>
            <a:endParaRPr lang="en-US" sz="3200" dirty="0" smtClean="0"/>
          </a:p>
          <a:p>
            <a:pPr lvl="2"/>
            <a:r>
              <a:rPr lang="en-US" sz="3200" dirty="0" smtClean="0"/>
              <a:t>Capitate: head like; largest </a:t>
            </a:r>
            <a:endParaRPr lang="en-US" sz="3200" dirty="0" smtClean="0"/>
          </a:p>
          <a:p>
            <a:pPr lvl="2"/>
            <a:r>
              <a:rPr lang="en-US" sz="3200" dirty="0" smtClean="0"/>
              <a:t>Hamate: wedge-shaped, has hooked process (hook of </a:t>
            </a:r>
            <a:r>
              <a:rPr lang="en-US" sz="3200" dirty="0" err="1" smtClean="0"/>
              <a:t>hamate</a:t>
            </a:r>
            <a:r>
              <a:rPr lang="en-US" sz="3200" dirty="0" smtClean="0"/>
              <a:t>) </a:t>
            </a:r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46CF-32F3-4635-869E-78A2DB33624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762000"/>
          </a:xfrm>
          <a:ln>
            <a:noFill/>
          </a:ln>
        </p:spPr>
        <p:txBody>
          <a:bodyPr>
            <a:noAutofit/>
          </a:bodyPr>
          <a:lstStyle/>
          <a:p>
            <a:pPr algn="l"/>
            <a:r>
              <a:rPr lang="en-US" sz="4400" b="1" dirty="0" smtClean="0">
                <a:solidFill>
                  <a:srgbClr val="FF0000"/>
                </a:solidFill>
                <a:latin typeface="+mn-lt"/>
              </a:rPr>
              <a:t>                 Metacarpals</a:t>
            </a:r>
            <a:endParaRPr lang="en-US" sz="4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EBA79-0FDC-4607-BD02-E75E9B65A970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371600"/>
            <a:ext cx="8915400" cy="4800600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Forms the skeleton of the palm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Composed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five metacarpal bones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metacarpal consists of a base, shaft, and head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proximal bases of the metacarpals articulate with the carpal bones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distal heads of the metacarpals articulate with the proximal phalanges and form the knuckles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BFDC3-369A-482F-AB0C-8FD4D1D7C28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715963"/>
          </a:xfrm>
          <a:ln>
            <a:noFill/>
          </a:ln>
        </p:spPr>
        <p:txBody>
          <a:bodyPr>
            <a:noAutofit/>
          </a:bodyPr>
          <a:lstStyle/>
          <a:p>
            <a:pPr algn="l"/>
            <a:r>
              <a:rPr lang="en-US" sz="4400" b="1" dirty="0" smtClean="0">
                <a:solidFill>
                  <a:srgbClr val="FF0000"/>
                </a:solidFill>
                <a:latin typeface="+mn-lt"/>
              </a:rPr>
              <a:t>                  Phalanges</a:t>
            </a:r>
            <a:endParaRPr lang="en-US" sz="4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F7CE6-4543-4657-82CA-4B21CAFE73AF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8534400" cy="5334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 bones; form the fingers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 has three phalanges (proximal, middle, and distal) except for the first (thumb), which has only two (proximal and distal)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phalanx has a base proximally, a shaft (body), and a head distally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distal phalanges are flattened and expanded at their distal ends, which underlie the nail beds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F60B2-28B0-4833-B651-D75CA752E9B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921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+mn-lt"/>
              </a:rPr>
              <a:t>                       The Hand bones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tretch>
            <a:fillRect/>
          </a:stretch>
        </p:blipFill>
        <p:spPr bwMode="auto">
          <a:xfrm>
            <a:off x="457200" y="852692"/>
            <a:ext cx="7620000" cy="5214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FC-4C08-4A15-9202-63351531C937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6106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/>
          <a:p>
            <a:fld id="{02E599F8-183E-4545-B5C1-649C454980AA}" type="slidenum">
              <a:rPr/>
            </a:fld>
            <a:endParaRPr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143000"/>
            <a:ext cx="8686800" cy="167640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tx1"/>
                </a:solidFill>
              </a:rPr>
              <a:t>S</a:t>
            </a:r>
            <a:r>
              <a:rPr lang="en-US" sz="4000" dirty="0" smtClean="0">
                <a:solidFill>
                  <a:schemeClr val="tx1"/>
                </a:solidFill>
              </a:rPr>
              <a:t>uperficial </a:t>
            </a:r>
            <a:r>
              <a:rPr lang="en-US" sz="4000" dirty="0">
                <a:solidFill>
                  <a:schemeClr val="tx1"/>
                </a:solidFill>
              </a:rPr>
              <a:t>structures of upper limb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D63B2-69DC-4AC0-AB3E-89A9D32F6BE5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792162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FF0000"/>
                </a:solidFill>
                <a:latin typeface="+mn-lt"/>
              </a:rPr>
              <a:t>       Fascia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of upper limb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54E0-31E0-41A2-B08E-DFBF7D0D5A1E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371600"/>
            <a:ext cx="5029200" cy="525780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>
                <a:solidFill>
                  <a:srgbClr val="280FBF"/>
                </a:solidFill>
              </a:rPr>
              <a:t>Pectoral fascia</a:t>
            </a:r>
            <a:endParaRPr lang="en-US" sz="3600" dirty="0">
              <a:solidFill>
                <a:srgbClr val="280FBF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Invests the pectoralis major</a:t>
            </a:r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Continuous inferiorly with fascia of anterior abdominal wall</a:t>
            </a:r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Leaves lateral border of pectoralis major and becomes axillary fascia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972902" y="1463040"/>
            <a:ext cx="4171098" cy="53949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E3B4-CCC2-47D6-8D03-A61C85EAC68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360DC-B9B5-4C3F-B40A-6065C71BEEC1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52400"/>
            <a:ext cx="5562600" cy="6477000"/>
          </a:xfrm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Clavipectoral</a:t>
            </a:r>
            <a:r>
              <a:rPr lang="en-US" sz="2400" b="1" dirty="0">
                <a:solidFill>
                  <a:srgbClr val="FF0000"/>
                </a:solidFill>
              </a:rPr>
              <a:t> fascia</a:t>
            </a:r>
            <a:endParaRPr lang="en-US" sz="24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Deep to pectoralis major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Descends from the clavicle, enclosing </a:t>
            </a:r>
            <a:r>
              <a:rPr lang="en-US" dirty="0">
                <a:solidFill>
                  <a:srgbClr val="FF0000"/>
                </a:solidFill>
              </a:rPr>
              <a:t>subclavius and then the pectoralis mino</a:t>
            </a:r>
            <a:r>
              <a:rPr lang="en-US" dirty="0"/>
              <a:t>r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Becoming continuous inferiorly with the axillary fascia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Costocoracoid membrane</a:t>
            </a:r>
            <a:endParaRPr lang="en-US" dirty="0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400" dirty="0"/>
              <a:t>the part of clavipectoral fascia between pectoralis minor and subclavius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400" dirty="0"/>
              <a:t>pierced by </a:t>
            </a:r>
            <a:r>
              <a:rPr lang="en-US" sz="2400" dirty="0">
                <a:solidFill>
                  <a:srgbClr val="FF0000"/>
                </a:solidFill>
              </a:rPr>
              <a:t>lateral pectoral nerve</a:t>
            </a:r>
            <a:endParaRPr lang="en-US" sz="2400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Suspensory ligament of axilla</a:t>
            </a:r>
            <a:endParaRPr lang="en-US" dirty="0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400" dirty="0"/>
              <a:t>the part of the clavipectoral fascia inferior to pectoralis minor 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400" dirty="0"/>
              <a:t>supports the axillary fascia and pulls it upward and forms axillary fossa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62600" y="228600"/>
            <a:ext cx="3581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AFD3-43D3-4743-B696-5F3136B95D9B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FAFBA-86CE-4EA2-8EAF-7D4F819398AD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228600"/>
            <a:ext cx="5029200" cy="6477000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rgbClr val="280FBF"/>
                </a:solidFill>
              </a:rPr>
              <a:t>Deltoid fascia </a:t>
            </a:r>
            <a:endParaRPr lang="en-US" sz="2800" b="1" dirty="0">
              <a:solidFill>
                <a:srgbClr val="280FBF"/>
              </a:solidFill>
            </a:endParaRPr>
          </a:p>
          <a:p>
            <a:pPr lvl="1"/>
            <a:r>
              <a:rPr lang="en-US" dirty="0"/>
              <a:t>Invests deltoid muscle</a:t>
            </a:r>
            <a:endParaRPr lang="en-US" i="1" dirty="0"/>
          </a:p>
          <a:p>
            <a:r>
              <a:rPr lang="en-US" sz="2800" b="1" dirty="0">
                <a:solidFill>
                  <a:srgbClr val="280FBF"/>
                </a:solidFill>
              </a:rPr>
              <a:t>Brachial fascia</a:t>
            </a:r>
            <a:endParaRPr lang="en-US" sz="2800" b="1" dirty="0">
              <a:solidFill>
                <a:srgbClr val="280FBF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encloses the arm 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continuous with deltoid, pectoral, axillary, </a:t>
            </a:r>
            <a:r>
              <a:rPr lang="en-US" dirty="0" err="1">
                <a:solidFill>
                  <a:schemeClr val="tx1"/>
                </a:solidFill>
              </a:rPr>
              <a:t>infraspinous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antebrachial</a:t>
            </a:r>
            <a:r>
              <a:rPr lang="en-US" dirty="0">
                <a:solidFill>
                  <a:schemeClr val="tx1"/>
                </a:solidFill>
              </a:rPr>
              <a:t> fasciae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form two intermuscular septa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sz="2800" dirty="0"/>
              <a:t>medial and lateral </a:t>
            </a:r>
            <a:endParaRPr lang="en-US" sz="2800" dirty="0"/>
          </a:p>
          <a:p>
            <a:pPr lvl="2"/>
            <a:r>
              <a:rPr lang="en-US" sz="2800" dirty="0"/>
              <a:t>extend from the deep surface of the brachial fascia and attach to the humerus </a:t>
            </a:r>
            <a:endParaRPr lang="en-US" sz="2800" dirty="0"/>
          </a:p>
          <a:p>
            <a:pPr lvl="2"/>
            <a:r>
              <a:rPr lang="en-US" sz="2800" dirty="0"/>
              <a:t>divide the arm into anterior (flexor) and posterior (extensor) </a:t>
            </a:r>
            <a:r>
              <a:rPr lang="en-US" sz="2800" dirty="0" err="1"/>
              <a:t>fascial</a:t>
            </a:r>
            <a:r>
              <a:rPr lang="en-US" sz="2800" dirty="0"/>
              <a:t> compartments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972902" y="990600"/>
            <a:ext cx="4171098" cy="53949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D44F-95D3-4381-A301-5ED394008829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1DA3-FD4A-452F-928C-7CD119DABAED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8230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8600" y="457200"/>
            <a:ext cx="5007267" cy="484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3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990600"/>
            <a:ext cx="3511952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F24EA-EA63-4AC9-96C0-0FAA1C05558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9632C-9440-4565-99E1-C76D74868759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6349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8153400" cy="64770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 err="1">
                <a:solidFill>
                  <a:srgbClr val="280FBF"/>
                </a:solidFill>
              </a:rPr>
              <a:t>Antebrachial</a:t>
            </a:r>
            <a:r>
              <a:rPr lang="en-US" sz="3200" dirty="0">
                <a:solidFill>
                  <a:srgbClr val="280FBF"/>
                </a:solidFill>
              </a:rPr>
              <a:t> fascia </a:t>
            </a:r>
            <a:endParaRPr lang="en-US" sz="3200" dirty="0">
              <a:solidFill>
                <a:srgbClr val="280FBF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In the forearm</a:t>
            </a:r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Surrounds </a:t>
            </a:r>
            <a:r>
              <a:rPr lang="en-US" sz="3200" dirty="0" err="1">
                <a:solidFill>
                  <a:schemeClr val="tx1"/>
                </a:solidFill>
              </a:rPr>
              <a:t>fascial</a:t>
            </a:r>
            <a:r>
              <a:rPr lang="en-US" sz="3200" dirty="0">
                <a:solidFill>
                  <a:schemeClr val="tx1"/>
                </a:solidFill>
              </a:rPr>
              <a:t> compartments separated by interosseous membrane</a:t>
            </a:r>
            <a:r>
              <a:rPr lang="en-US" sz="3200" i="1" dirty="0">
                <a:solidFill>
                  <a:schemeClr val="tx1"/>
                </a:solidFill>
              </a:rPr>
              <a:t> </a:t>
            </a:r>
            <a:endParaRPr lang="en-US" sz="3200" i="1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Thickens posteriorly over the distal end to form a transverse band</a:t>
            </a:r>
            <a:r>
              <a:rPr lang="en-US" sz="3200" dirty="0"/>
              <a:t>, </a:t>
            </a:r>
            <a:endParaRPr lang="en-US" sz="3200" dirty="0" smtClean="0"/>
          </a:p>
          <a:p>
            <a:pPr lvl="3"/>
            <a:r>
              <a:rPr lang="en-US" sz="2900" dirty="0" smtClean="0">
                <a:solidFill>
                  <a:srgbClr val="FF0000"/>
                </a:solidFill>
              </a:rPr>
              <a:t>Extensor </a:t>
            </a:r>
            <a:r>
              <a:rPr lang="en-US" sz="2900" dirty="0" err="1">
                <a:solidFill>
                  <a:srgbClr val="FF0000"/>
                </a:solidFill>
              </a:rPr>
              <a:t>retinaculum</a:t>
            </a:r>
            <a:r>
              <a:rPr lang="en-US" sz="2900" dirty="0"/>
              <a:t>, </a:t>
            </a:r>
            <a:r>
              <a:rPr lang="en-US" sz="2900" dirty="0">
                <a:solidFill>
                  <a:schemeClr val="tx1"/>
                </a:solidFill>
              </a:rPr>
              <a:t>which holds the extensor tendons in position</a:t>
            </a:r>
            <a:endParaRPr lang="en-US" sz="2900" dirty="0">
              <a:solidFill>
                <a:schemeClr val="tx1"/>
              </a:solidFill>
            </a:endParaRP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Anteriorly at distal end forms an anterior thickenings, </a:t>
            </a:r>
            <a:endParaRPr lang="en-US" sz="3200" dirty="0" smtClean="0">
              <a:solidFill>
                <a:schemeClr val="tx1"/>
              </a:solidFill>
            </a:endParaRPr>
          </a:p>
          <a:p>
            <a:pPr lvl="3"/>
            <a:r>
              <a:rPr lang="en-US" sz="2900" dirty="0" err="1" smtClean="0">
                <a:solidFill>
                  <a:schemeClr val="tx1"/>
                </a:solidFill>
              </a:rPr>
              <a:t>palmar</a:t>
            </a:r>
            <a:r>
              <a:rPr lang="en-US" sz="2900" dirty="0" smtClean="0">
                <a:solidFill>
                  <a:schemeClr val="tx1"/>
                </a:solidFill>
              </a:rPr>
              <a:t> </a:t>
            </a:r>
            <a:r>
              <a:rPr lang="en-US" sz="2900" dirty="0">
                <a:solidFill>
                  <a:schemeClr val="tx1"/>
                </a:solidFill>
              </a:rPr>
              <a:t>carpal ligament and </a:t>
            </a:r>
            <a:r>
              <a:rPr lang="en-US" sz="2900" dirty="0">
                <a:solidFill>
                  <a:srgbClr val="FF0000"/>
                </a:solidFill>
              </a:rPr>
              <a:t>flexor </a:t>
            </a:r>
            <a:r>
              <a:rPr lang="en-US" sz="2900" dirty="0" err="1">
                <a:solidFill>
                  <a:srgbClr val="FF0000"/>
                </a:solidFill>
              </a:rPr>
              <a:t>retinaculum</a:t>
            </a:r>
            <a:endParaRPr lang="en-US" sz="29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11AD8-6F62-4A9F-B6BF-A02B97F0DC3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56393" y="152399"/>
            <a:ext cx="6668407" cy="6589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BFB60-A488-4F33-B254-6D4D27AC0FDA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C997-2829-4E96-86D1-FCE39F74EC34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645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5181600" cy="68580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280FBF"/>
                </a:solidFill>
              </a:rPr>
              <a:t>Palmar fascia</a:t>
            </a:r>
            <a:endParaRPr lang="en-US" dirty="0">
              <a:solidFill>
                <a:srgbClr val="280FBF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Extension of deep fascia beyond retinacula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Palmar aponeurosis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Central part, thick, triangular</a:t>
            </a:r>
            <a:endParaRPr lang="en-US" sz="2800" dirty="0"/>
          </a:p>
          <a:p>
            <a:pPr lvl="2"/>
            <a:r>
              <a:rPr lang="en-US" sz="2800" dirty="0"/>
              <a:t>Forms four thickenings that radiate to the base of fingers</a:t>
            </a:r>
            <a:endParaRPr lang="en-US" sz="2800" dirty="0"/>
          </a:p>
          <a:p>
            <a:pPr lvl="2"/>
            <a:r>
              <a:rPr lang="en-US" sz="2800" dirty="0"/>
              <a:t>Superficial transverse metacarpal ligament: traverse bands distally and form the base of palmar aponeuroses</a:t>
            </a:r>
            <a:endParaRPr lang="en-US" sz="2800" dirty="0"/>
          </a:p>
          <a:p>
            <a:pPr lvl="2"/>
            <a:r>
              <a:rPr lang="en-US" sz="2800" dirty="0"/>
              <a:t>Ligaments extend from aponeurosis to skin, hold the skin closer</a:t>
            </a:r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76800" y="1143000"/>
            <a:ext cx="4267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B24B-00CE-4236-B036-91F31E48A99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686800" cy="11430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200" b="1" dirty="0" err="1" smtClean="0">
                <a:solidFill>
                  <a:srgbClr val="FF0000"/>
                </a:solidFill>
              </a:rPr>
              <a:t>Cutaneous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nerves of upper limb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7CA22-7400-4BA5-B669-872171791A97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001000" cy="5334000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Developmentally the limbs grow as lateral protrusions of trunk, with thumb located on cranial side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Most cutaneous nerves of upper limb are derived from brachial plexus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Cutaneous nerves to shoulder are derived from cervical plexus</a:t>
            </a:r>
            <a:r>
              <a:rPr lang="en-US" sz="2400" dirty="0">
                <a:effectLst/>
              </a:rPr>
              <a:t> 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C4: base of the neck, shoulder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C5: arm laterally 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C6: forearm laterally and thumb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C7: middle three fingers and middle of posterior surface 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C8: little finger, the medial side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T1: middle of forearm to </a:t>
            </a:r>
            <a:r>
              <a:rPr lang="en-US" sz="2400" dirty="0" err="1">
                <a:effectLst/>
              </a:rPr>
              <a:t>axilla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effectLst/>
              </a:rPr>
              <a:t>T2: small part of arm and </a:t>
            </a:r>
            <a:r>
              <a:rPr lang="en-US" sz="2400" dirty="0" err="1">
                <a:effectLst/>
              </a:rPr>
              <a:t>axilla</a:t>
            </a:r>
            <a:endParaRPr lang="en-US" sz="2400" dirty="0">
              <a:effectLst/>
            </a:endParaRP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AE335-C994-4EB1-8AFD-5F9ACA5F88B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6EA6A-0839-454C-854D-F494030FE192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4442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304800"/>
            <a:ext cx="6770750" cy="621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"/>
            <a:ext cx="7238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C249-6DFA-4155-9E4E-734141600DE6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9F90-6499-41BA-B12B-A874CDA12B50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4544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0" y="304800"/>
            <a:ext cx="7887470" cy="6126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DC09-10F4-45F7-885D-C30790AEF91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47EF-61C5-4B4E-94B2-BC0C2CA23883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4646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5800" y="259080"/>
            <a:ext cx="8223699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DE11-A26A-4F54-8104-9178F07A743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1"/>
            <a:ext cx="8229600" cy="7620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 Superficial </a:t>
            </a:r>
            <a:r>
              <a:rPr lang="en-US" dirty="0">
                <a:solidFill>
                  <a:srgbClr val="FF0000"/>
                </a:solidFill>
              </a:rPr>
              <a:t>vessels of upper limb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65B8-F396-4EF0-B6A3-5C7D45343701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914400"/>
            <a:ext cx="8305800" cy="5562600"/>
          </a:xfrm>
          <a:ln>
            <a:noFill/>
          </a:ln>
        </p:spPr>
        <p:txBody>
          <a:bodyPr/>
          <a:lstStyle/>
          <a:p>
            <a:r>
              <a:rPr lang="en-US" sz="2800" dirty="0">
                <a:solidFill>
                  <a:srgbClr val="280FBF"/>
                </a:solidFill>
              </a:rPr>
              <a:t>Dorsal venous network</a:t>
            </a:r>
            <a:endParaRPr lang="en-US" sz="2800" dirty="0">
              <a:solidFill>
                <a:srgbClr val="280FBF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On dorsum of the hand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Give rise to cephalic and </a:t>
            </a:r>
            <a:r>
              <a:rPr lang="en-US" sz="2400" dirty="0" err="1">
                <a:solidFill>
                  <a:schemeClr val="tx1"/>
                </a:solidFill>
              </a:rPr>
              <a:t>basilic</a:t>
            </a:r>
            <a:r>
              <a:rPr lang="en-US" sz="2400" dirty="0">
                <a:solidFill>
                  <a:schemeClr val="tx1"/>
                </a:solidFill>
              </a:rPr>
              <a:t> veins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rgbClr val="280FBF"/>
                </a:solidFill>
              </a:rPr>
              <a:t>Cephalic vein</a:t>
            </a:r>
            <a:endParaRPr lang="en-US" sz="2800" dirty="0">
              <a:solidFill>
                <a:srgbClr val="280FBF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Ascends from </a:t>
            </a:r>
            <a:r>
              <a:rPr lang="en-US" sz="2400" b="1" dirty="0">
                <a:solidFill>
                  <a:srgbClr val="FF0000"/>
                </a:solidFill>
              </a:rPr>
              <a:t>lateral part </a:t>
            </a:r>
            <a:r>
              <a:rPr lang="en-US" sz="2400" dirty="0">
                <a:solidFill>
                  <a:schemeClr val="tx1"/>
                </a:solidFill>
              </a:rPr>
              <a:t>of dorsal venous network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Proceed along </a:t>
            </a:r>
            <a:r>
              <a:rPr lang="en-US" sz="2400" dirty="0" err="1">
                <a:solidFill>
                  <a:schemeClr val="tx1"/>
                </a:solidFill>
              </a:rPr>
              <a:t>anterolateral</a:t>
            </a:r>
            <a:r>
              <a:rPr lang="en-US" sz="2400" dirty="0">
                <a:solidFill>
                  <a:schemeClr val="tx1"/>
                </a:solidFill>
              </a:rPr>
              <a:t> surface of forearm and arm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Anterior to elbow </a:t>
            </a:r>
            <a:r>
              <a:rPr lang="en-US" sz="2400" dirty="0">
                <a:solidFill>
                  <a:schemeClr val="tx1"/>
                </a:solidFill>
              </a:rPr>
              <a:t>communicate with </a:t>
            </a:r>
            <a:r>
              <a:rPr lang="en-US" sz="2400" b="1" dirty="0">
                <a:solidFill>
                  <a:schemeClr val="tx1"/>
                </a:solidFill>
              </a:rPr>
              <a:t>median </a:t>
            </a:r>
            <a:r>
              <a:rPr lang="en-US" sz="2400" b="1" dirty="0" err="1">
                <a:solidFill>
                  <a:schemeClr val="tx1"/>
                </a:solidFill>
              </a:rPr>
              <a:t>cubital</a:t>
            </a:r>
            <a:r>
              <a:rPr lang="en-US" sz="2400" b="1" dirty="0">
                <a:solidFill>
                  <a:schemeClr val="tx1"/>
                </a:solidFill>
              </a:rPr>
              <a:t> vein</a:t>
            </a:r>
            <a:endParaRPr lang="en-US" sz="2400" b="1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Superiorly passes between deltoid and pectoralis major muscles and enters </a:t>
            </a:r>
            <a:r>
              <a:rPr lang="en-US" sz="2400" b="1" dirty="0">
                <a:solidFill>
                  <a:schemeClr val="tx1"/>
                </a:solidFill>
              </a:rPr>
              <a:t>clavipectoral triangle</a:t>
            </a:r>
            <a:endParaRPr lang="en-US" sz="2400" b="1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Pierces clavipectoral fascia and joins axillary vein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E65A-0CDE-4631-9B91-2505BA761E9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B56982-8015-4C97-AFD0-0419123EC866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pic>
        <p:nvPicPr>
          <p:cNvPr id="696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04800" y="228600"/>
            <a:ext cx="8388350" cy="6484938"/>
          </a:xfr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B66A-9C47-46ED-8D76-E68B4475CDF3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2307-0988-4242-8BB3-1AC7469998A7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"/>
            <a:ext cx="8839200" cy="685800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err="1">
                <a:solidFill>
                  <a:srgbClr val="280FBF"/>
                </a:solidFill>
              </a:rPr>
              <a:t>Basilic</a:t>
            </a:r>
            <a:r>
              <a:rPr lang="en-US" sz="2800" dirty="0">
                <a:solidFill>
                  <a:srgbClr val="280FBF"/>
                </a:solidFill>
              </a:rPr>
              <a:t> vein</a:t>
            </a:r>
            <a:endParaRPr lang="en-US" sz="2800" dirty="0">
              <a:solidFill>
                <a:srgbClr val="280FBF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Ascends from </a:t>
            </a:r>
            <a:r>
              <a:rPr lang="en-US" sz="2400" b="1" dirty="0">
                <a:solidFill>
                  <a:schemeClr val="tx1"/>
                </a:solidFill>
              </a:rPr>
              <a:t>medial part </a:t>
            </a:r>
            <a:r>
              <a:rPr lang="en-US" sz="2400" dirty="0">
                <a:solidFill>
                  <a:schemeClr val="tx1"/>
                </a:solidFill>
              </a:rPr>
              <a:t>of dorsal venous network 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Proceed along medial side of forearm and inferior part of arm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effectLst/>
              </a:rPr>
              <a:t>Passes deeply near the junction of the middle and inferior thirds of the arm, piercing the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brachial fascia</a:t>
            </a:r>
            <a:r>
              <a:rPr lang="en-US" sz="2400" dirty="0">
                <a:solidFill>
                  <a:schemeClr val="tx1"/>
                </a:solidFill>
                <a:effectLst/>
              </a:rPr>
              <a:t> and running superiorly parallel to the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brachial artery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effectLst/>
              </a:rPr>
              <a:t>Merges with the accompanying veins (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venae</a:t>
            </a:r>
            <a:r>
              <a:rPr lang="en-US" sz="2400" dirty="0">
                <a:solidFill>
                  <a:schemeClr val="tx1"/>
                </a:solidFill>
                <a:effectLst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comitantes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  <a:r>
              <a:rPr lang="en-US" sz="2400" i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dirty="0">
                <a:solidFill>
                  <a:schemeClr val="tx1"/>
                </a:solidFill>
                <a:effectLst/>
              </a:rPr>
              <a:t>of the axillary artery to form the axillary vein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en-US" sz="2800" dirty="0">
                <a:solidFill>
                  <a:srgbClr val="280FBF"/>
                </a:solidFill>
                <a:effectLst/>
              </a:rPr>
              <a:t>Median </a:t>
            </a:r>
            <a:r>
              <a:rPr lang="en-US" sz="2800" dirty="0" err="1">
                <a:solidFill>
                  <a:srgbClr val="280FBF"/>
                </a:solidFill>
                <a:effectLst/>
              </a:rPr>
              <a:t>antebrachial</a:t>
            </a:r>
            <a:r>
              <a:rPr lang="en-US" sz="2800" dirty="0">
                <a:solidFill>
                  <a:srgbClr val="280FBF"/>
                </a:solidFill>
                <a:effectLst/>
              </a:rPr>
              <a:t> vein (median vein of forearm) </a:t>
            </a:r>
            <a:endParaRPr lang="en-US" sz="2800" dirty="0">
              <a:solidFill>
                <a:srgbClr val="280FBF"/>
              </a:solidFill>
              <a:effectLst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effectLst/>
              </a:rPr>
              <a:t>Ascends in the middle of anterior aspect of forearm between cephalic and 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basilic</a:t>
            </a:r>
            <a:r>
              <a:rPr lang="en-US" sz="2400" dirty="0">
                <a:solidFill>
                  <a:schemeClr val="tx1"/>
                </a:solidFill>
                <a:effectLst/>
              </a:rPr>
              <a:t> veins</a:t>
            </a:r>
            <a:endParaRPr lang="en-US" sz="2400" dirty="0">
              <a:solidFill>
                <a:schemeClr val="tx1"/>
              </a:solidFill>
              <a:effectLst/>
            </a:endParaRPr>
          </a:p>
          <a:p>
            <a:pPr lvl="1"/>
            <a:endParaRPr lang="en-US" sz="2400" dirty="0">
              <a:effectLst/>
            </a:endParaRPr>
          </a:p>
          <a:p>
            <a:pPr lvl="1"/>
            <a:endParaRPr lang="en-US" sz="24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258-6B7E-4576-B1BB-014BD9605EE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99060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FF0000"/>
                </a:solidFill>
              </a:rPr>
              <a:t>Lymphatic </a:t>
            </a:r>
            <a:r>
              <a:rPr lang="en-US" sz="3200" b="1" dirty="0">
                <a:solidFill>
                  <a:srgbClr val="FF0000"/>
                </a:solidFill>
              </a:rPr>
              <a:t>vessels of upper limb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08892-99F0-4C66-9FA8-D2F5CA80EA5C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143000"/>
            <a:ext cx="8229600" cy="5715000"/>
          </a:xfrm>
          <a:ln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280FBF"/>
                </a:solidFill>
                <a:effectLst/>
              </a:rPr>
              <a:t>Superficial lymphatic vessels </a:t>
            </a:r>
            <a:endParaRPr lang="en-US" dirty="0">
              <a:solidFill>
                <a:srgbClr val="280FBF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Arise from lymphatic plexuses in the skin of fingers, palm, and dorsum of the hand 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Ascend mostly with superficial veins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Some accompanying the </a:t>
            </a:r>
            <a:r>
              <a:rPr lang="en-US" dirty="0" err="1">
                <a:solidFill>
                  <a:schemeClr val="tx1"/>
                </a:solidFill>
                <a:effectLst/>
              </a:rPr>
              <a:t>basilic</a:t>
            </a:r>
            <a:r>
              <a:rPr lang="en-US" dirty="0">
                <a:solidFill>
                  <a:schemeClr val="tx1"/>
                </a:solidFill>
                <a:effectLst/>
              </a:rPr>
              <a:t> vein enter </a:t>
            </a:r>
            <a:r>
              <a:rPr lang="en-US" dirty="0" err="1">
                <a:solidFill>
                  <a:schemeClr val="tx1"/>
                </a:solidFill>
                <a:effectLst/>
              </a:rPr>
              <a:t>cubital</a:t>
            </a:r>
            <a:r>
              <a:rPr lang="en-US" dirty="0">
                <a:solidFill>
                  <a:schemeClr val="tx1"/>
                </a:solidFill>
                <a:effectLst/>
              </a:rPr>
              <a:t> lymph nodes</a:t>
            </a:r>
            <a:endParaRPr lang="en-US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Most lymphatic vessels accompanying the cephalic vein and enter </a:t>
            </a:r>
            <a:r>
              <a:rPr lang="en-US" dirty="0">
                <a:solidFill>
                  <a:srgbClr val="FF0000"/>
                </a:solidFill>
                <a:effectLst/>
              </a:rPr>
              <a:t>apical axillary lymph nodes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280FBF"/>
                </a:solidFill>
                <a:effectLst/>
              </a:rPr>
              <a:t>Deep lymphatic vessels</a:t>
            </a:r>
            <a:endParaRPr lang="en-US" dirty="0">
              <a:solidFill>
                <a:srgbClr val="280FBF"/>
              </a:solidFill>
              <a:effectLst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ffectLst/>
              </a:rPr>
              <a:t>Accompany major veins and terminate in humeral </a:t>
            </a:r>
            <a:r>
              <a:rPr lang="en-US" dirty="0">
                <a:solidFill>
                  <a:srgbClr val="FF0000"/>
                </a:solidFill>
                <a:effectLst/>
              </a:rPr>
              <a:t>axillary lymph nodes</a:t>
            </a:r>
            <a:endParaRPr lang="en-US" dirty="0">
              <a:solidFill>
                <a:srgbClr val="FF0000"/>
              </a:solidFill>
              <a:effectLst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EF53-6C75-4C7F-BAF5-E76F0C6679A1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91FC-3C4B-4D4F-B5CF-18F354FA6F45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pic>
        <p:nvPicPr>
          <p:cNvPr id="44749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" y="152400"/>
            <a:ext cx="77724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615C-2497-4DAF-AD87-64E3647BB3A0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8458200" cy="685800"/>
          </a:xfrm>
          <a:ln>
            <a:noFill/>
          </a:ln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>
                <a:solidFill>
                  <a:srgbClr val="FF0000"/>
                </a:solidFill>
                <a:latin typeface="+mn-lt"/>
              </a:rPr>
              <a:t>Venipuncture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376C-BE11-45EC-82CB-0959D8F5C7EC}" type="slidenum">
              <a:rPr lang="en-US">
                <a:solidFill>
                  <a:srgbClr val="B13F9A"/>
                </a:solidFill>
              </a:rPr>
            </a:fld>
            <a:endParaRPr lang="en-US">
              <a:solidFill>
                <a:srgbClr val="B13F9A"/>
              </a:solidFill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762000"/>
            <a:ext cx="4800600" cy="6096000"/>
          </a:xfrm>
          <a:ln>
            <a:noFill/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effectLst/>
              </a:rPr>
              <a:t>Puncture of a vein to draw blood or inject a solution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endParaRPr lang="en-US" dirty="0" smtClean="0"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effectLst/>
              </a:rPr>
              <a:t>Because </a:t>
            </a:r>
            <a:r>
              <a:rPr lang="en-US" dirty="0">
                <a:effectLst/>
              </a:rPr>
              <a:t>of the prominence and accessibility of the superficial veins, they are commonly used for venipuncture</a:t>
            </a:r>
            <a:r>
              <a:rPr lang="en-US" i="1" dirty="0">
                <a:effectLst/>
              </a:rPr>
              <a:t> </a:t>
            </a:r>
            <a:endParaRPr lang="en-US" i="1" dirty="0">
              <a:effectLst/>
            </a:endParaRPr>
          </a:p>
          <a:p>
            <a:pPr>
              <a:lnSpc>
                <a:spcPct val="90000"/>
              </a:lnSpc>
            </a:pPr>
            <a:endParaRPr lang="en-US" dirty="0" smtClean="0"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effectLst/>
              </a:rPr>
              <a:t>The </a:t>
            </a:r>
            <a:r>
              <a:rPr lang="en-US" b="1" dirty="0">
                <a:solidFill>
                  <a:srgbClr val="FF0000"/>
                </a:solidFill>
                <a:effectLst/>
              </a:rPr>
              <a:t>median cubital vein </a:t>
            </a:r>
            <a:r>
              <a:rPr lang="en-US" dirty="0">
                <a:effectLst/>
              </a:rPr>
              <a:t>is commonly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used for venipuncture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endParaRPr lang="en-US" dirty="0" smtClean="0">
              <a:effectLst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veins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forming dorsal venous network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and the cephalic and basilic veins arising from it are commonly</a:t>
            </a:r>
            <a:r>
              <a:rPr lang="en-US" i="1" dirty="0">
                <a:effectLst/>
              </a:rPr>
              <a:t> </a:t>
            </a:r>
            <a:r>
              <a:rPr lang="en-US" dirty="0">
                <a:effectLst/>
              </a:rPr>
              <a:t>used for long-term introduction of fluids</a:t>
            </a:r>
            <a:endParaRPr lang="en-US" dirty="0">
              <a:effectLst/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33925" y="0"/>
            <a:ext cx="4410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810C-4369-4022-B834-96995099CA1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10154</Words>
  <Application>WPS Presentation</Application>
  <PresentationFormat>On-screen Show (4:3)</PresentationFormat>
  <Paragraphs>527</Paragraphs>
  <Slides>41</Slides>
  <Notes>94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7" baseType="lpstr">
      <vt:lpstr>Arial</vt:lpstr>
      <vt:lpstr>SimSun</vt:lpstr>
      <vt:lpstr>Wingdings</vt:lpstr>
      <vt:lpstr>Wingdings 2</vt:lpstr>
      <vt:lpstr>Courier New</vt:lpstr>
      <vt:lpstr>Times New Roman</vt:lpstr>
      <vt:lpstr>Wingdings 2</vt:lpstr>
      <vt:lpstr>Perpetua</vt:lpstr>
      <vt:lpstr>Symbol</vt:lpstr>
      <vt:lpstr>Wingdings</vt:lpstr>
      <vt:lpstr>EucrosiaUPC</vt:lpstr>
      <vt:lpstr>Ethiopic Addis</vt:lpstr>
      <vt:lpstr>Calibri</vt:lpstr>
      <vt:lpstr>Microsoft YaHei</vt:lpstr>
      <vt:lpstr>Arial Unicode MS</vt:lpstr>
      <vt:lpstr>Franklin Gothic Book</vt:lpstr>
      <vt:lpstr>Tahoma</vt:lpstr>
      <vt:lpstr>Bookman Old Style</vt:lpstr>
      <vt:lpstr>Algerian</vt:lpstr>
      <vt:lpstr>Baskerville Old Face</vt:lpstr>
      <vt:lpstr>Aharoni</vt:lpstr>
      <vt:lpstr>BankGothic Md BT</vt:lpstr>
      <vt:lpstr>BankGothic Lt BT</vt:lpstr>
      <vt:lpstr>Cordia New</vt:lpstr>
      <vt:lpstr>Angsana New</vt:lpstr>
      <vt:lpstr>Equity</vt:lpstr>
      <vt:lpstr>Upper Limb</vt:lpstr>
      <vt:lpstr>           Bones of Upper Limb</vt:lpstr>
      <vt:lpstr>              Bones of Upper Limb</vt:lpstr>
      <vt:lpstr>PowerPoint 演示文稿</vt:lpstr>
      <vt:lpstr>PowerPoint 演示文稿</vt:lpstr>
      <vt:lpstr> Bones of Upper Limb cont’ed…</vt:lpstr>
      <vt:lpstr>                       Scapula</vt:lpstr>
      <vt:lpstr>                       Scapula…</vt:lpstr>
      <vt:lpstr>                      Humerus</vt:lpstr>
      <vt:lpstr>                        Humerus</vt:lpstr>
      <vt:lpstr>PowerPoint 演示文稿</vt:lpstr>
      <vt:lpstr>PowerPoint 演示文稿</vt:lpstr>
      <vt:lpstr>                         Ulna </vt:lpstr>
      <vt:lpstr>PowerPoint 演示文稿</vt:lpstr>
      <vt:lpstr>Radius </vt:lpstr>
      <vt:lpstr>PowerPoint 演示文稿</vt:lpstr>
      <vt:lpstr>PowerPoint 演示文稿</vt:lpstr>
      <vt:lpstr>                                                                    Bones of the Hand</vt:lpstr>
      <vt:lpstr>PowerPoint 演示文稿</vt:lpstr>
      <vt:lpstr>                          Distal row</vt:lpstr>
      <vt:lpstr>                 Metacarpals</vt:lpstr>
      <vt:lpstr>                  Phalanges</vt:lpstr>
      <vt:lpstr>                       The Hand bones</vt:lpstr>
      <vt:lpstr>Superficial structures of upper limb</vt:lpstr>
      <vt:lpstr>       Fascia of upper limb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Cutaneous nerves of upper limb</vt:lpstr>
      <vt:lpstr>PowerPoint 演示文稿</vt:lpstr>
      <vt:lpstr>PowerPoint 演示文稿</vt:lpstr>
      <vt:lpstr>PowerPoint 演示文稿</vt:lpstr>
      <vt:lpstr> Superficial vessels of upper limb</vt:lpstr>
      <vt:lpstr>PowerPoint 演示文稿</vt:lpstr>
      <vt:lpstr>PowerPoint 演示文稿</vt:lpstr>
      <vt:lpstr>Lymphatic vessels of upper limb</vt:lpstr>
      <vt:lpstr>PowerPoint 演示文稿</vt:lpstr>
      <vt:lpstr>Venipuncture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52</cp:revision>
  <dcterms:created xsi:type="dcterms:W3CDTF">2025-10-01T03:43:00Z</dcterms:created>
  <dcterms:modified xsi:type="dcterms:W3CDTF">2026-10-01T22:45:20Z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BCE99CBBD8724ED1B2BBD59E4E4DBAC9_12</vt:lpwstr>
  </property>
  <property fmtid="{D5CDD505-2E9C-101B-9397-08002B2CF9AE}" pid="3" name="KSOProductBuildVer">
    <vt:lpwstr>1033-12.1.0.28485</vt:lpwstr>
  </property>
</Properties>
</file>