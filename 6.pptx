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55" r:id="rId3"/>
    <p:sldId id="556" r:id="rId5"/>
    <p:sldId id="557" r:id="rId6"/>
    <p:sldId id="558" r:id="rId7"/>
    <p:sldId id="560" r:id="rId8"/>
    <p:sldId id="561" r:id="rId9"/>
    <p:sldId id="562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2" r:id="rId19"/>
    <p:sldId id="573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598" r:id="rId45"/>
    <p:sldId id="599" r:id="rId46"/>
    <p:sldId id="600" r:id="rId47"/>
    <p:sldId id="601" r:id="rId48"/>
    <p:sldId id="602" r:id="rId49"/>
    <p:sldId id="603" r:id="rId50"/>
    <p:sldId id="604" r:id="rId51"/>
    <p:sldId id="605" r:id="rId52"/>
    <p:sldId id="606" r:id="rId53"/>
    <p:sldId id="607" r:id="rId54"/>
    <p:sldId id="608" r:id="rId55"/>
    <p:sldId id="609" r:id="rId56"/>
    <p:sldId id="610" r:id="rId57"/>
    <p:sldId id="611" r:id="rId58"/>
    <p:sldId id="612" r:id="rId59"/>
    <p:sldId id="613" r:id="rId60"/>
    <p:sldId id="614" r:id="rId61"/>
    <p:sldId id="615" r:id="rId62"/>
    <p:sldId id="616" r:id="rId63"/>
    <p:sldId id="617" r:id="rId64"/>
    <p:sldId id="618" r:id="rId65"/>
    <p:sldId id="619" r:id="rId66"/>
    <p:sldId id="620" r:id="rId67"/>
    <p:sldId id="621" r:id="rId68"/>
    <p:sldId id="622" r:id="rId69"/>
    <p:sldId id="623" r:id="rId70"/>
    <p:sldId id="624" r:id="rId71"/>
    <p:sldId id="625" r:id="rId72"/>
    <p:sldId id="626" r:id="rId73"/>
    <p:sldId id="627" r:id="rId74"/>
    <p:sldId id="628" r:id="rId75"/>
    <p:sldId id="629" r:id="rId76"/>
    <p:sldId id="630" r:id="rId77"/>
    <p:sldId id="631" r:id="rId78"/>
    <p:sldId id="632" r:id="rId79"/>
    <p:sldId id="633" r:id="rId80"/>
    <p:sldId id="634" r:id="rId81"/>
    <p:sldId id="635" r:id="rId82"/>
    <p:sldId id="636" r:id="rId83"/>
    <p:sldId id="637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CB11D8-8307-4D90-A6B9-C264575765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E68D0-B323-4141-AAB5-8CA76A41AD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image" Target="../media/image21.jpeg"/><Relationship Id="rId1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1.pn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2.png"/><Relationship Id="rId2" Type="http://schemas.openxmlformats.org/officeDocument/2006/relationships/image" Target="../media/image6.jpeg"/><Relationship Id="rId1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1" Type="http://schemas.openxmlformats.org/officeDocument/2006/relationships/image" Target="../media/image23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2.png"/><Relationship Id="rId2" Type="http://schemas.openxmlformats.org/officeDocument/2006/relationships/image" Target="../media/image6.jpeg"/><Relationship Id="rId1" Type="http://schemas.openxmlformats.org/officeDocument/2006/relationships/image" Target="../media/image4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3.png"/><Relationship Id="rId2" Type="http://schemas.openxmlformats.org/officeDocument/2006/relationships/image" Target="../media/image26.jpeg"/><Relationship Id="rId1" Type="http://schemas.openxmlformats.org/officeDocument/2006/relationships/image" Target="../media/image41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3.png"/><Relationship Id="rId2" Type="http://schemas.openxmlformats.org/officeDocument/2006/relationships/image" Target="../media/image21.jpeg"/><Relationship Id="rId1" Type="http://schemas.openxmlformats.org/officeDocument/2006/relationships/image" Target="../media/image4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4.png"/><Relationship Id="rId2" Type="http://schemas.openxmlformats.org/officeDocument/2006/relationships/image" Target="../media/image2.jpeg"/><Relationship Id="rId1" Type="http://schemas.openxmlformats.org/officeDocument/2006/relationships/image" Target="../media/image4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image" Target="../media/image4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6.png"/><Relationship Id="rId2" Type="http://schemas.openxmlformats.org/officeDocument/2006/relationships/image" Target="../media/image26.jpeg"/><Relationship Id="rId1" Type="http://schemas.openxmlformats.org/officeDocument/2006/relationships/image" Target="../media/image41.jpe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1.jpeg"/><Relationship Id="rId2" Type="http://schemas.openxmlformats.org/officeDocument/2006/relationships/image" Target="../media/image47.png"/><Relationship Id="rId1" Type="http://schemas.openxmlformats.org/officeDocument/2006/relationships/image" Target="../media/image2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0.png"/><Relationship Id="rId2" Type="http://schemas.openxmlformats.org/officeDocument/2006/relationships/image" Target="../media/image26.jpeg"/><Relationship Id="rId1" Type="http://schemas.openxmlformats.org/officeDocument/2006/relationships/image" Target="../media/image8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3.png"/><Relationship Id="rId2" Type="http://schemas.openxmlformats.org/officeDocument/2006/relationships/image" Target="../media/image26.jpeg"/><Relationship Id="rId1" Type="http://schemas.openxmlformats.org/officeDocument/2006/relationships/image" Target="../media/image52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6.png"/><Relationship Id="rId2" Type="http://schemas.openxmlformats.org/officeDocument/2006/relationships/image" Target="../media/image29.jpeg"/><Relationship Id="rId1" Type="http://schemas.openxmlformats.org/officeDocument/2006/relationships/image" Target="../media/image55.jpe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7.png"/><Relationship Id="rId2" Type="http://schemas.openxmlformats.org/officeDocument/2006/relationships/image" Target="../media/image21.jpeg"/><Relationship Id="rId1" Type="http://schemas.openxmlformats.org/officeDocument/2006/relationships/image" Target="../media/image55.jpe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30.jpe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1" Type="http://schemas.openxmlformats.org/officeDocument/2006/relationships/image" Target="../media/image6.jpe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1.png"/><Relationship Id="rId1" Type="http://schemas.openxmlformats.org/officeDocument/2006/relationships/image" Target="../media/image6.jpe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1" Type="http://schemas.openxmlformats.org/officeDocument/2006/relationships/image" Target="../media/image6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6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6.png"/><Relationship Id="rId1" Type="http://schemas.openxmlformats.org/officeDocument/2006/relationships/image" Target="../media/image29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9.png"/><Relationship Id="rId1" Type="http://schemas.openxmlformats.org/officeDocument/2006/relationships/image" Target="../media/image29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3.png"/><Relationship Id="rId1" Type="http://schemas.openxmlformats.org/officeDocument/2006/relationships/image" Target="../media/image29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6397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                     NERVES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D4B0-52E9-4629-9AFB-88A38287275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191000" cy="5410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Femoral Nerve:- L2- L4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 is the largest branch of the lumbar plexus. </a:t>
            </a:r>
            <a:endParaRPr lang="en-US" sz="2400" dirty="0" smtClean="0"/>
          </a:p>
          <a:p>
            <a:r>
              <a:rPr lang="en-US" sz="2400" dirty="0" smtClean="0"/>
              <a:t>divides into several terminal branches to the anterior thigh muscles</a:t>
            </a:r>
            <a:endParaRPr lang="en-US" sz="2400" dirty="0" smtClean="0"/>
          </a:p>
          <a:p>
            <a:r>
              <a:rPr lang="en-US" sz="2400" dirty="0" smtClean="0"/>
              <a:t>sends articular branches to the hip and knee joints and </a:t>
            </a:r>
            <a:endParaRPr lang="en-US" sz="2400" dirty="0" smtClean="0"/>
          </a:p>
          <a:p>
            <a:r>
              <a:rPr lang="en-US" sz="2400" dirty="0" smtClean="0"/>
              <a:t>provides cutaneous branches to the anteromedial thigh </a:t>
            </a:r>
            <a:endParaRPr lang="en-US" sz="2400" dirty="0" smtClean="0"/>
          </a:p>
          <a:p>
            <a:r>
              <a:rPr lang="en-US" dirty="0" smtClean="0"/>
              <a:t>Terminal cutaneous branch -</a:t>
            </a:r>
            <a:r>
              <a:rPr lang="en-US" dirty="0" smtClean="0">
                <a:solidFill>
                  <a:srgbClr val="FF0000"/>
                </a:solidFill>
              </a:rPr>
              <a:t>saphenous</a:t>
            </a:r>
            <a:r>
              <a:rPr lang="en-US" dirty="0" smtClean="0"/>
              <a:t> nerve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602287" y="1860550"/>
            <a:ext cx="2413000" cy="37465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         </a:t>
            </a:r>
            <a:r>
              <a:rPr lang="en-US" sz="4400" b="1" dirty="0" smtClean="0">
                <a:solidFill>
                  <a:srgbClr val="00B0F0"/>
                </a:solidFill>
              </a:rPr>
              <a:t>NERVE</a:t>
            </a:r>
            <a:endParaRPr lang="en-US" sz="4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71BDC-F5E6-4368-B20D-19E7DC5DF3D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3749040" cy="53340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The obturator nerve L2-L4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 It divides into anterior and posterior branches,</a:t>
            </a:r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The anterior branch </a:t>
            </a:r>
            <a:r>
              <a:rPr lang="en-US" dirty="0" smtClean="0"/>
              <a:t>supplies the adductor longus, adductor brevis, gracilis, and pectineus; </a:t>
            </a:r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The posterior branch </a:t>
            </a:r>
            <a:r>
              <a:rPr lang="en-US" dirty="0" smtClean="0"/>
              <a:t>supplies the obturator </a:t>
            </a:r>
            <a:r>
              <a:rPr lang="en-US" dirty="0" err="1" smtClean="0"/>
              <a:t>externus</a:t>
            </a:r>
            <a:r>
              <a:rPr lang="en-US" dirty="0" smtClean="0"/>
              <a:t> and adductor </a:t>
            </a:r>
            <a:r>
              <a:rPr lang="en-US" dirty="0" err="1" smtClean="0"/>
              <a:t>magnus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933950" y="1524958"/>
            <a:ext cx="3749675" cy="4417684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6397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Vasculature of Gluteal Region and Posterior Thigh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B844-48E0-4E81-8D0B-7D3BBA26387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724400" cy="54102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Arteries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Superior gluteal aa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Inferior gluteal aa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Internal pudendal- </a:t>
            </a:r>
            <a:r>
              <a:rPr lang="en-US" sz="2000" b="1" dirty="0" smtClean="0">
                <a:solidFill>
                  <a:srgbClr val="FF0000"/>
                </a:solidFill>
              </a:rPr>
              <a:t>supply perineum 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 all arises from internal iliac aa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/>
              <a:t>The deep artery of the thigh - giving off perforating arteries to posterior compartment of the thigh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Veins  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Accompany the arteries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Have same name with arteries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Are tributaries of the internal iliac veins </a:t>
            </a:r>
            <a:endParaRPr lang="en-US" b="1" u="sng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024562" y="2327275"/>
            <a:ext cx="1568450" cy="28130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304800"/>
            <a:ext cx="8610600" cy="6324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Nerves of Gluteal Region and Posterior Thigh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Several nerves arise from the </a:t>
            </a:r>
            <a:r>
              <a:rPr lang="en-US" dirty="0" smtClean="0">
                <a:solidFill>
                  <a:srgbClr val="FF0000"/>
                </a:solidFill>
              </a:rPr>
              <a:t>sacral plexus (</a:t>
            </a:r>
            <a:r>
              <a:rPr lang="en-US" dirty="0" smtClean="0"/>
              <a:t>L4, L5, S1–S4 ) and supply the gluteal region and posterior thigh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</a:rPr>
              <a:t>Branches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  <a:p>
            <a:pPr lvl="2"/>
            <a:r>
              <a:rPr lang="en-US" sz="2400" dirty="0"/>
              <a:t>Superior gluteal nerve - gluteus medius, minimus, tensor fascia </a:t>
            </a:r>
            <a:r>
              <a:rPr lang="en-US" sz="2400" dirty="0" err="1" smtClean="0"/>
              <a:t>lata</a:t>
            </a:r>
            <a:endParaRPr lang="en-US" sz="2400" dirty="0"/>
          </a:p>
          <a:p>
            <a:pPr lvl="2"/>
            <a:r>
              <a:rPr lang="en-US" sz="2400" dirty="0" smtClean="0"/>
              <a:t>Inferior </a:t>
            </a:r>
            <a:r>
              <a:rPr lang="en-US" sz="2400" dirty="0"/>
              <a:t>gluteal nerve – gluteus </a:t>
            </a:r>
            <a:r>
              <a:rPr lang="en-US" sz="2400" dirty="0" smtClean="0"/>
              <a:t>maximus</a:t>
            </a:r>
            <a:endParaRPr lang="en-US" sz="2400" dirty="0" smtClean="0"/>
          </a:p>
          <a:p>
            <a:pPr lvl="2"/>
            <a:r>
              <a:rPr lang="en-US" sz="2400" dirty="0" smtClean="0"/>
              <a:t>Nerve </a:t>
            </a:r>
            <a:r>
              <a:rPr lang="en-US" sz="2400" dirty="0"/>
              <a:t>to quadratus </a:t>
            </a:r>
            <a:r>
              <a:rPr lang="en-US" sz="2400" dirty="0" err="1"/>
              <a:t>femoris</a:t>
            </a:r>
            <a:r>
              <a:rPr lang="en-US" sz="2400" dirty="0"/>
              <a:t> </a:t>
            </a:r>
            <a:endParaRPr lang="en-US" sz="2400" dirty="0" smtClean="0"/>
          </a:p>
          <a:p>
            <a:pPr lvl="2"/>
            <a:r>
              <a:rPr lang="en-US" sz="2400" dirty="0" smtClean="0"/>
              <a:t>Nerve </a:t>
            </a:r>
            <a:r>
              <a:rPr lang="en-US" sz="2400" dirty="0"/>
              <a:t>to </a:t>
            </a:r>
            <a:r>
              <a:rPr lang="en-US" sz="2400" dirty="0" err="1"/>
              <a:t>piriformis</a:t>
            </a:r>
            <a:r>
              <a:rPr lang="en-US" sz="2400" dirty="0"/>
              <a:t>  </a:t>
            </a:r>
            <a:endParaRPr lang="en-US" sz="2400" dirty="0" smtClean="0"/>
          </a:p>
          <a:p>
            <a:pPr lvl="2"/>
            <a:r>
              <a:rPr lang="en-US" sz="2400" dirty="0" smtClean="0"/>
              <a:t>Nerve </a:t>
            </a:r>
            <a:r>
              <a:rPr lang="en-US" sz="2400" dirty="0"/>
              <a:t>to </a:t>
            </a:r>
            <a:r>
              <a:rPr lang="en-US" sz="2400" dirty="0" err="1"/>
              <a:t>obturator</a:t>
            </a:r>
            <a:r>
              <a:rPr lang="en-US" sz="2400" dirty="0"/>
              <a:t> </a:t>
            </a:r>
            <a:r>
              <a:rPr lang="en-US" sz="2400" dirty="0" err="1" smtClean="0"/>
              <a:t>internus</a:t>
            </a:r>
            <a:endParaRPr lang="en-US" sz="2400" dirty="0"/>
          </a:p>
          <a:p>
            <a:pPr lvl="2"/>
            <a:r>
              <a:rPr lang="en-US" sz="2400" dirty="0" smtClean="0"/>
              <a:t>Posterior </a:t>
            </a:r>
            <a:r>
              <a:rPr lang="en-US" sz="2400" dirty="0"/>
              <a:t>cutaneous nerve of the </a:t>
            </a:r>
            <a:r>
              <a:rPr lang="en-US" sz="2400" dirty="0" smtClean="0"/>
              <a:t>thigh</a:t>
            </a:r>
            <a:endParaRPr lang="en-US" sz="2400" dirty="0" smtClean="0"/>
          </a:p>
          <a:p>
            <a:pPr lvl="2"/>
            <a:r>
              <a:rPr lang="en-US" sz="2400" dirty="0" smtClean="0">
                <a:effectLst/>
              </a:rPr>
              <a:t>Pudendal </a:t>
            </a:r>
            <a:r>
              <a:rPr lang="en-US" sz="2400" dirty="0">
                <a:effectLst/>
              </a:rPr>
              <a:t>nerve </a:t>
            </a:r>
            <a:endParaRPr lang="en-US" sz="2400" dirty="0" smtClean="0">
              <a:effectLst/>
            </a:endParaRPr>
          </a:p>
          <a:p>
            <a:pPr lvl="2"/>
            <a:r>
              <a:rPr lang="en-US" sz="2400" dirty="0" smtClean="0">
                <a:effectLst/>
              </a:rPr>
              <a:t>Sciatic </a:t>
            </a:r>
            <a:r>
              <a:rPr lang="en-US" sz="2400" dirty="0">
                <a:effectLst/>
              </a:rPr>
              <a:t>nerve</a:t>
            </a:r>
            <a:r>
              <a:rPr lang="en-US" sz="2400" dirty="0"/>
              <a:t>  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91F5-59F7-4A4C-ABE9-C44F9A83559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2762-F9C4-48A1-9FD7-973304390450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6096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       Nerves of Gluteal Region and Posterior Thigh</a:t>
            </a: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ECC5-D620-4797-B790-8DD2DFB20C7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5181600" cy="5562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Sciatic nerve </a:t>
            </a:r>
            <a:r>
              <a:rPr lang="en-US" sz="2800" dirty="0" smtClean="0"/>
              <a:t>(L4-S3)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lvl="2"/>
            <a:r>
              <a:rPr lang="en-US" sz="2400" dirty="0" smtClean="0"/>
              <a:t>the largest nerve in the body </a:t>
            </a:r>
            <a:endParaRPr lang="en-US" sz="2400" dirty="0" smtClean="0"/>
          </a:p>
          <a:p>
            <a:pPr lvl="2"/>
            <a:r>
              <a:rPr lang="en-US" sz="2400" dirty="0" smtClean="0"/>
              <a:t>the continuation of the main part of the </a:t>
            </a:r>
            <a:r>
              <a:rPr lang="en-US" sz="2400" dirty="0" smtClean="0">
                <a:solidFill>
                  <a:srgbClr val="0000FF"/>
                </a:solidFill>
              </a:rPr>
              <a:t>sacral plexus</a:t>
            </a:r>
            <a:endParaRPr lang="en-US" sz="2400" dirty="0" smtClean="0">
              <a:solidFill>
                <a:srgbClr val="0000FF"/>
              </a:solidFill>
            </a:endParaRPr>
          </a:p>
          <a:p>
            <a:pPr lvl="2"/>
            <a:r>
              <a:rPr lang="en-US" sz="2400" dirty="0" smtClean="0"/>
              <a:t>is really two nerves loosely bound together in the same connective tissue sheath: </a:t>
            </a:r>
            <a:r>
              <a:rPr lang="en-US" sz="2400" dirty="0" smtClean="0">
                <a:solidFill>
                  <a:srgbClr val="FF0000"/>
                </a:solidFill>
              </a:rPr>
              <a:t>the </a:t>
            </a:r>
            <a:r>
              <a:rPr lang="en-US" sz="2400" dirty="0" err="1" smtClean="0">
                <a:solidFill>
                  <a:srgbClr val="FF0000"/>
                </a:solidFill>
              </a:rPr>
              <a:t>tibial</a:t>
            </a:r>
            <a:r>
              <a:rPr lang="en-US" sz="2400" dirty="0" smtClean="0">
                <a:solidFill>
                  <a:srgbClr val="FF0000"/>
                </a:solidFill>
              </a:rPr>
              <a:t> nerve, and the common fibular nerve 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2"/>
            <a:r>
              <a:rPr lang="en-US" sz="2400" dirty="0" smtClean="0"/>
              <a:t>Terminate in the middle of the thigh by dividing into </a:t>
            </a:r>
            <a:r>
              <a:rPr lang="en-US" sz="2400" dirty="0" err="1" smtClean="0"/>
              <a:t>tibial</a:t>
            </a:r>
            <a:r>
              <a:rPr lang="en-US" sz="2400" dirty="0" smtClean="0">
                <a:solidFill>
                  <a:srgbClr val="FF0066"/>
                </a:solidFill>
              </a:rPr>
              <a:t> </a:t>
            </a:r>
            <a:r>
              <a:rPr lang="en-US" sz="2400" dirty="0" smtClean="0"/>
              <a:t>and common fibular nerves </a:t>
            </a:r>
            <a:endParaRPr lang="en-US" sz="2400" dirty="0" smtClean="0"/>
          </a:p>
          <a:p>
            <a:pPr lvl="1"/>
            <a:r>
              <a:rPr lang="en-US" dirty="0" smtClean="0"/>
              <a:t>Supplies </a:t>
            </a:r>
            <a:r>
              <a:rPr lang="en-US" dirty="0" smtClean="0">
                <a:solidFill>
                  <a:srgbClr val="FF0000"/>
                </a:solidFill>
              </a:rPr>
              <a:t>no structures </a:t>
            </a:r>
            <a:r>
              <a:rPr lang="en-US" dirty="0" smtClean="0"/>
              <a:t>in the gluteal region </a:t>
            </a:r>
            <a:endParaRPr lang="en-US" dirty="0" smtClean="0"/>
          </a:p>
          <a:p>
            <a:pPr lvl="1"/>
            <a:r>
              <a:rPr lang="en-US" dirty="0" smtClean="0"/>
              <a:t>It supplies the posterior thigh muscles, all leg and foot muscles, and the skin of posterior thigh, most of the leg and the foot</a:t>
            </a:r>
            <a:endParaRPr lang="en-US" sz="2400" dirty="0" smtClean="0"/>
          </a:p>
          <a:p>
            <a:pPr lvl="2"/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808662" y="1863725"/>
            <a:ext cx="2000250" cy="374015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36A0-D9AE-45D9-976D-7D5E141B507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914400" y="1864707"/>
            <a:ext cx="3749675" cy="373818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325B-4A4B-4EF4-80E9-3BDB9156890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116F-419F-49C0-A864-27D88AF6517F}" type="slidenum">
              <a:rPr lang="en-US"/>
            </a:fld>
            <a:endParaRPr lang="en-US"/>
          </a:p>
        </p:txBody>
      </p:sp>
      <p:sp>
        <p:nvSpPr>
          <p:cNvPr id="84480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304800"/>
            <a:ext cx="8534400" cy="6324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   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Intra-gluteal injections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The gluteal </a:t>
            </a:r>
            <a:r>
              <a:rPr lang="en-US" sz="2400" dirty="0"/>
              <a:t>region is a common site for intramuscular injection of drugs</a:t>
            </a:r>
            <a:endParaRPr lang="en-US" sz="2400" dirty="0"/>
          </a:p>
          <a:p>
            <a:r>
              <a:rPr lang="en-US" sz="2400" dirty="0"/>
              <a:t>The gluteal region is a </a:t>
            </a:r>
            <a:r>
              <a:rPr lang="en-US" sz="2400" b="1" dirty="0">
                <a:solidFill>
                  <a:srgbClr val="0000FF"/>
                </a:solidFill>
              </a:rPr>
              <a:t>favorable injection </a:t>
            </a:r>
            <a:r>
              <a:rPr lang="en-US" sz="2400" dirty="0"/>
              <a:t>site because the muscles are thick and large; consequently, they provide a substantial </a:t>
            </a:r>
            <a:r>
              <a:rPr lang="en-US" sz="2400" dirty="0">
                <a:solidFill>
                  <a:srgbClr val="0000FF"/>
                </a:solidFill>
              </a:rPr>
              <a:t>volume for absorption of injected substances by intramuscular veins</a:t>
            </a:r>
            <a:endParaRPr lang="en-US" sz="2400" dirty="0">
              <a:solidFill>
                <a:srgbClr val="0000FF"/>
              </a:solidFill>
            </a:endParaRPr>
          </a:p>
          <a:p>
            <a:r>
              <a:rPr lang="en-US" sz="2400" dirty="0"/>
              <a:t>Complications of improper technique include nerve injury, hematoma, and abscess formation</a:t>
            </a:r>
            <a:endParaRPr lang="en-US" sz="2400" dirty="0"/>
          </a:p>
          <a:p>
            <a:r>
              <a:rPr lang="en-US" sz="2400" dirty="0" smtClean="0"/>
              <a:t>Injections into the buttock are safe only in the </a:t>
            </a:r>
            <a:r>
              <a:rPr lang="en-US" sz="2400" dirty="0" smtClean="0">
                <a:solidFill>
                  <a:srgbClr val="FF0000"/>
                </a:solidFill>
              </a:rPr>
              <a:t>superolateral</a:t>
            </a:r>
            <a:r>
              <a:rPr lang="en-US" sz="2400" dirty="0" smtClean="0"/>
              <a:t> quadrant of the buttock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269875"/>
            <a:ext cx="6781800" cy="6246813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29F9-561C-45FD-8099-623D2AE90EF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382000" cy="762000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dirty="0" smtClean="0"/>
              <a:t>              </a:t>
            </a:r>
            <a:r>
              <a:rPr lang="en-US" b="1" dirty="0" smtClean="0">
                <a:solidFill>
                  <a:srgbClr val="002060"/>
                </a:solidFill>
              </a:rPr>
              <a:t>THE POPLITEAL FOSSA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55D3-92B5-4160-B0D0-6A97AB26266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4358640" cy="57150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US" sz="2800" dirty="0" smtClean="0"/>
              <a:t>Is a mostly fat-filled </a:t>
            </a:r>
            <a:r>
              <a:rPr lang="en-US" sz="2800" dirty="0" smtClean="0">
                <a:solidFill>
                  <a:srgbClr val="FF0000"/>
                </a:solidFill>
              </a:rPr>
              <a:t>diamond-shaped </a:t>
            </a:r>
            <a:r>
              <a:rPr lang="en-US" sz="2800" dirty="0" smtClean="0"/>
              <a:t>space posterior to the knee</a:t>
            </a: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The popliteal fossa is </a:t>
            </a:r>
            <a:r>
              <a:rPr lang="en-US" sz="2800" b="1" dirty="0" smtClean="0">
                <a:solidFill>
                  <a:srgbClr val="0000FF"/>
                </a:solidFill>
              </a:rPr>
              <a:t>bound</a:t>
            </a:r>
            <a:endParaRPr lang="en-US" sz="2800" b="1" dirty="0" smtClean="0">
              <a:solidFill>
                <a:srgbClr val="0000FF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Superolateral - </a:t>
            </a:r>
            <a:r>
              <a:rPr lang="en-US" sz="2800" b="1" dirty="0" smtClean="0"/>
              <a:t> biceps femoris </a:t>
            </a:r>
            <a:endParaRPr lang="en-US" sz="2800" b="1" dirty="0" smtClean="0"/>
          </a:p>
          <a:p>
            <a:r>
              <a:rPr lang="en-US" sz="2800" dirty="0" err="1" smtClean="0">
                <a:solidFill>
                  <a:srgbClr val="FF0000"/>
                </a:solidFill>
              </a:rPr>
              <a:t>Superomedially</a:t>
            </a:r>
            <a:r>
              <a:rPr lang="en-US" sz="2800" dirty="0" smtClean="0"/>
              <a:t> -  </a:t>
            </a:r>
            <a:r>
              <a:rPr lang="en-US" sz="2800" dirty="0" err="1" smtClean="0"/>
              <a:t>semimembranosus</a:t>
            </a:r>
            <a:r>
              <a:rPr lang="en-US" sz="2800" dirty="0" smtClean="0"/>
              <a:t>, </a:t>
            </a:r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Inferolateral </a:t>
            </a:r>
            <a:r>
              <a:rPr lang="en-US" sz="2800" b="1" dirty="0" smtClean="0"/>
              <a:t>and </a:t>
            </a:r>
            <a:r>
              <a:rPr lang="en-US" sz="2800" b="1" dirty="0" smtClean="0">
                <a:solidFill>
                  <a:srgbClr val="FF0000"/>
                </a:solidFill>
              </a:rPr>
              <a:t>inferomedially</a:t>
            </a:r>
            <a:r>
              <a:rPr lang="en-US" sz="2800" b="1" dirty="0" smtClean="0"/>
              <a:t> by the lateral and medial heads of the gastrocnemius, </a:t>
            </a:r>
            <a:endParaRPr lang="en-US" sz="2800" b="1" dirty="0" smtClean="0"/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ROOF</a:t>
            </a:r>
            <a:r>
              <a:rPr lang="en-US" sz="2800" b="1" dirty="0" smtClean="0"/>
              <a:t>: </a:t>
            </a:r>
            <a:r>
              <a:rPr lang="en-US" sz="3100" dirty="0" smtClean="0"/>
              <a:t>Posteriorly by skin and popliteal fascia </a:t>
            </a:r>
            <a:endParaRPr lang="en-US" sz="2800" dirty="0" smtClean="0"/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FLOOR: </a:t>
            </a:r>
            <a:r>
              <a:rPr lang="en-US" sz="3100" dirty="0" smtClean="0">
                <a:solidFill>
                  <a:srgbClr val="FF0000"/>
                </a:solidFill>
              </a:rPr>
              <a:t>Anteriorly</a:t>
            </a:r>
            <a:r>
              <a:rPr lang="en-US" sz="3100" dirty="0" smtClean="0"/>
              <a:t> by the popliteal surface of the femur, posterior capsule of the knee joint, and the popliteus fascia covering the popliteus muscle 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905000"/>
            <a:ext cx="4495800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BBD8-BD6C-43E6-AE94-5693077410F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56C1-DE1B-417D-9C23-EC420C9C4110}" type="slidenum">
              <a:rPr lang="en-US"/>
            </a:fld>
            <a:endParaRPr lang="en-US"/>
          </a:p>
        </p:txBody>
      </p:sp>
      <p:pic>
        <p:nvPicPr>
          <p:cNvPr id="91853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2878" y="226634"/>
            <a:ext cx="7176266" cy="66313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68362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200" b="1" dirty="0" smtClean="0"/>
              <a:t>             </a:t>
            </a:r>
            <a:r>
              <a:rPr lang="en-US" b="1" dirty="0" smtClean="0">
                <a:solidFill>
                  <a:srgbClr val="002060"/>
                </a:solidFill>
              </a:rPr>
              <a:t>THE POPLITEAL FOSSA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EF2A-95CE-4CAD-871B-6BF30D55EF1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4724400" cy="55626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rgbClr val="0000FF"/>
                </a:solidFill>
              </a:rPr>
              <a:t>The contents 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Termination of the small saphenous vein.</a:t>
            </a:r>
            <a:endParaRPr lang="en-US" sz="2800" dirty="0" smtClean="0"/>
          </a:p>
          <a:p>
            <a:r>
              <a:rPr lang="en-US" sz="2800" dirty="0" smtClean="0"/>
              <a:t>Popliteal artery and vein and their branches and tributaries.</a:t>
            </a:r>
            <a:endParaRPr lang="en-US" sz="2800" dirty="0" smtClean="0"/>
          </a:p>
          <a:p>
            <a:r>
              <a:rPr lang="en-US" sz="2800" dirty="0" smtClean="0"/>
              <a:t>Tibial and common fibular nerves</a:t>
            </a:r>
            <a:endParaRPr lang="en-US" sz="2800" dirty="0" smtClean="0"/>
          </a:p>
          <a:p>
            <a:r>
              <a:rPr lang="en-US" sz="2800" dirty="0" smtClean="0"/>
              <a:t>Posterior cutaneous nerve of the thigh.</a:t>
            </a:r>
            <a:endParaRPr lang="en-US" sz="2800" dirty="0" smtClean="0"/>
          </a:p>
          <a:p>
            <a:r>
              <a:rPr lang="en-US" sz="2800" dirty="0" smtClean="0"/>
              <a:t>Popliteal lymph nodes and lymphatic vessels.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970587" y="2397125"/>
            <a:ext cx="1676400" cy="26733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l"/>
            <a:r>
              <a:rPr lang="en-US" sz="3600" dirty="0"/>
              <a:t>Popliteal artery</a:t>
            </a:r>
            <a:endParaRPr 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EE244-7699-4CB9-85FE-D746CFD1791C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AEDE5-0298-4467-A73D-AA8515D33863}" type="slidenum">
              <a:rPr lang="en-US"/>
            </a:fld>
            <a:endParaRPr lang="en-US"/>
          </a:p>
        </p:txBody>
      </p:sp>
      <p:sp>
        <p:nvSpPr>
          <p:cNvPr id="64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066800"/>
            <a:ext cx="8610600" cy="5562600"/>
          </a:xfrm>
        </p:spPr>
        <p:txBody>
          <a:bodyPr/>
          <a:lstStyle/>
          <a:p>
            <a:r>
              <a:rPr lang="en-US" dirty="0"/>
              <a:t>Continuation of the femoral artery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the inferior border of the </a:t>
            </a:r>
            <a:r>
              <a:rPr lang="en-US" dirty="0" err="1"/>
              <a:t>popliteus</a:t>
            </a:r>
            <a:r>
              <a:rPr lang="en-US" dirty="0"/>
              <a:t> </a:t>
            </a:r>
            <a:r>
              <a:rPr lang="en-US" dirty="0" smtClean="0"/>
              <a:t>it divides </a:t>
            </a:r>
            <a:r>
              <a:rPr lang="en-US" dirty="0"/>
              <a:t>into </a:t>
            </a:r>
            <a:r>
              <a:rPr lang="en-US" dirty="0">
                <a:solidFill>
                  <a:srgbClr val="FF0000"/>
                </a:solidFill>
              </a:rPr>
              <a:t>anterior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posterior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tibial</a:t>
            </a:r>
            <a:r>
              <a:rPr lang="en-US" dirty="0"/>
              <a:t> arteries</a:t>
            </a:r>
            <a:endParaRPr lang="en-US" dirty="0"/>
          </a:p>
          <a:p>
            <a:r>
              <a:rPr lang="en-US" dirty="0"/>
              <a:t>The deepest structure in the popliteal </a:t>
            </a:r>
            <a:r>
              <a:rPr lang="en-US" dirty="0" smtClean="0"/>
              <a:t>fossa </a:t>
            </a:r>
            <a:endParaRPr lang="en-US" dirty="0" smtClean="0"/>
          </a:p>
          <a:p>
            <a:r>
              <a:rPr lang="en-US" dirty="0" smtClean="0"/>
              <a:t>Branches </a:t>
            </a:r>
            <a:endParaRPr lang="en-US" dirty="0" smtClean="0"/>
          </a:p>
          <a:p>
            <a:pPr lvl="3"/>
            <a:r>
              <a:rPr lang="en-US" dirty="0" smtClean="0"/>
              <a:t>Five </a:t>
            </a:r>
            <a:r>
              <a:rPr lang="en-US" dirty="0" err="1" smtClean="0"/>
              <a:t>genicular</a:t>
            </a:r>
            <a:r>
              <a:rPr lang="en-US" dirty="0" smtClean="0"/>
              <a:t> branches and of the popliteal artery supply the</a:t>
            </a:r>
            <a:endParaRPr lang="en-US" dirty="0" smtClean="0"/>
          </a:p>
          <a:p>
            <a:pPr lvl="5">
              <a:lnSpc>
                <a:spcPct val="90000"/>
              </a:lnSpc>
            </a:pPr>
            <a:r>
              <a:rPr lang="en-US" dirty="0" smtClean="0"/>
              <a:t>superior lateral</a:t>
            </a:r>
            <a:endParaRPr lang="en-US" dirty="0" smtClean="0"/>
          </a:p>
          <a:p>
            <a:pPr lvl="5">
              <a:lnSpc>
                <a:spcPct val="90000"/>
              </a:lnSpc>
            </a:pPr>
            <a:r>
              <a:rPr lang="en-US" dirty="0" smtClean="0"/>
              <a:t>superior medial</a:t>
            </a:r>
            <a:endParaRPr lang="en-US" dirty="0" smtClean="0"/>
          </a:p>
          <a:p>
            <a:pPr lvl="5">
              <a:lnSpc>
                <a:spcPct val="90000"/>
              </a:lnSpc>
            </a:pPr>
            <a:r>
              <a:rPr lang="en-US" dirty="0" smtClean="0"/>
              <a:t>Middle</a:t>
            </a:r>
            <a:endParaRPr lang="en-US" dirty="0" smtClean="0"/>
          </a:p>
          <a:p>
            <a:pPr lvl="5">
              <a:lnSpc>
                <a:spcPct val="90000"/>
              </a:lnSpc>
            </a:pPr>
            <a:r>
              <a:rPr lang="en-US" dirty="0" smtClean="0"/>
              <a:t>inferior lateral</a:t>
            </a:r>
            <a:endParaRPr lang="en-US" dirty="0" smtClean="0"/>
          </a:p>
          <a:p>
            <a:pPr lvl="5">
              <a:lnSpc>
                <a:spcPct val="90000"/>
              </a:lnSpc>
            </a:pPr>
            <a:r>
              <a:rPr lang="en-US" dirty="0" smtClean="0"/>
              <a:t>inferior medial </a:t>
            </a:r>
            <a:endParaRPr lang="en-US" dirty="0" smtClean="0"/>
          </a:p>
          <a:p>
            <a:pPr lvl="3"/>
            <a:r>
              <a:rPr lang="en-US" dirty="0" smtClean="0"/>
              <a:t>Branch for muscles, joint capsule and ligaments of the knee joint</a:t>
            </a:r>
            <a:endParaRPr lang="en-US" dirty="0" smtClean="0"/>
          </a:p>
          <a:p>
            <a:pPr lvl="3"/>
            <a:r>
              <a:rPr lang="en-US" dirty="0" smtClean="0"/>
              <a:t>Anterior and posterior </a:t>
            </a:r>
            <a:r>
              <a:rPr lang="en-US" dirty="0" err="1" smtClean="0"/>
              <a:t>tibial</a:t>
            </a:r>
            <a:r>
              <a:rPr lang="en-US" dirty="0" smtClean="0"/>
              <a:t> arteries</a:t>
            </a:r>
            <a:endParaRPr lang="en-US" dirty="0" smtClean="0"/>
          </a:p>
          <a:p>
            <a:pPr lvl="3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D5FF-85BC-402B-BB9B-5176638F401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5A39E-9CD6-40CB-AC60-3AA1CFD1372A}" type="slidenum">
              <a:rPr lang="en-US"/>
            </a:fld>
            <a:endParaRPr lang="en-US"/>
          </a:p>
        </p:txBody>
      </p:sp>
      <p:pic>
        <p:nvPicPr>
          <p:cNvPr id="75571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-30163"/>
            <a:ext cx="7543800" cy="69897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868363"/>
          </a:xfrm>
        </p:spPr>
        <p:txBody>
          <a:bodyPr/>
          <a:lstStyle/>
          <a:p>
            <a:pPr algn="l"/>
            <a:r>
              <a:rPr lang="en-US" sz="4000" dirty="0">
                <a:solidFill>
                  <a:schemeClr val="hlink"/>
                </a:solidFill>
              </a:rPr>
              <a:t>Popliteal vein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8D99-A5BA-4EA1-ABF5-529259789ED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BB34-6ECC-47E2-876C-09CD5AFCEC17}" type="slidenum">
              <a:rPr lang="en-US"/>
            </a:fld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1143000"/>
            <a:ext cx="8534400" cy="5410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Begins as an assembly of venae comitantes below the knee 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Formed at distal end of </a:t>
            </a:r>
            <a:r>
              <a:rPr lang="en-US" sz="2400" dirty="0" err="1"/>
              <a:t>popliteus</a:t>
            </a:r>
            <a:r>
              <a:rPr lang="en-US" sz="2400" dirty="0"/>
              <a:t> 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Terminate in the adductor hiatus 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 smtClean="0"/>
              <a:t>Tributaries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main – vena comitantes of anterior and posterior </a:t>
            </a:r>
            <a:r>
              <a:rPr lang="en-US" sz="2400" dirty="0" err="1"/>
              <a:t>tibial</a:t>
            </a:r>
            <a:r>
              <a:rPr lang="en-US" sz="2400" dirty="0"/>
              <a:t> artery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muscular and cutaneous 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 err="1"/>
              <a:t>genicular</a:t>
            </a:r>
            <a:r>
              <a:rPr lang="en-US" sz="2400" dirty="0"/>
              <a:t> veins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small saphenous vein </a:t>
            </a: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F374-3377-49D1-A2FC-743C1109494A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382000" cy="62484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Tibial nerve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/>
              <a:t>The medial, larger terminal branch of the sciatic nerve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The most superficial of the three main central components of the popliteal fossa (nerve, vein, and artery) </a:t>
            </a:r>
            <a:endParaRPr lang="en-US" dirty="0" smtClean="0"/>
          </a:p>
          <a:p>
            <a:pPr lvl="1"/>
            <a:r>
              <a:rPr lang="en-US" dirty="0" smtClean="0"/>
              <a:t>A medial </a:t>
            </a:r>
            <a:r>
              <a:rPr lang="en-US" dirty="0" err="1" smtClean="0"/>
              <a:t>sural</a:t>
            </a:r>
            <a:r>
              <a:rPr lang="en-US" dirty="0" smtClean="0"/>
              <a:t> cutaneous nerve is also derived from the </a:t>
            </a:r>
            <a:r>
              <a:rPr lang="en-US" dirty="0" err="1" smtClean="0"/>
              <a:t>tibial</a:t>
            </a:r>
            <a:r>
              <a:rPr lang="en-US" dirty="0" smtClean="0"/>
              <a:t> nerve joined by the </a:t>
            </a:r>
            <a:r>
              <a:rPr lang="en-US" dirty="0" err="1" smtClean="0"/>
              <a:t>sural</a:t>
            </a:r>
            <a:r>
              <a:rPr lang="en-US" dirty="0" smtClean="0"/>
              <a:t> communicating branch of the common fibular nerve to form the </a:t>
            </a:r>
            <a:r>
              <a:rPr lang="en-US" sz="2800" b="1" dirty="0" err="1" smtClean="0">
                <a:solidFill>
                  <a:srgbClr val="FF0000"/>
                </a:solidFill>
              </a:rPr>
              <a:t>sural</a:t>
            </a:r>
            <a:r>
              <a:rPr lang="en-US" sz="2800" b="1" dirty="0" smtClean="0">
                <a:solidFill>
                  <a:srgbClr val="FF0000"/>
                </a:solidFill>
              </a:rPr>
              <a:t> nerve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en-US" sz="2800" dirty="0" smtClean="0"/>
              <a:t>This nerve supplies the lateral side of the leg and ankle</a:t>
            </a:r>
            <a:endParaRPr lang="en-US" sz="2800" dirty="0" smtClean="0"/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Common fibular nerve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The lateral, smaller terminal branch of the sciatic nerve</a:t>
            </a:r>
            <a:endParaRPr lang="en-US" dirty="0" smtClean="0"/>
          </a:p>
          <a:p>
            <a:pPr lvl="1"/>
            <a:r>
              <a:rPr lang="en-US" dirty="0" smtClean="0"/>
              <a:t>Winds around the fibular neck, where it is vulnerable to injury</a:t>
            </a:r>
            <a:endParaRPr lang="en-US" dirty="0" smtClean="0"/>
          </a:p>
          <a:p>
            <a:pPr lvl="1"/>
            <a:r>
              <a:rPr lang="en-US" dirty="0" smtClean="0"/>
              <a:t>Here it divides into its terminal branches, the </a:t>
            </a:r>
            <a:r>
              <a:rPr lang="en-US" b="1" dirty="0" smtClean="0">
                <a:solidFill>
                  <a:srgbClr val="FF0000"/>
                </a:solidFill>
              </a:rPr>
              <a:t>superficial and deep fibular nerves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AE11-2BDB-4A94-BB13-60330FFD7A5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A7F7-B326-496A-B57F-E648D0016989}" type="slidenum">
              <a:rPr lang="en-US"/>
            </a:fld>
            <a:endParaRPr lang="en-US"/>
          </a:p>
        </p:txBody>
      </p:sp>
      <p:pic>
        <p:nvPicPr>
          <p:cNvPr id="75264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0"/>
            <a:ext cx="85344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 smtClean="0"/>
              <a:t>                         </a:t>
            </a:r>
            <a:r>
              <a:rPr lang="en-US" b="1" dirty="0" smtClean="0">
                <a:solidFill>
                  <a:srgbClr val="002060"/>
                </a:solidFill>
              </a:rPr>
              <a:t>THE LEG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2B5D-E2B5-4E8E-8861-2446871C1BE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14400"/>
            <a:ext cx="4038600" cy="5715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b="1" dirty="0" smtClean="0"/>
              <a:t> The leg is divided into three compartments by </a:t>
            </a:r>
            <a:r>
              <a:rPr lang="en-US" sz="2400" b="1" dirty="0" smtClean="0">
                <a:solidFill>
                  <a:srgbClr val="7030A0"/>
                </a:solidFill>
              </a:rPr>
              <a:t>intermuscular septa interosseous membrane and two leg bones</a:t>
            </a:r>
            <a:endParaRPr lang="en-US" sz="2400" b="1" dirty="0" smtClean="0"/>
          </a:p>
          <a:p>
            <a:pPr lvl="2">
              <a:buBlip>
                <a:blip r:embed="rId2"/>
              </a:buBlip>
            </a:pPr>
            <a:r>
              <a:rPr lang="en-US" sz="2400" b="1" dirty="0" smtClean="0">
                <a:solidFill>
                  <a:srgbClr val="0000FF"/>
                </a:solidFill>
              </a:rPr>
              <a:t>Anterior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2">
              <a:buBlip>
                <a:blip r:embed="rId2"/>
              </a:buBlip>
            </a:pPr>
            <a:r>
              <a:rPr lang="en-US" b="1" dirty="0" smtClean="0">
                <a:solidFill>
                  <a:srgbClr val="0000FF"/>
                </a:solidFill>
              </a:rPr>
              <a:t>Lateral </a:t>
            </a:r>
            <a:endParaRPr lang="en-US" b="1" dirty="0" smtClean="0">
              <a:solidFill>
                <a:srgbClr val="0000FF"/>
              </a:solidFill>
            </a:endParaRPr>
          </a:p>
          <a:p>
            <a:pPr lvl="2">
              <a:buBlip>
                <a:blip r:embed="rId2"/>
              </a:buBlip>
            </a:pPr>
            <a:r>
              <a:rPr lang="en-US" b="1" dirty="0" smtClean="0">
                <a:solidFill>
                  <a:srgbClr val="0000FF"/>
                </a:solidFill>
              </a:rPr>
              <a:t>Posterior</a:t>
            </a:r>
            <a:endParaRPr lang="en-US" b="1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741987" y="2320925"/>
            <a:ext cx="2133600" cy="28257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                           </a:t>
            </a:r>
            <a:r>
              <a:rPr lang="en-US" sz="4400" b="1" dirty="0" smtClean="0">
                <a:solidFill>
                  <a:srgbClr val="002060"/>
                </a:solidFill>
              </a:rPr>
              <a:t>THE LEG</a:t>
            </a:r>
            <a:endParaRPr lang="en-US" sz="4400" b="1" dirty="0">
              <a:solidFill>
                <a:srgbClr val="00206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F993-49AF-4307-8BA9-2DEE6399F5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85800" y="959536"/>
            <a:ext cx="8001000" cy="539440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7159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br>
              <a:rPr lang="en-US" sz="3200" b="1" dirty="0" smtClean="0">
                <a:solidFill>
                  <a:srgbClr val="FF0000"/>
                </a:solidFill>
                <a:latin typeface="+mn-lt"/>
              </a:rPr>
            </a:br>
            <a:br>
              <a:rPr lang="en-US" sz="3200" b="1" dirty="0" smtClean="0">
                <a:solidFill>
                  <a:srgbClr val="FF0000"/>
                </a:solidFill>
                <a:latin typeface="+mn-lt"/>
              </a:rPr>
            </a:br>
            <a:br>
              <a:rPr lang="en-US" sz="3200" b="1" dirty="0" smtClean="0">
                <a:solidFill>
                  <a:srgbClr val="FF0000"/>
                </a:solidFill>
                <a:latin typeface="+mn-lt"/>
              </a:rPr>
            </a:br>
            <a:r>
              <a:rPr lang="en-US" sz="3200" b="1" dirty="0" smtClean="0">
                <a:solidFill>
                  <a:srgbClr val="FF0000"/>
                </a:solidFill>
                <a:latin typeface="+mn-lt"/>
              </a:rPr>
              <a:t>            Anterior Compartment of Leg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9EC9-B87F-4534-B363-F6A0289794A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4358640" cy="54102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00FF"/>
                </a:solidFill>
              </a:rPr>
              <a:t>Are Dorsiflexor (extensor) compartment)</a:t>
            </a:r>
            <a:r>
              <a:rPr lang="en-US" sz="2800" dirty="0" smtClean="0"/>
              <a:t> and located anterior to the interosseous membrane</a:t>
            </a:r>
            <a:endParaRPr lang="en-US" sz="2800" dirty="0" smtClean="0"/>
          </a:p>
          <a:p>
            <a:r>
              <a:rPr lang="en-US" sz="2800" dirty="0" smtClean="0"/>
              <a:t>Four muscles in the anterior compartment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pt-BR" sz="2800" dirty="0" smtClean="0"/>
              <a:t>Tibialis anterior</a:t>
            </a:r>
            <a:endParaRPr lang="pt-BR" sz="2800" dirty="0" smtClean="0"/>
          </a:p>
          <a:p>
            <a:pPr marL="514350" indent="-514350">
              <a:buAutoNum type="arabicPeriod"/>
            </a:pPr>
            <a:r>
              <a:rPr lang="pt-BR" sz="2800" dirty="0" smtClean="0"/>
              <a:t>Extensor digitorum longus</a:t>
            </a:r>
            <a:endParaRPr lang="pt-BR" sz="2800" dirty="0" smtClean="0"/>
          </a:p>
          <a:p>
            <a:pPr marL="514350" indent="-514350">
              <a:buAutoNum type="arabicPeriod"/>
            </a:pPr>
            <a:r>
              <a:rPr lang="pt-BR" sz="2800" dirty="0" smtClean="0"/>
              <a:t>Extensor hallucis longus</a:t>
            </a:r>
            <a:endParaRPr lang="pt-BR" sz="2800" dirty="0" smtClean="0"/>
          </a:p>
          <a:p>
            <a:pPr marL="514350" indent="-514350">
              <a:buAutoNum type="arabicPeriod"/>
            </a:pPr>
            <a:r>
              <a:rPr lang="pt-BR" sz="2800" dirty="0" smtClean="0"/>
              <a:t>Fibularis tertius</a:t>
            </a:r>
            <a:endParaRPr lang="pt-BR" sz="28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029200" y="1219200"/>
            <a:ext cx="3886200" cy="516673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8E661-9E0F-464F-A041-6E4C85738F1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838199"/>
          <a:ext cx="8534400" cy="6009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844040"/>
                <a:gridCol w="1569720"/>
                <a:gridCol w="1706880"/>
              </a:tblGrid>
              <a:tr h="1022476">
                <a:tc>
                  <a:txBody>
                    <a:bodyPr/>
                    <a:lstStyle/>
                    <a:p>
                      <a:r>
                        <a:rPr lang="en-US" dirty="0" smtClean="0"/>
                        <a:t>Muscle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Proximal 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Distal attachment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Innervation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</a:tr>
              <a:tr h="1128861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Tibialis anterior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/>
                        <a:t>Lateral surface of </a:t>
                      </a:r>
                      <a:r>
                        <a:rPr lang="en-US" sz="2000" b="0" dirty="0" smtClean="0"/>
                        <a:t>tibia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 smtClean="0"/>
                        <a:t>medial </a:t>
                      </a:r>
                      <a:r>
                        <a:rPr lang="en-US" sz="2000" b="0" dirty="0"/>
                        <a:t>cuneiform and </a:t>
                      </a:r>
                      <a:r>
                        <a:rPr lang="en-US" sz="2000" b="0" dirty="0" smtClean="0"/>
                        <a:t>base </a:t>
                      </a:r>
                      <a:r>
                        <a:rPr lang="en-US" sz="2000" b="0" dirty="0"/>
                        <a:t>of metatarsal I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FF"/>
                          </a:solidFill>
                        </a:rPr>
                        <a:t>Deep fibular nerve 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Dorsiflexion</a:t>
                      </a:r>
                      <a:r>
                        <a:rPr lang="en-US" sz="1600" b="1" dirty="0"/>
                        <a:t> of foot at ankle joint</a:t>
                      </a:r>
                      <a:r>
                        <a:rPr lang="en-US" sz="1600" b="1" dirty="0" smtClean="0"/>
                        <a:t>;</a:t>
                      </a:r>
                      <a:endParaRPr lang="en-US" sz="1600" b="1" dirty="0" smtClean="0"/>
                    </a:p>
                    <a:p>
                      <a:pPr algn="l"/>
                      <a:r>
                        <a:rPr lang="en-US" sz="1600" b="1" dirty="0" smtClean="0"/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inversion</a:t>
                      </a:r>
                      <a:r>
                        <a:rPr lang="en-US" sz="1600" b="1" dirty="0"/>
                        <a:t> of </a:t>
                      </a:r>
                      <a:r>
                        <a:rPr lang="en-US" sz="1600" b="1" dirty="0" smtClean="0"/>
                        <a:t>foot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33612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Extensor hallucis longus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Middle one-half of medial surface of </a:t>
                      </a:r>
                      <a:r>
                        <a:rPr lang="en-US" sz="1800" b="0" dirty="0" smtClean="0"/>
                        <a:t>fibula</a:t>
                      </a:r>
                      <a:endParaRPr lang="en-US" sz="18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 smtClean="0"/>
                        <a:t>base </a:t>
                      </a:r>
                      <a:r>
                        <a:rPr lang="en-US" sz="2000" b="0" dirty="0"/>
                        <a:t>of distal phalanx of great toe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FF"/>
                          </a:solidFill>
                        </a:rPr>
                        <a:t>Deep fibular nerve 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Extension of great toe and </a:t>
                      </a:r>
                      <a:endParaRPr lang="en-US" sz="1600" b="1" dirty="0" smtClean="0"/>
                    </a:p>
                    <a:p>
                      <a:pPr algn="l"/>
                      <a:r>
                        <a:rPr lang="en-US" sz="1600" b="1" dirty="0" smtClean="0">
                          <a:solidFill>
                            <a:srgbClr val="FF0000"/>
                          </a:solidFill>
                        </a:rPr>
                        <a:t>dorsiflexion</a:t>
                      </a:r>
                      <a:r>
                        <a:rPr lang="en-US" sz="1600" b="1" dirty="0" smtClean="0"/>
                        <a:t> </a:t>
                      </a:r>
                      <a:r>
                        <a:rPr lang="en-US" sz="1600" b="1" dirty="0"/>
                        <a:t>of foot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12886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Extensor digitorum longus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Proximal one-half of medial surface of fibula and </a:t>
                      </a:r>
                      <a:r>
                        <a:rPr lang="en-US" sz="1600" b="1" dirty="0" smtClean="0"/>
                        <a:t>lateral </a:t>
                      </a:r>
                      <a:r>
                        <a:rPr lang="en-US" sz="1600" b="1" dirty="0" err="1"/>
                        <a:t>tibial</a:t>
                      </a:r>
                      <a:r>
                        <a:rPr lang="en-US" sz="1600" b="1" dirty="0"/>
                        <a:t> condyle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bases </a:t>
                      </a:r>
                      <a:r>
                        <a:rPr lang="en-US" sz="1800" b="1" dirty="0"/>
                        <a:t>of distal and middle phalanges of lateral four toes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FF"/>
                          </a:solidFill>
                        </a:rPr>
                        <a:t>Deep fibular nerve 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Extension of lateral four toes </a:t>
                      </a:r>
                      <a:r>
                        <a:rPr lang="en-US" sz="1600" b="1" dirty="0" smtClean="0"/>
                        <a:t>and</a:t>
                      </a:r>
                      <a:endParaRPr lang="en-US" sz="1600" b="1" dirty="0" smtClean="0"/>
                    </a:p>
                    <a:p>
                      <a:pPr algn="l"/>
                      <a:r>
                        <a:rPr lang="en-US" sz="1600" b="1" dirty="0" smtClean="0"/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dorsiflexion</a:t>
                      </a:r>
                      <a:r>
                        <a:rPr lang="en-US" sz="1600" b="1" dirty="0"/>
                        <a:t> of foot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022476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Fibularis tertius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Distal part of medial surface of fibula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 </a:t>
                      </a:r>
                      <a:r>
                        <a:rPr lang="en-US" sz="1800" b="1" dirty="0"/>
                        <a:t>of metatarsal V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FF"/>
                          </a:solidFill>
                        </a:rPr>
                        <a:t>Deep fibular nerve 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Dorsiflexion</a:t>
                      </a:r>
                      <a:r>
                        <a:rPr lang="en-US" sz="1600" b="1" dirty="0"/>
                        <a:t> and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eversion</a:t>
                      </a:r>
                      <a:r>
                        <a:rPr lang="en-US" sz="1600" b="1" dirty="0"/>
                        <a:t> of foot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152400"/>
            <a:ext cx="8534400" cy="584775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dirty="0" smtClean="0"/>
              <a:t>                                     </a:t>
            </a:r>
            <a:r>
              <a:rPr lang="en-US" sz="3200" b="1" dirty="0" smtClean="0"/>
              <a:t>Anterior Compartment of Leg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639762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 fontScale="90000"/>
          </a:bodyPr>
          <a:lstStyle/>
          <a:p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b="1" u="sng" dirty="0" smtClean="0"/>
            </a:br>
            <a:br>
              <a:rPr lang="en-US" dirty="0" smtClean="0"/>
            </a:br>
            <a:r>
              <a:rPr lang="en-US" dirty="0" smtClean="0"/>
              <a:t>     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Neurovasculature in the ant. Comp.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D7F7-67F4-4F0A-88A8-448D1115A4E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400"/>
            <a:ext cx="3962400" cy="56388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00FF"/>
                </a:solidFill>
              </a:rPr>
              <a:t>Arteries</a:t>
            </a:r>
            <a:endParaRPr lang="en-US" sz="2800" b="1" dirty="0" smtClean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  The </a:t>
            </a:r>
            <a:r>
              <a:rPr lang="en-US" sz="2800" b="1" dirty="0" smtClean="0">
                <a:solidFill>
                  <a:srgbClr val="FF0000"/>
                </a:solidFill>
              </a:rPr>
              <a:t>anterior tibial artery </a:t>
            </a:r>
            <a:r>
              <a:rPr lang="en-US" sz="2800" dirty="0" smtClean="0"/>
              <a:t>supplies structures in the anterior compartment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It ends at the ankle joint, midway between the malleoli, where it becomes the dorsal artery of the foot</a:t>
            </a:r>
            <a:endParaRPr lang="en-US" sz="2800" dirty="0" smtClean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00FF"/>
                </a:solidFill>
              </a:rPr>
              <a:t>  V</a:t>
            </a:r>
            <a:r>
              <a:rPr lang="en-US" sz="3000" b="1" dirty="0" smtClean="0">
                <a:solidFill>
                  <a:srgbClr val="0000FF"/>
                </a:solidFill>
              </a:rPr>
              <a:t>eins</a:t>
            </a:r>
            <a:endParaRPr lang="en-US" sz="3000" b="1" dirty="0" smtClean="0">
              <a:solidFill>
                <a:srgbClr val="0000FF"/>
              </a:solidFill>
            </a:endParaRPr>
          </a:p>
          <a:p>
            <a:r>
              <a:rPr lang="en-US" sz="3000" dirty="0" smtClean="0"/>
              <a:t>Deep veins follow the arteries and have similar names.</a:t>
            </a:r>
            <a:endParaRPr lang="en-US" sz="30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lvl="0">
              <a:buFont typeface="Wingdings" panose="05000000000000000000" pitchFamily="2" charset="2"/>
              <a:buChar char="ü"/>
            </a:pPr>
            <a:endParaRPr lang="en-US" sz="2800" dirty="0" smtClean="0"/>
          </a:p>
          <a:p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648200" y="1066800"/>
            <a:ext cx="4343400" cy="5181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715962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dirty="0" smtClean="0"/>
              <a:t>       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Neurovasculature in the ant. Comp.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9C778-BD54-4416-8F98-B95724C73C3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38100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b="1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</a:rPr>
              <a:t>Nerves</a:t>
            </a:r>
            <a:endParaRPr lang="en-US" sz="3200" b="1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The </a:t>
            </a:r>
            <a:r>
              <a:rPr lang="en-US" sz="2800" b="1" dirty="0" smtClean="0">
                <a:solidFill>
                  <a:srgbClr val="0000FF"/>
                </a:solidFill>
              </a:rPr>
              <a:t>deep fibular nerve</a:t>
            </a:r>
            <a:r>
              <a:rPr lang="en-US" sz="2800" dirty="0" smtClean="0"/>
              <a:t>, one of the two terminal branches of the common fibular nerve, is the nerve of the anterior compartment.</a:t>
            </a:r>
            <a:endParaRPr lang="en-US" sz="28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191000" y="1295400"/>
            <a:ext cx="4419600" cy="5257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br>
              <a:rPr lang="en-US" dirty="0" smtClean="0"/>
            </a:br>
            <a:r>
              <a:rPr lang="en-US" dirty="0" smtClean="0"/>
              <a:t>           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Lateral compartment of Leg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A3433-F84D-4D72-806C-14CBE7F899F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3962400" cy="5638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The lateral compartment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Is evertor </a:t>
            </a:r>
            <a:r>
              <a:rPr lang="en-US" dirty="0" smtClean="0"/>
              <a:t>compartment,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contains </a:t>
            </a:r>
            <a:r>
              <a:rPr lang="en-US" b="1" dirty="0" smtClean="0">
                <a:solidFill>
                  <a:srgbClr val="FF0000"/>
                </a:solidFill>
              </a:rPr>
              <a:t>two muscles</a:t>
            </a:r>
            <a:r>
              <a:rPr lang="en-US" dirty="0" smtClean="0"/>
              <a:t>: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The fibularis longus and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The fibularis brevis </a:t>
            </a:r>
            <a:endParaRPr lang="en-US" sz="2800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419600" y="1119797"/>
            <a:ext cx="4027799" cy="512860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6397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Lateral compartment of Leg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6A68-79CE-4168-96FA-58484C6DC4E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graphicFrame>
        <p:nvGraphicFramePr>
          <p:cNvPr id="4" name="Content Placeholder 3"/>
          <p:cNvGraphicFramePr/>
          <p:nvPr/>
        </p:nvGraphicFramePr>
        <p:xfrm>
          <a:off x="304800" y="1142999"/>
          <a:ext cx="8534400" cy="4144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67840"/>
                <a:gridCol w="1645920"/>
                <a:gridCol w="1706880"/>
              </a:tblGrid>
              <a:tr h="66174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r>
                        <a:rPr lang="en-US" b="1" baseline="0" dirty="0" smtClean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1273862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Fibularis longus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Upper </a:t>
                      </a:r>
                      <a:r>
                        <a:rPr lang="en-US" sz="2400" b="0" dirty="0" smtClean="0"/>
                        <a:t>2/3 of lateral </a:t>
                      </a:r>
                      <a:r>
                        <a:rPr lang="en-US" sz="2400" b="0" dirty="0"/>
                        <a:t>surface of </a:t>
                      </a:r>
                      <a:r>
                        <a:rPr lang="en-US" sz="2400" b="0" dirty="0" smtClean="0"/>
                        <a:t>fibula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smtClean="0"/>
                        <a:t>medial </a:t>
                      </a:r>
                      <a:r>
                        <a:rPr lang="en-US" sz="2400" b="0" dirty="0"/>
                        <a:t>cuneiform and base of metatarsal I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Superficial fibular nerve 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Eversion and plantarflexion of </a:t>
                      </a:r>
                      <a:r>
                        <a:rPr lang="en-US" sz="2400" b="0" dirty="0" smtClean="0"/>
                        <a:t>foot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</a:tr>
              <a:tr h="1340992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Fibularis brevis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Lower two-thirds of lateral surface of </a:t>
                      </a:r>
                      <a:r>
                        <a:rPr lang="en-US" sz="2400" b="0" dirty="0" smtClean="0"/>
                        <a:t>fibula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Lateral tubercle at base of metatarsal V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Superficial fibular nerve 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Eversion of foot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34400" cy="792162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3200" dirty="0" smtClean="0"/>
              <a:t>       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Neurovasculature in the lat. Comp.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116B-0D67-4C07-A2C1-3142220B133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038600" cy="54864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 The </a:t>
            </a:r>
            <a:r>
              <a:rPr lang="en-US" sz="2800" b="1" dirty="0" smtClean="0">
                <a:solidFill>
                  <a:srgbClr val="0000FF"/>
                </a:solidFill>
              </a:rPr>
              <a:t>superficial fibular </a:t>
            </a:r>
            <a:r>
              <a:rPr lang="en-US" sz="2800" dirty="0" smtClean="0"/>
              <a:t>nerve, the nerve in the lateral compartment, is a terminal branch of the common fibular nerve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The lateral compartment of the leg does not have an artery coursing through it</a:t>
            </a:r>
            <a:endParaRPr lang="en-US" sz="2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648200" y="1219200"/>
            <a:ext cx="3810000" cy="505622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685800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 fontScale="90000"/>
          </a:bodyPr>
          <a:lstStyle/>
          <a:p>
            <a:r>
              <a:rPr lang="en-US" dirty="0" smtClean="0"/>
              <a:t>          </a:t>
            </a:r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Posterior Compartment of Leg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75B3-3290-4DAB-86D3-3E96761D777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90600"/>
            <a:ext cx="8534400" cy="16002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Is </a:t>
            </a:r>
            <a:r>
              <a:rPr lang="en-US" dirty="0" smtClean="0">
                <a:solidFill>
                  <a:srgbClr val="0000FF"/>
                </a:solidFill>
              </a:rPr>
              <a:t>Plantar flexor </a:t>
            </a:r>
            <a:r>
              <a:rPr lang="en-US" dirty="0" smtClean="0"/>
              <a:t>compartment</a:t>
            </a:r>
            <a:endParaRPr lang="en-US" dirty="0" smtClean="0"/>
          </a:p>
          <a:p>
            <a:r>
              <a:rPr lang="en-US" dirty="0" smtClean="0"/>
              <a:t>is the largest of the three leg compartments</a:t>
            </a:r>
            <a:endParaRPr lang="en-US" dirty="0" smtClean="0"/>
          </a:p>
          <a:p>
            <a:r>
              <a:rPr lang="en-US" dirty="0" smtClean="0"/>
              <a:t>divided into </a:t>
            </a:r>
            <a:r>
              <a:rPr lang="en-US" dirty="0" smtClean="0">
                <a:solidFill>
                  <a:srgbClr val="0000FF"/>
                </a:solidFill>
              </a:rPr>
              <a:t>superficial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00FF"/>
                </a:solidFill>
              </a:rPr>
              <a:t>deep</a:t>
            </a:r>
            <a:r>
              <a:rPr lang="en-US" dirty="0" smtClean="0"/>
              <a:t> sub compartments/muscle groups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667000"/>
            <a:ext cx="6400800" cy="39319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       The superficial group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C787-A88F-4C8F-9538-1B9517E905C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435864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err="1" smtClean="0"/>
              <a:t>Includs</a:t>
            </a:r>
            <a:r>
              <a:rPr lang="en-US" sz="2800" dirty="0" smtClean="0"/>
              <a:t> the </a:t>
            </a:r>
            <a:r>
              <a:rPr lang="en-US" sz="2800" b="1" dirty="0" smtClean="0">
                <a:solidFill>
                  <a:srgbClr val="990000"/>
                </a:solidFill>
              </a:rPr>
              <a:t>gastrocnemius</a:t>
            </a:r>
            <a:r>
              <a:rPr lang="en-US" sz="2800" dirty="0" smtClean="0">
                <a:solidFill>
                  <a:srgbClr val="990000"/>
                </a:solidFill>
              </a:rPr>
              <a:t>, </a:t>
            </a:r>
            <a:r>
              <a:rPr lang="en-US" sz="2800" b="1" dirty="0" smtClean="0">
                <a:solidFill>
                  <a:srgbClr val="990000"/>
                </a:solidFill>
              </a:rPr>
              <a:t>Soleus</a:t>
            </a:r>
            <a:r>
              <a:rPr lang="en-US" sz="2800" dirty="0" smtClean="0">
                <a:solidFill>
                  <a:srgbClr val="990000"/>
                </a:solidFill>
              </a:rPr>
              <a:t>, 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en-US" sz="2800" dirty="0" smtClean="0">
                <a:solidFill>
                  <a:srgbClr val="990000"/>
                </a:solidFill>
              </a:rPr>
              <a:t> </a:t>
            </a:r>
            <a:r>
              <a:rPr lang="en-US" sz="2800" b="1" dirty="0" smtClean="0">
                <a:solidFill>
                  <a:srgbClr val="990000"/>
                </a:solidFill>
              </a:rPr>
              <a:t>plantaris</a:t>
            </a:r>
            <a:r>
              <a:rPr lang="en-US" sz="2800" dirty="0" smtClean="0"/>
              <a:t>,  and forms a </a:t>
            </a:r>
            <a:r>
              <a:rPr lang="en-US" sz="2800" dirty="0" smtClean="0">
                <a:solidFill>
                  <a:srgbClr val="0000FF"/>
                </a:solidFill>
              </a:rPr>
              <a:t>powerful muscular mass in the calf.</a:t>
            </a:r>
            <a:endParaRPr lang="en-US" sz="2800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The two-headed of gastrocnemius and the Soleus share a common tendon</a:t>
            </a:r>
            <a:r>
              <a:rPr lang="en-US" sz="2800" b="1" dirty="0" smtClean="0">
                <a:solidFill>
                  <a:srgbClr val="FF0000"/>
                </a:solidFill>
              </a:rPr>
              <a:t>, </a:t>
            </a:r>
            <a:r>
              <a:rPr lang="en-US" sz="2800" b="1" dirty="0" smtClean="0">
                <a:solidFill>
                  <a:srgbClr val="0000FF"/>
                </a:solidFill>
              </a:rPr>
              <a:t>the </a:t>
            </a:r>
            <a:r>
              <a:rPr lang="en-US" sz="2800" b="1" dirty="0" err="1" smtClean="0">
                <a:solidFill>
                  <a:srgbClr val="0000FF"/>
                </a:solidFill>
              </a:rPr>
              <a:t>calcaneal</a:t>
            </a:r>
            <a:r>
              <a:rPr lang="en-US" sz="2800" b="1" dirty="0" smtClean="0">
                <a:solidFill>
                  <a:srgbClr val="0000FF"/>
                </a:solidFill>
              </a:rPr>
              <a:t> tendon</a:t>
            </a:r>
            <a:endParaRPr lang="en-US" sz="2800" b="1" dirty="0" smtClean="0">
              <a:solidFill>
                <a:srgbClr val="0000FF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876800" y="1371600"/>
            <a:ext cx="3657599" cy="489910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9097-0A24-4A3C-BC29-D4458B18F68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D97F-5BFB-43DB-BC2E-90637A66DB11}" type="slidenum">
              <a:rPr lang="en-US"/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304800"/>
            <a:ext cx="8610600" cy="62484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      Gastrocnemius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 smtClean="0"/>
              <a:t>Origin</a:t>
            </a:r>
            <a:r>
              <a:rPr lang="en-US" sz="2400" dirty="0"/>
              <a:t>: has 2 attachments just superior to the lateral and medial </a:t>
            </a:r>
            <a:r>
              <a:rPr lang="en-US" sz="2400" dirty="0">
                <a:solidFill>
                  <a:srgbClr val="0000FF"/>
                </a:solidFill>
              </a:rPr>
              <a:t>epicondyles of the femur  </a:t>
            </a:r>
            <a:endParaRPr lang="en-US" sz="24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Insertion 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Ends </a:t>
            </a:r>
            <a:r>
              <a:rPr lang="en-US" dirty="0"/>
              <a:t>in the </a:t>
            </a:r>
            <a:r>
              <a:rPr lang="en-US" dirty="0" err="1"/>
              <a:t>tendo</a:t>
            </a:r>
            <a:r>
              <a:rPr lang="en-US" dirty="0"/>
              <a:t> </a:t>
            </a:r>
            <a:r>
              <a:rPr lang="en-US" dirty="0" err="1"/>
              <a:t>calcaneus</a:t>
            </a:r>
            <a:r>
              <a:rPr lang="en-US" b="1" dirty="0"/>
              <a:t> </a:t>
            </a:r>
            <a:r>
              <a:rPr lang="en-US" dirty="0"/>
              <a:t>(Achilles' tendon) which it shares with the </a:t>
            </a:r>
            <a:r>
              <a:rPr lang="en-US" dirty="0" err="1"/>
              <a:t>soleus</a:t>
            </a:r>
            <a:r>
              <a:rPr lang="en-US" dirty="0"/>
              <a:t> and </a:t>
            </a:r>
            <a:r>
              <a:rPr lang="en-US" dirty="0" err="1"/>
              <a:t>plantaris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These 3 muscles form triceps </a:t>
            </a:r>
            <a:r>
              <a:rPr lang="en-US" dirty="0" err="1"/>
              <a:t>surae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 smtClean="0"/>
              <a:t>Tendo</a:t>
            </a:r>
            <a:r>
              <a:rPr lang="en-US" dirty="0" smtClean="0"/>
              <a:t> </a:t>
            </a:r>
            <a:r>
              <a:rPr lang="en-US" dirty="0" err="1"/>
              <a:t>calcaneus</a:t>
            </a:r>
            <a:r>
              <a:rPr lang="en-US" dirty="0"/>
              <a:t> inserts into the middle of the posterior surface of the </a:t>
            </a:r>
            <a:r>
              <a:rPr lang="en-US" dirty="0" err="1"/>
              <a:t>calcaneus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dirty="0"/>
              <a:t> - </a:t>
            </a:r>
            <a:r>
              <a:rPr lang="en-US" b="1" dirty="0">
                <a:solidFill>
                  <a:srgbClr val="0000FF"/>
                </a:solidFill>
              </a:rPr>
              <a:t>plantar flexes foot, flexes knee</a:t>
            </a:r>
            <a:endParaRPr 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Nerve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supply</a:t>
            </a:r>
            <a:r>
              <a:rPr lang="en-US" dirty="0"/>
              <a:t>: </a:t>
            </a:r>
            <a:r>
              <a:rPr lang="en-US" dirty="0" err="1"/>
              <a:t>tibial</a:t>
            </a:r>
            <a:r>
              <a:rPr lang="en-US" dirty="0"/>
              <a:t> nerve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5ACCC-F501-4E85-859A-EFE44061AF7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8382000" cy="5715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         </a:t>
            </a:r>
            <a:r>
              <a:rPr lang="en-US" sz="2800" b="1" dirty="0" smtClean="0">
                <a:solidFill>
                  <a:srgbClr val="FF0000"/>
                </a:solidFill>
              </a:rPr>
              <a:t>Soleus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Origin - proximal part of the posterior surface of the fibula and the </a:t>
            </a:r>
            <a:r>
              <a:rPr lang="en-US" sz="2400" dirty="0" err="1" smtClean="0"/>
              <a:t>soleal</a:t>
            </a:r>
            <a:r>
              <a:rPr lang="en-US" sz="2400" dirty="0" smtClean="0"/>
              <a:t> line of the tibia and </a:t>
            </a:r>
            <a:r>
              <a:rPr lang="en-US" sz="2400" dirty="0" err="1" smtClean="0"/>
              <a:t>interosseus</a:t>
            </a:r>
            <a:r>
              <a:rPr lang="en-US" sz="2400" dirty="0" smtClean="0"/>
              <a:t> membrane </a:t>
            </a:r>
            <a:endParaRPr lang="en-US" sz="2400" dirty="0" smtClean="0"/>
          </a:p>
          <a:p>
            <a:r>
              <a:rPr lang="en-US" sz="2400" dirty="0" smtClean="0"/>
              <a:t>Insertion - </a:t>
            </a:r>
            <a:r>
              <a:rPr lang="en-US" sz="2400" dirty="0" err="1" smtClean="0"/>
              <a:t>calcaneus</a:t>
            </a:r>
            <a:r>
              <a:rPr lang="en-US" sz="2400" dirty="0" smtClean="0"/>
              <a:t> via </a:t>
            </a:r>
            <a:r>
              <a:rPr lang="en-US" sz="2400" dirty="0" err="1" smtClean="0"/>
              <a:t>calcaneal</a:t>
            </a:r>
            <a:r>
              <a:rPr lang="en-US" sz="2400" dirty="0" smtClean="0"/>
              <a:t> tendon</a:t>
            </a:r>
            <a:endParaRPr lang="en-US" sz="2400" dirty="0" smtClean="0"/>
          </a:p>
          <a:p>
            <a:r>
              <a:rPr lang="en-US" sz="2400" dirty="0" smtClean="0"/>
              <a:t>Action - </a:t>
            </a:r>
            <a:r>
              <a:rPr lang="en-US" sz="2400" b="1" dirty="0" smtClean="0">
                <a:solidFill>
                  <a:srgbClr val="0000FF"/>
                </a:solidFill>
              </a:rPr>
              <a:t>plantar flexes ankle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r>
              <a:rPr lang="en-US" sz="2400" dirty="0" smtClean="0"/>
              <a:t>Nerve supply: </a:t>
            </a:r>
            <a:r>
              <a:rPr lang="en-US" sz="2400" dirty="0" err="1" smtClean="0">
                <a:solidFill>
                  <a:srgbClr val="0000FF"/>
                </a:solidFill>
              </a:rPr>
              <a:t>tibial</a:t>
            </a:r>
            <a:r>
              <a:rPr lang="en-US" sz="2400" dirty="0" smtClean="0">
                <a:solidFill>
                  <a:srgbClr val="0000FF"/>
                </a:solidFill>
              </a:rPr>
              <a:t> nerve</a:t>
            </a:r>
            <a:endParaRPr lang="en-US" sz="2400" dirty="0" smtClean="0">
              <a:solidFill>
                <a:srgbClr val="0000FF"/>
              </a:solidFill>
            </a:endParaRPr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err="1" smtClean="0">
                <a:solidFill>
                  <a:srgbClr val="FF0000"/>
                </a:solidFill>
              </a:rPr>
              <a:t>Plantaris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lies between the </a:t>
            </a:r>
            <a:r>
              <a:rPr lang="en-US" sz="2400" dirty="0" err="1" smtClean="0"/>
              <a:t>gastrocnemius</a:t>
            </a:r>
            <a:r>
              <a:rPr lang="en-US" sz="2400" dirty="0" smtClean="0"/>
              <a:t> and the </a:t>
            </a:r>
            <a:r>
              <a:rPr lang="en-US" sz="2400" dirty="0" err="1" smtClean="0"/>
              <a:t>soleus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r>
              <a:rPr lang="en-US" sz="2400" dirty="0" smtClean="0"/>
              <a:t>Origin - posterior femur above lateral condyle; near the lateral head of the </a:t>
            </a:r>
            <a:r>
              <a:rPr lang="en-US" sz="2400" dirty="0" err="1" smtClean="0"/>
              <a:t>gastrocnemius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r>
              <a:rPr lang="en-US" sz="2400" dirty="0" smtClean="0"/>
              <a:t>Insertion - </a:t>
            </a:r>
            <a:r>
              <a:rPr lang="en-US" sz="2400" dirty="0" err="1" smtClean="0"/>
              <a:t>calcaneus</a:t>
            </a:r>
            <a:r>
              <a:rPr lang="en-US" sz="2400" dirty="0" smtClean="0"/>
              <a:t> via </a:t>
            </a:r>
            <a:r>
              <a:rPr lang="en-US" sz="2400" dirty="0" err="1" smtClean="0"/>
              <a:t>tendo</a:t>
            </a:r>
            <a:r>
              <a:rPr lang="en-US" sz="2400" dirty="0" smtClean="0"/>
              <a:t> </a:t>
            </a:r>
            <a:r>
              <a:rPr lang="en-US" sz="2400" dirty="0" err="1" smtClean="0"/>
              <a:t>calcaneus</a:t>
            </a:r>
            <a:endParaRPr lang="en-US" sz="2400" dirty="0" smtClean="0"/>
          </a:p>
          <a:p>
            <a:r>
              <a:rPr lang="en-US" sz="2400" dirty="0" smtClean="0"/>
              <a:t>Action - </a:t>
            </a:r>
            <a:r>
              <a:rPr lang="en-US" sz="2400" b="1" dirty="0" smtClean="0">
                <a:solidFill>
                  <a:srgbClr val="0000FF"/>
                </a:solidFill>
              </a:rPr>
              <a:t>plantar flexion, knee flexion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r>
              <a:rPr lang="en-US" sz="2400" dirty="0" smtClean="0"/>
              <a:t>Nerve supply: </a:t>
            </a:r>
            <a:r>
              <a:rPr lang="en-US" sz="2400" b="1" dirty="0" err="1" smtClean="0">
                <a:solidFill>
                  <a:srgbClr val="0000FF"/>
                </a:solidFill>
              </a:rPr>
              <a:t>tibial</a:t>
            </a:r>
            <a:r>
              <a:rPr lang="en-US" sz="2400" b="1" dirty="0" smtClean="0">
                <a:solidFill>
                  <a:srgbClr val="0000FF"/>
                </a:solidFill>
              </a:rPr>
              <a:t> nerve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  <a:blipFill>
            <a:blip r:embed="rId1" cstate="print"/>
            <a:tile tx="0" ty="0" sx="100000" sy="100000" flip="none" algn="tl"/>
          </a:blip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              </a:t>
            </a:r>
            <a:r>
              <a:rPr lang="en-US" sz="3600" dirty="0" smtClean="0">
                <a:solidFill>
                  <a:srgbClr val="FF0000"/>
                </a:solidFill>
              </a:rPr>
              <a:t>THE DEEP GROUP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412A-AD95-4DAE-A68B-65373BCE51A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5105400" cy="5486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sz="2800" dirty="0" smtClean="0"/>
              <a:t>Four muscles make up the deep group in the posterior compartment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Popliteus.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Flexor digitorum longus.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Flexor hallucis longus.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Tibialis posterior.</a:t>
            </a:r>
            <a:endParaRPr lang="en-US" sz="28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834062" y="1755775"/>
            <a:ext cx="1949450" cy="39560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3"/>
          <p:cNvGraphicFramePr/>
          <p:nvPr/>
        </p:nvGraphicFramePr>
        <p:xfrm>
          <a:off x="152400" y="838200"/>
          <a:ext cx="8763000" cy="5469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Muscle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Proximal attachment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Distal attachment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Innervation</a:t>
                      </a:r>
                      <a:r>
                        <a:rPr lang="en-US" sz="1600" b="1" baseline="0" dirty="0" smtClean="0"/>
                        <a:t> 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action</a:t>
                      </a:r>
                      <a:endParaRPr lang="en-US" sz="1600" b="1" dirty="0"/>
                    </a:p>
                  </a:txBody>
                  <a:tcPr/>
                </a:tc>
              </a:tr>
              <a:tr h="1156379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Popliteus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/>
                        <a:t>Lateral femoral condyle</a:t>
                      </a:r>
                      <a:endParaRPr lang="en-US" sz="1800" b="1" dirty="0" smtClean="0"/>
                    </a:p>
                    <a:p>
                      <a:pPr algn="l"/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Posterior surface of proximal tibia 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Tibial nerve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Unlocks knee joint (laterally rotates femur on fixed tibia)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156379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Flexor hallucis longus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Posterior surface of </a:t>
                      </a:r>
                      <a:r>
                        <a:rPr lang="en-US" sz="1800" b="1" dirty="0" smtClean="0"/>
                        <a:t>fibula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</a:t>
                      </a:r>
                      <a:r>
                        <a:rPr lang="en-US" sz="1800" b="1" baseline="0" dirty="0" smtClean="0"/>
                        <a:t> </a:t>
                      </a:r>
                      <a:r>
                        <a:rPr lang="en-US" sz="1800" b="1" dirty="0" smtClean="0"/>
                        <a:t>of </a:t>
                      </a:r>
                      <a:r>
                        <a:rPr lang="en-US" sz="1800" b="1" dirty="0"/>
                        <a:t>distal phalanx of great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Tibial nerve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smtClean="0"/>
                        <a:t>Flexes </a:t>
                      </a:r>
                      <a:r>
                        <a:rPr lang="en-US" sz="1600" b="1" dirty="0"/>
                        <a:t>great </a:t>
                      </a:r>
                      <a:r>
                        <a:rPr lang="en-US" sz="1600" b="1" dirty="0" smtClean="0"/>
                        <a:t>toe, plantar flex ankle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156379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Flexor digitorum longus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Medial side of posterior surface of the tibia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smtClean="0"/>
                        <a:t> </a:t>
                      </a:r>
                      <a:r>
                        <a:rPr lang="en-US" sz="1600" b="1" dirty="0"/>
                        <a:t>bases of distal phalanges of the lateral four toes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Tibial nerve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Flexes lateral four </a:t>
                      </a:r>
                      <a:r>
                        <a:rPr lang="en-US" sz="1600" b="1" dirty="0" smtClean="0"/>
                        <a:t>toes, plantar flex ankle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  <a:tr h="1241885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Tibialis posterior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Posterior surfaces of interosseous membrane and adjacent regions of tibia and fibula</a:t>
                      </a:r>
                      <a:endParaRPr lang="en-US" sz="1600" b="1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smtClean="0"/>
                        <a:t>Primarily</a:t>
                      </a:r>
                      <a:r>
                        <a:rPr lang="en-US" sz="1600" b="1" baseline="0" dirty="0" smtClean="0"/>
                        <a:t> </a:t>
                      </a:r>
                      <a:r>
                        <a:rPr lang="en-US" sz="1600" b="1" dirty="0" smtClean="0"/>
                        <a:t>Navicular </a:t>
                      </a:r>
                      <a:r>
                        <a:rPr lang="en-US" sz="1600" b="1" dirty="0"/>
                        <a:t>and </a:t>
                      </a:r>
                      <a:r>
                        <a:rPr lang="en-US" sz="1600" b="1" dirty="0" smtClean="0"/>
                        <a:t> also on cuneiform, Cuboid,  base of 2-4 metatarsal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Tibial nerve 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Inversion and plantarflexion of </a:t>
                      </a:r>
                      <a:r>
                        <a:rPr lang="en-US" sz="1600" b="1" dirty="0" smtClean="0"/>
                        <a:t>foot</a:t>
                      </a:r>
                      <a:endParaRPr lang="en-US" sz="16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152400"/>
            <a:ext cx="8686800" cy="584775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                                                     </a:t>
            </a:r>
            <a:r>
              <a:rPr lang="en-US" sz="3200" b="1" dirty="0" smtClean="0">
                <a:solidFill>
                  <a:srgbClr val="0000FF"/>
                </a:solidFill>
              </a:rPr>
              <a:t>THE DEEP GROUP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A603-F64A-4170-BBAD-7820BCF61EC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Blood vessel and nerves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86315-43A4-4B51-9A85-9CC17B37AB0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4419600" cy="54102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sz="2800" dirty="0" smtClean="0"/>
              <a:t>  </a:t>
            </a:r>
            <a:r>
              <a:rPr lang="en-US" sz="2800" b="1" dirty="0" smtClean="0"/>
              <a:t>Posterior tibial artery</a:t>
            </a:r>
            <a:endParaRPr lang="en-US" sz="2800" b="1" dirty="0" smtClean="0"/>
          </a:p>
          <a:p>
            <a:r>
              <a:rPr lang="en-US" sz="2800" dirty="0" smtClean="0"/>
              <a:t>It supplies the posterior and lateral compartments of the leg</a:t>
            </a:r>
            <a:endParaRPr lang="en-US" sz="2800" dirty="0" smtClean="0"/>
          </a:p>
          <a:p>
            <a:r>
              <a:rPr lang="en-US" sz="2800" dirty="0" smtClean="0"/>
              <a:t>Ends by dividing into medial and lateral plantar arteries </a:t>
            </a:r>
            <a:endParaRPr lang="en-US" sz="2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 smtClean="0"/>
              <a:t>Veins </a:t>
            </a:r>
            <a:endParaRPr lang="en-US" sz="3200" b="1" dirty="0" smtClean="0"/>
          </a:p>
          <a:p>
            <a:r>
              <a:rPr lang="en-US" sz="2800" dirty="0" smtClean="0"/>
              <a:t>Deep veins in the posterior compartment generally follow the arteries.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800600" y="1143000"/>
            <a:ext cx="3505200" cy="533635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200" dirty="0" smtClean="0"/>
              <a:t>        </a:t>
            </a: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Neurovasculature in the pot. Comp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01F7-29A8-49CB-8F75-323B7AA28F9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9530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 lvl="2">
              <a:buFont typeface="Wingdings" panose="05000000000000000000" pitchFamily="2" charset="2"/>
              <a:buChar char="ü"/>
            </a:pPr>
            <a:r>
              <a:rPr lang="en-US" sz="3200" b="1" dirty="0" smtClean="0"/>
              <a:t> Tibial nerve</a:t>
            </a:r>
            <a:endParaRPr lang="en-US" sz="3200" b="1" dirty="0" smtClean="0"/>
          </a:p>
          <a:p>
            <a:r>
              <a:rPr lang="en-US" sz="2800" dirty="0" smtClean="0"/>
              <a:t>The nerve associated with the posterior compartment of leg is the </a:t>
            </a:r>
            <a:r>
              <a:rPr lang="en-US" sz="2800" b="1" i="1" dirty="0" smtClean="0"/>
              <a:t>tibial nerve</a:t>
            </a:r>
            <a:r>
              <a:rPr lang="en-US" sz="2800" i="1" dirty="0" smtClean="0"/>
              <a:t>.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334000" y="1295400"/>
            <a:ext cx="3484282" cy="494161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743E-8FB4-4171-B603-64794BBF947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F711A-B426-47C7-A0DB-BB08981AC9C4}" type="slidenum">
              <a:rPr lang="en-US"/>
            </a:fld>
            <a:endParaRPr lang="en-US"/>
          </a:p>
        </p:txBody>
      </p:sp>
      <p:sp>
        <p:nvSpPr>
          <p:cNvPr id="227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10600" cy="601980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   Arteries of the leg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en-US" sz="2400" dirty="0" smtClean="0"/>
              <a:t>Popliteal</a:t>
            </a:r>
            <a:endParaRPr lang="en-US" sz="2400" dirty="0"/>
          </a:p>
          <a:p>
            <a:pPr lvl="2"/>
            <a:r>
              <a:rPr lang="en-US" sz="2400" dirty="0" smtClean="0"/>
              <a:t>Anterior </a:t>
            </a:r>
            <a:r>
              <a:rPr lang="en-US" sz="2400" dirty="0" err="1" smtClean="0"/>
              <a:t>tibial</a:t>
            </a:r>
            <a:endParaRPr lang="en-US" sz="2400" dirty="0"/>
          </a:p>
          <a:p>
            <a:pPr lvl="2"/>
            <a:r>
              <a:rPr lang="en-US" sz="2400" dirty="0" smtClean="0"/>
              <a:t>Posterior </a:t>
            </a:r>
            <a:r>
              <a:rPr lang="en-US" sz="2400" dirty="0" err="1" smtClean="0"/>
              <a:t>tibial</a:t>
            </a:r>
            <a:endParaRPr lang="en-US" sz="2400" dirty="0"/>
          </a:p>
          <a:p>
            <a:pPr lvl="2"/>
            <a:r>
              <a:rPr lang="en-US" sz="2400" dirty="0" err="1" smtClean="0"/>
              <a:t>Peroneal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352800" y="0"/>
            <a:ext cx="5592763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FF72-32A1-4AC9-A8F9-AC9376212E4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5CC86-6572-49EC-BC8B-A0BA55CD6F0E}" type="slidenum">
              <a:rPr lang="en-US"/>
            </a:fld>
            <a:endParaRPr lang="en-US"/>
          </a:p>
        </p:txBody>
      </p:sp>
      <p:sp>
        <p:nvSpPr>
          <p:cNvPr id="2263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8610600" cy="59436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Nerves of the leg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Saphenous</a:t>
            </a:r>
            <a:r>
              <a:rPr lang="en-US" dirty="0" smtClean="0"/>
              <a:t>:- skin on medial leg and foot</a:t>
            </a:r>
            <a:endParaRPr lang="en-US" dirty="0"/>
          </a:p>
          <a:p>
            <a:pPr lvl="1"/>
            <a:r>
              <a:rPr lang="en-US" b="1" dirty="0" err="1" smtClean="0">
                <a:solidFill>
                  <a:srgbClr val="FF0000"/>
                </a:solidFill>
              </a:rPr>
              <a:t>Sural</a:t>
            </a:r>
            <a:r>
              <a:rPr lang="en-US" dirty="0" smtClean="0"/>
              <a:t>:-from  </a:t>
            </a:r>
            <a:r>
              <a:rPr lang="en-US" dirty="0" err="1" smtClean="0"/>
              <a:t>tibial</a:t>
            </a:r>
            <a:r>
              <a:rPr lang="en-US" dirty="0" smtClean="0"/>
              <a:t> and common fibular nerve; skin on posterior and lateral leg and lateral foot 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Tibial</a:t>
            </a:r>
            <a:r>
              <a:rPr lang="en-US" dirty="0" smtClean="0"/>
              <a:t>:- arise from sciatic nerve; Posterior compartment muscles of the leg and knee joint; 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Common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fibular</a:t>
            </a:r>
            <a:r>
              <a:rPr lang="en-US" dirty="0" smtClean="0"/>
              <a:t>:- from sciatic nerve; skin on lateral leg and knee joint 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Superficial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fibular</a:t>
            </a:r>
            <a:r>
              <a:rPr lang="en-US" dirty="0" smtClean="0"/>
              <a:t>:- </a:t>
            </a:r>
            <a:r>
              <a:rPr lang="en-US" dirty="0" err="1" smtClean="0"/>
              <a:t>fibularis</a:t>
            </a:r>
            <a:r>
              <a:rPr lang="en-US" dirty="0" smtClean="0"/>
              <a:t> longus, brevis and skin on distal lateral leg and dorsum of foot 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Deep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fibular</a:t>
            </a:r>
            <a:r>
              <a:rPr lang="en-US" dirty="0" smtClean="0"/>
              <a:t>:- anterior muscles of leg, dorsum of foot and skin of first </a:t>
            </a:r>
            <a:r>
              <a:rPr lang="en-US" dirty="0" err="1" smtClean="0"/>
              <a:t>interdigital</a:t>
            </a:r>
            <a:r>
              <a:rPr lang="en-US" dirty="0" smtClean="0"/>
              <a:t> cleft and joints 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AB481-8E94-4171-A344-773F72B6A7B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3120191" y="1447800"/>
            <a:ext cx="3360818" cy="457200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39" y="914400"/>
            <a:ext cx="4531361" cy="55111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rgbClr val="FF0000"/>
                </a:solidFill>
                <a:latin typeface="+mn-lt"/>
              </a:rPr>
              <a:t>Injury to common fibular nerve</a:t>
            </a:r>
            <a:endParaRPr lang="en-US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1C94-F957-47B8-A984-FA8D8CEA915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3B4FB-E120-48E0-97F8-176C29E1FF80}" type="slidenum">
              <a:rPr lang="en-US"/>
            </a:fld>
            <a:endParaRPr lang="en-US"/>
          </a:p>
        </p:txBody>
      </p:sp>
      <p:sp>
        <p:nvSpPr>
          <p:cNvPr id="66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The common fibular nerve is the most commonly injured nerve in the lower limb, mainly because it winds superficially around the neck of the fibula, leaving it vulnerable to </a:t>
            </a:r>
            <a:r>
              <a:rPr lang="en-US" sz="2800" dirty="0">
                <a:solidFill>
                  <a:srgbClr val="0000FF"/>
                </a:solidFill>
              </a:rPr>
              <a:t>direct trauma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800" dirty="0"/>
              <a:t>This nerve may also be severed during </a:t>
            </a:r>
            <a:r>
              <a:rPr lang="en-US" sz="2800" dirty="0">
                <a:solidFill>
                  <a:srgbClr val="0000FF"/>
                </a:solidFill>
              </a:rPr>
              <a:t>fracture of the fibular neck</a:t>
            </a:r>
            <a:r>
              <a:rPr lang="en-US" sz="2800" dirty="0"/>
              <a:t> or severely stretched when the </a:t>
            </a:r>
            <a:r>
              <a:rPr lang="en-US" sz="2800" dirty="0">
                <a:solidFill>
                  <a:srgbClr val="FF0000"/>
                </a:solidFill>
              </a:rPr>
              <a:t>knee joint is injured </a:t>
            </a:r>
            <a:r>
              <a:rPr lang="en-US" sz="2800" dirty="0"/>
              <a:t>or dislocated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Severance of the common fibular nerve results in paralysis of all </a:t>
            </a:r>
            <a:r>
              <a:rPr lang="en-US" sz="2800" dirty="0">
                <a:solidFill>
                  <a:srgbClr val="FF0000"/>
                </a:solidFill>
              </a:rPr>
              <a:t>muscles in the anterior and lateral compartments of the leg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800" dirty="0"/>
              <a:t>The loss of dorsiflexion of the ankle causes </a:t>
            </a:r>
            <a:r>
              <a:rPr lang="en-US" sz="2800" dirty="0">
                <a:solidFill>
                  <a:srgbClr val="0000FF"/>
                </a:solidFill>
              </a:rPr>
              <a:t>foot drop</a:t>
            </a:r>
            <a:r>
              <a:rPr lang="en-US" sz="2800" dirty="0"/>
              <a:t>, which is further exacerbated by unopposed inversion of the foot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The toes do not clear the ground during the swing phase of walking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5D6-729D-4D85-B408-A97C9317F0F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693F-4320-4543-B5CE-60FF07A8EE35}" type="slidenum">
              <a:rPr lang="en-US"/>
            </a:fld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304800"/>
            <a:ext cx="3962400" cy="628332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Flexor retinaculum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From Medial </a:t>
            </a:r>
            <a:r>
              <a:rPr lang="en-US" dirty="0" err="1"/>
              <a:t>malleolus</a:t>
            </a:r>
            <a:r>
              <a:rPr lang="en-US" dirty="0"/>
              <a:t> to </a:t>
            </a:r>
            <a:r>
              <a:rPr lang="en-US" dirty="0" err="1"/>
              <a:t>calcaneus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Content – from medial to lateral</a:t>
            </a:r>
            <a:endParaRPr lang="en-US" dirty="0"/>
          </a:p>
          <a:p>
            <a:pPr lvl="1"/>
            <a:r>
              <a:rPr lang="en-US" dirty="0"/>
              <a:t>Tendon of  </a:t>
            </a:r>
            <a:r>
              <a:rPr lang="en-US" dirty="0" err="1"/>
              <a:t>tibialis</a:t>
            </a:r>
            <a:r>
              <a:rPr lang="en-US" dirty="0"/>
              <a:t> posterior</a:t>
            </a:r>
            <a:endParaRPr lang="en-US" dirty="0"/>
          </a:p>
          <a:p>
            <a:pPr lvl="1"/>
            <a:r>
              <a:rPr lang="en-US" dirty="0"/>
              <a:t>Tendons of flexor digitorum longus</a:t>
            </a:r>
            <a:endParaRPr lang="en-US" dirty="0"/>
          </a:p>
          <a:p>
            <a:pPr lvl="1"/>
            <a:r>
              <a:rPr lang="en-US" dirty="0"/>
              <a:t>Termination of posterior </a:t>
            </a:r>
            <a:r>
              <a:rPr lang="en-US" dirty="0" err="1"/>
              <a:t>tibial</a:t>
            </a:r>
            <a:r>
              <a:rPr lang="en-US" dirty="0"/>
              <a:t> artery and beginning of lateral and medial plantar arteries</a:t>
            </a:r>
            <a:endParaRPr lang="en-US" dirty="0"/>
          </a:p>
          <a:p>
            <a:pPr lvl="1"/>
            <a:r>
              <a:rPr lang="en-US" dirty="0"/>
              <a:t>Termination of posterior </a:t>
            </a:r>
            <a:r>
              <a:rPr lang="en-US" dirty="0" err="1"/>
              <a:t>tibial</a:t>
            </a:r>
            <a:r>
              <a:rPr lang="en-US" dirty="0"/>
              <a:t> nerve and beginning of medial and lateral plantar nerves</a:t>
            </a:r>
            <a:endParaRPr lang="en-US" dirty="0"/>
          </a:p>
          <a:p>
            <a:pPr lvl="1"/>
            <a:r>
              <a:rPr lang="en-US" dirty="0"/>
              <a:t>Tendon of flexor hallucis longus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2875" y="609600"/>
            <a:ext cx="5191125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1A4F-2C07-42A4-B6B6-C601160D1EB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DC793-BA2F-4093-A722-7A8502095B68}" type="slidenum">
              <a:rPr lang="en-US"/>
            </a:fld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3581400" cy="6324600"/>
          </a:xfrm>
        </p:spPr>
        <p:txBody>
          <a:bodyPr/>
          <a:lstStyle/>
          <a:p>
            <a:pPr marL="609600" indent="-609600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Extensor retinaculum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609600" indent="-609600"/>
            <a:r>
              <a:rPr lang="en-US" dirty="0" smtClean="0"/>
              <a:t>Has </a:t>
            </a:r>
            <a:r>
              <a:rPr lang="en-US" dirty="0"/>
              <a:t>superior and inferior portions</a:t>
            </a:r>
            <a:endParaRPr lang="en-US" dirty="0"/>
          </a:p>
          <a:p>
            <a:pPr marL="609600" indent="-609600"/>
            <a:r>
              <a:rPr lang="en-US" dirty="0"/>
              <a:t>Prevents the tendons of </a:t>
            </a:r>
            <a:r>
              <a:rPr lang="en-US" dirty="0" err="1"/>
              <a:t>peroneus</a:t>
            </a:r>
            <a:r>
              <a:rPr lang="en-US" dirty="0"/>
              <a:t> </a:t>
            </a:r>
            <a:r>
              <a:rPr lang="en-US" dirty="0" err="1"/>
              <a:t>tertius</a:t>
            </a:r>
            <a:r>
              <a:rPr lang="en-US" dirty="0"/>
              <a:t>, extensor hallucis longus and extensor digitorum longus from bowstringing during contraction</a:t>
            </a:r>
            <a:endParaRPr lang="en-US" dirty="0"/>
          </a:p>
          <a:p>
            <a:pPr marL="609600" indent="-609600"/>
            <a:endParaRPr lang="en-US" dirty="0"/>
          </a:p>
          <a:p>
            <a:pPr marL="609600" indent="-609600">
              <a:buFont typeface="Wingdings" panose="05000000000000000000" pitchFamily="2" charset="2"/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62400" y="364956"/>
            <a:ext cx="5181600" cy="63406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9144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                </a:t>
            </a:r>
            <a:r>
              <a:rPr lang="en-US" sz="4400" b="1" dirty="0" smtClean="0">
                <a:solidFill>
                  <a:srgbClr val="002060"/>
                </a:solidFill>
                <a:latin typeface="BankGothic Lt BT" pitchFamily="34" charset="0"/>
              </a:rPr>
              <a:t>THE FOOT</a:t>
            </a:r>
            <a:endParaRPr lang="en-US" sz="4400" b="1" dirty="0">
              <a:solidFill>
                <a:srgbClr val="002060"/>
              </a:solidFill>
              <a:latin typeface="BankGothic Lt BT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E62A-9C05-4149-A389-EFB35E81408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4358640" cy="54102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The foot is the region of the lower limb distal to the ankle joint</a:t>
            </a:r>
            <a:endParaRPr lang="en-US" sz="2800" dirty="0" smtClean="0"/>
          </a:p>
          <a:p>
            <a:r>
              <a:rPr lang="en-US" sz="2800" dirty="0" smtClean="0"/>
              <a:t>provides a platform for supporting the weight of the body when standing. </a:t>
            </a:r>
            <a:endParaRPr lang="en-US" sz="2800" dirty="0" smtClean="0"/>
          </a:p>
          <a:p>
            <a:r>
              <a:rPr lang="en-US" sz="2800" dirty="0" smtClean="0"/>
              <a:t> has an important role in locomotion.</a:t>
            </a:r>
            <a:endParaRPr lang="en-US" sz="2800" dirty="0" smtClean="0"/>
          </a:p>
          <a:p>
            <a:r>
              <a:rPr lang="en-US" sz="2800" dirty="0" smtClean="0"/>
              <a:t>The foot has a superior surface (</a:t>
            </a:r>
            <a:r>
              <a:rPr lang="en-US" sz="2800" b="1" dirty="0" smtClean="0"/>
              <a:t>dorsum of foot</a:t>
            </a:r>
            <a:r>
              <a:rPr lang="en-US" sz="2800" dirty="0" smtClean="0"/>
              <a:t>) and an inferior surface (</a:t>
            </a:r>
            <a:r>
              <a:rPr lang="en-US" sz="2800" b="1" dirty="0" smtClean="0"/>
              <a:t>sole)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219200"/>
            <a:ext cx="3934069" cy="42062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BF8A3-4BFA-461A-A70F-37E3A6B66F8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E176-8FD0-4C65-8274-2DA6EE14BF20}" type="slidenum">
              <a:rPr lang="en-US"/>
            </a:fld>
            <a:endParaRPr lang="en-US"/>
          </a:p>
        </p:txBody>
      </p:sp>
      <p:sp>
        <p:nvSpPr>
          <p:cNvPr id="66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304800"/>
            <a:ext cx="8534400" cy="6324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 Deep fascia of foot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The </a:t>
            </a:r>
            <a:r>
              <a:rPr lang="en-US" sz="2400" dirty="0"/>
              <a:t>deep fascia is thin on the dorsum of the foot, where it is continuous with the inferior extensor retinaculum </a:t>
            </a:r>
            <a:endParaRPr lang="en-US" sz="2400" dirty="0"/>
          </a:p>
          <a:p>
            <a:r>
              <a:rPr lang="en-US" sz="2400" dirty="0"/>
              <a:t>Over the lateral and posterior aspects, </a:t>
            </a:r>
            <a:r>
              <a:rPr lang="en-US" sz="2400" dirty="0" smtClean="0"/>
              <a:t>it is </a:t>
            </a:r>
            <a:r>
              <a:rPr lang="en-US" sz="2400" dirty="0"/>
              <a:t>continuous with the plantar </a:t>
            </a:r>
            <a:r>
              <a:rPr lang="en-US" sz="2400" dirty="0" smtClean="0"/>
              <a:t>fascia, </a:t>
            </a:r>
            <a:r>
              <a:rPr lang="en-US" sz="2400" dirty="0"/>
              <a:t>which has a thick central part (the </a:t>
            </a:r>
            <a:r>
              <a:rPr lang="en-US" sz="2400" dirty="0">
                <a:solidFill>
                  <a:srgbClr val="FF0000"/>
                </a:solidFill>
              </a:rPr>
              <a:t>plantar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aponeurosis</a:t>
            </a:r>
            <a:r>
              <a:rPr lang="en-US" sz="2400" dirty="0"/>
              <a:t>) and weaker medial and lateral parts </a:t>
            </a:r>
            <a:endParaRPr lang="en-US" sz="2400" dirty="0"/>
          </a:p>
          <a:p>
            <a:r>
              <a:rPr lang="en-US" sz="2400" dirty="0"/>
              <a:t>The plantar fascia </a:t>
            </a:r>
            <a:r>
              <a:rPr lang="en-US" sz="2400" b="1" dirty="0">
                <a:solidFill>
                  <a:srgbClr val="0000FF"/>
                </a:solidFill>
              </a:rPr>
              <a:t>holds parts of the foot together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helps protect the sole from injury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00FF"/>
                </a:solidFill>
              </a:rPr>
              <a:t>helps support the longitudinal arches </a:t>
            </a:r>
            <a:r>
              <a:rPr lang="en-US" sz="2400" dirty="0"/>
              <a:t>of the </a:t>
            </a:r>
            <a:r>
              <a:rPr lang="en-US" sz="2400" dirty="0" smtClean="0"/>
              <a:t>foot </a:t>
            </a:r>
            <a:endParaRPr lang="en-US" sz="2400" dirty="0" smtClean="0"/>
          </a:p>
          <a:p>
            <a:r>
              <a:rPr lang="en-US" sz="2400" dirty="0" smtClean="0"/>
              <a:t>Its intermuscular septum divide the sole in to three compartment </a:t>
            </a:r>
            <a:endParaRPr lang="en-US" sz="2400" dirty="0" smtClean="0"/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/>
              <a:t>Medial </a:t>
            </a:r>
            <a:endParaRPr lang="en-US" dirty="0" smtClean="0"/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/>
              <a:t>Central </a:t>
            </a:r>
            <a:endParaRPr lang="en-US" dirty="0" smtClean="0"/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en-US" dirty="0" smtClean="0"/>
              <a:t>Lateral compartment of the sole</a:t>
            </a:r>
            <a:endParaRPr lang="en-US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7684-3D43-42CE-B6F5-5970BED1DB3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3214466" y="1961902"/>
            <a:ext cx="3172268" cy="35437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8382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smtClean="0"/>
              <a:t>             </a:t>
            </a:r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INTRINSIC MUSCLES OF THE FOOT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38CC-5C35-4EE6-ADBE-8560ADAFCA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47244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Originate and insert in the foot.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/>
              <a:t>Intrinsic muscles mainly </a:t>
            </a:r>
            <a:r>
              <a:rPr lang="en-US" sz="2400" b="1" dirty="0" smtClean="0">
                <a:solidFill>
                  <a:srgbClr val="0000FF"/>
                </a:solidFill>
              </a:rPr>
              <a:t>modify the actions of the long</a:t>
            </a:r>
            <a:r>
              <a:rPr lang="en-US" sz="2400" dirty="0" smtClean="0"/>
              <a:t> tendons and generate </a:t>
            </a:r>
            <a:r>
              <a:rPr lang="en-US" sz="2400" b="1" dirty="0" smtClean="0">
                <a:solidFill>
                  <a:srgbClr val="0000FF"/>
                </a:solidFill>
              </a:rPr>
              <a:t>fine movements </a:t>
            </a:r>
            <a:r>
              <a:rPr lang="en-US" sz="2400" dirty="0" smtClean="0"/>
              <a:t>of the toes.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/>
              <a:t>There are </a:t>
            </a:r>
            <a:r>
              <a:rPr lang="en-US" sz="2400" dirty="0" smtClean="0">
                <a:solidFill>
                  <a:srgbClr val="FF0000"/>
                </a:solidFill>
              </a:rPr>
              <a:t>two intrinsic muscle </a:t>
            </a:r>
            <a:r>
              <a:rPr lang="en-US" sz="2400" dirty="0" smtClean="0"/>
              <a:t>on the dorsum of the foot-extensor digitorum brevis &amp; extensor hallucis brevis. </a:t>
            </a:r>
            <a:endParaRPr lang="en-US" sz="2400" dirty="0" smtClean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999037" y="2085975"/>
            <a:ext cx="361950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28600" y="1752600"/>
          <a:ext cx="8534400" cy="407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112410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Innervation</a:t>
                      </a:r>
                      <a:r>
                        <a:rPr lang="en-US" sz="2000" b="1" baseline="0" dirty="0" smtClean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2948788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Extensor digitorum </a:t>
                      </a:r>
                      <a:r>
                        <a:rPr lang="en-US" sz="2400" b="0" dirty="0" smtClean="0"/>
                        <a:t>and hallucis</a:t>
                      </a:r>
                      <a:r>
                        <a:rPr lang="en-US" sz="2400" b="0" baseline="0" dirty="0" smtClean="0"/>
                        <a:t> </a:t>
                      </a:r>
                      <a:r>
                        <a:rPr lang="en-US" sz="2400" b="0" dirty="0" smtClean="0"/>
                        <a:t>brevis 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/>
                        <a:t>Superolateral surface of the </a:t>
                      </a:r>
                      <a:r>
                        <a:rPr lang="en-US" sz="2400" b="0" dirty="0" smtClean="0"/>
                        <a:t>Calcaneus</a:t>
                      </a:r>
                      <a:endParaRPr lang="en-US" sz="24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/>
                        <a:t>Base of proximal phalanx of great toe and </a:t>
                      </a:r>
                      <a:r>
                        <a:rPr lang="en-US" sz="2000" b="0" dirty="0" smtClean="0"/>
                        <a:t>tendons </a:t>
                      </a:r>
                      <a:r>
                        <a:rPr lang="en-US" sz="2000" b="0" dirty="0"/>
                        <a:t>of extensor digitorum longus of toes II to IV</a:t>
                      </a:r>
                      <a:endParaRPr lang="en-US" sz="2000" b="0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Deep fibular nerve 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Aid the extensor longus muscles</a:t>
                      </a:r>
                      <a:endParaRPr lang="en-US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381000"/>
            <a:ext cx="8534400" cy="1077218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/>
              <a:t>Extensor digitorum brevis-on the dorsal aspect of the foot</a:t>
            </a:r>
            <a:endParaRPr lang="en-US" sz="32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FD497-D50C-4D0D-A588-7A51892D468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       MUSCLES IN THE SOLE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815F-CD73-441D-BDC9-B7052274395B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4358640" cy="5486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The muscles in the sole of the foot are organized into four layers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The plantar muscles maintain the arches of the foot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They also refine further the  efforts of the long muscles, producing </a:t>
            </a:r>
            <a:r>
              <a:rPr lang="en-US" sz="2800" dirty="0" smtClean="0">
                <a:solidFill>
                  <a:srgbClr val="0000FF"/>
                </a:solidFill>
              </a:rPr>
              <a:t>supination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0000FF"/>
                </a:solidFill>
              </a:rPr>
              <a:t>pronation</a:t>
            </a:r>
            <a:r>
              <a:rPr lang="en-US" sz="2800" dirty="0" smtClean="0"/>
              <a:t> in enabling the foot to adjust to uneven ground </a:t>
            </a:r>
            <a:endParaRPr lang="en-US" sz="28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79814" y="990600"/>
            <a:ext cx="3364186" cy="585368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7159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 </a:t>
            </a:r>
            <a:r>
              <a:rPr lang="en-US" b="1" dirty="0" smtClean="0"/>
              <a:t>FIRST LAYER</a:t>
            </a:r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05DC-7B2D-4FCB-953D-7B058E36C1C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381000" y="1143000"/>
            <a:ext cx="4114800" cy="53340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smtClean="0"/>
              <a:t>There are </a:t>
            </a:r>
            <a:r>
              <a:rPr lang="en-US" sz="2800" b="1" dirty="0" smtClean="0">
                <a:solidFill>
                  <a:srgbClr val="0000FF"/>
                </a:solidFill>
              </a:rPr>
              <a:t>three</a:t>
            </a:r>
            <a:r>
              <a:rPr lang="en-US" sz="2800" dirty="0" smtClean="0"/>
              <a:t> components in the first layer of muscles</a:t>
            </a:r>
            <a:endParaRPr lang="en-US" sz="2800" dirty="0" smtClean="0"/>
          </a:p>
          <a:p>
            <a:r>
              <a:rPr lang="en-US" sz="2800" dirty="0" smtClean="0"/>
              <a:t>From medial to lateral, these muscles are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abductor hallucis, 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flexor digitorum brevis, and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 abductor digiti minimi.</a:t>
            </a:r>
            <a:endParaRPr lang="en-US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878512" y="1993900"/>
            <a:ext cx="1860550" cy="3479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28600" y="914400"/>
          <a:ext cx="8534400" cy="566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68507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r>
                        <a:rPr lang="en-US" b="1" baseline="0" dirty="0" smtClean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144205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Abductor hallucis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Medial process of </a:t>
                      </a:r>
                      <a:r>
                        <a:rPr lang="en-US" sz="1800" b="1" dirty="0" err="1" smtClean="0">
                          <a:solidFill>
                            <a:srgbClr val="0000FF"/>
                          </a:solidFill>
                        </a:rPr>
                        <a:t>calcaneus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 </a:t>
                      </a:r>
                      <a:r>
                        <a:rPr lang="en-US" sz="1800" b="1" dirty="0"/>
                        <a:t>of proximal phalanx of great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Medial plantar nerve 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Abducts</a:t>
                      </a:r>
                      <a:r>
                        <a:rPr lang="en-US" sz="1800" b="1" dirty="0"/>
                        <a:t> and flexes great toe at metatarsophalangeal joint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  <a:tr h="1530255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Flexor digitorum brevis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Medial process of </a:t>
                      </a:r>
                      <a:r>
                        <a:rPr lang="en-US" sz="1800" b="1" dirty="0" err="1" smtClean="0">
                          <a:solidFill>
                            <a:srgbClr val="0000FF"/>
                          </a:solidFill>
                        </a:rPr>
                        <a:t>calcaneus</a:t>
                      </a:r>
                      <a:r>
                        <a:rPr lang="en-US" sz="1800" b="1" baseline="0" dirty="0" smtClean="0"/>
                        <a:t> </a:t>
                      </a:r>
                      <a:r>
                        <a:rPr lang="en-US" sz="1800" b="1" dirty="0" smtClean="0"/>
                        <a:t>and </a:t>
                      </a:r>
                      <a:r>
                        <a:rPr lang="en-US" sz="1800" b="1" dirty="0"/>
                        <a:t>plantar aponeurosis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middle </a:t>
                      </a:r>
                      <a:r>
                        <a:rPr lang="en-US" sz="1800" b="1" dirty="0"/>
                        <a:t>phalanges of lateral four toes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Medial plantar </a:t>
                      </a:r>
                      <a:r>
                        <a:rPr lang="en-US" sz="1800" b="1" dirty="0" smtClean="0">
                          <a:solidFill>
                            <a:srgbClr val="0000FF"/>
                          </a:solidFill>
                        </a:rPr>
                        <a:t>nerve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Flexes</a:t>
                      </a:r>
                      <a:r>
                        <a:rPr lang="en-US" sz="1800" b="1" dirty="0"/>
                        <a:t> lateral four toes at proximal interphalangeal joint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  <a:tr h="198141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Abductor </a:t>
                      </a:r>
                      <a:r>
                        <a:rPr lang="en-US" sz="1800" b="1" dirty="0" err="1"/>
                        <a:t>digiti</a:t>
                      </a:r>
                      <a:r>
                        <a:rPr lang="en-US" sz="1800" b="1" dirty="0"/>
                        <a:t> minimi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Lateral and medial processes of </a:t>
                      </a:r>
                      <a:r>
                        <a:rPr lang="en-US" sz="1800" b="1" dirty="0" err="1" smtClean="0">
                          <a:solidFill>
                            <a:srgbClr val="0000FF"/>
                          </a:solidFill>
                        </a:rPr>
                        <a:t>calcaneus</a:t>
                      </a:r>
                      <a:r>
                        <a:rPr lang="en-US" sz="1800" b="1" baseline="0" dirty="0" smtClean="0"/>
                        <a:t> </a:t>
                      </a:r>
                      <a:r>
                        <a:rPr lang="en-US" sz="1800" b="1" dirty="0" smtClean="0"/>
                        <a:t>and </a:t>
                      </a:r>
                      <a:endParaRPr lang="en-US" sz="1800" b="1" dirty="0" smtClean="0"/>
                    </a:p>
                    <a:p>
                      <a:pPr algn="l"/>
                      <a:r>
                        <a:rPr lang="en-US" sz="1800" b="1" dirty="0" smtClean="0"/>
                        <a:t>Plantar aponeurosis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 </a:t>
                      </a:r>
                      <a:r>
                        <a:rPr lang="en-US" sz="1800" b="1" dirty="0"/>
                        <a:t>of proximal phalanx of little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Lateral plantar nerve 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Abducts</a:t>
                      </a:r>
                      <a:r>
                        <a:rPr lang="en-US" sz="1800" b="1" dirty="0"/>
                        <a:t> little toe at the metatarsophalangeal joint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304800"/>
            <a:ext cx="8534400" cy="523220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 smtClean="0"/>
              <a:t>                  Muscles in the first layer of the sole</a:t>
            </a:r>
            <a:endParaRPr 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BD83-6AAF-4E3B-947E-E746FD965B4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563562"/>
          </a:xfrm>
          <a:blipFill>
            <a:blip r:embed="rId1" cstate="print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                      SECOND LAYER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37FDF-6633-425A-B4FA-236BC711852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3886200" cy="55626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smtClean="0"/>
              <a:t>Consists of the 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Quadratus plantae and</a:t>
            </a:r>
            <a:endParaRPr lang="en-US" sz="2800" dirty="0" smtClean="0">
              <a:solidFill>
                <a:srgbClr val="0000FF"/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Four lumbrical muscles </a:t>
            </a:r>
            <a:endParaRPr lang="en-US" sz="2800" dirty="0">
              <a:solidFill>
                <a:srgbClr val="0000FF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865812" y="1946275"/>
            <a:ext cx="1885950" cy="35750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1143000"/>
          <a:ext cx="8382000" cy="4420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76632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</a:t>
                      </a:r>
                      <a:r>
                        <a:rPr lang="en-US" b="1" baseline="0" dirty="0" smtClean="0"/>
                        <a:t>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</a:t>
                      </a:r>
                      <a:r>
                        <a:rPr lang="en-US" b="1" baseline="0" dirty="0" smtClean="0"/>
                        <a:t>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1639083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Quadratus plantae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Medial </a:t>
                      </a:r>
                      <a:r>
                        <a:rPr lang="en-US" b="1" dirty="0" smtClean="0"/>
                        <a:t>and lateral surface </a:t>
                      </a:r>
                      <a:r>
                        <a:rPr lang="en-US" b="1" dirty="0"/>
                        <a:t>of </a:t>
                      </a:r>
                      <a:r>
                        <a:rPr lang="en-US" b="1" dirty="0" err="1" smtClean="0"/>
                        <a:t>calcaneus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tendon </a:t>
                      </a:r>
                      <a:r>
                        <a:rPr lang="en-US" b="1" dirty="0"/>
                        <a:t>of flexor digitorum </a:t>
                      </a:r>
                      <a:r>
                        <a:rPr lang="en-US" b="1" dirty="0" smtClean="0"/>
                        <a:t>longus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Lateral plantar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nerve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Assists flexor digitorum longus tendon in flexing toes II to V</a:t>
                      </a:r>
                      <a:endParaRPr lang="en-US" b="1" dirty="0"/>
                    </a:p>
                  </a:txBody>
                  <a:tcPr marL="47625" marR="47625" marT="47625" marB="47625"/>
                </a:tc>
              </a:tr>
              <a:tr h="1945613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Lumbricals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 </a:t>
                      </a:r>
                      <a:r>
                        <a:rPr lang="en-US" b="1" dirty="0"/>
                        <a:t>tendon of flexor digitorum longus 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extensor expansion of  </a:t>
                      </a:r>
                      <a:r>
                        <a:rPr lang="en-US" b="1" dirty="0"/>
                        <a:t>toes II to V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First lumbrical-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medial plantar </a:t>
                      </a:r>
                      <a:r>
                        <a:rPr lang="en-US" b="1" dirty="0" smtClean="0"/>
                        <a:t>nerve 2</a:t>
                      </a:r>
                      <a:r>
                        <a:rPr lang="en-US" b="1" baseline="30000" dirty="0" smtClean="0"/>
                        <a:t>nd</a:t>
                      </a:r>
                      <a:r>
                        <a:rPr lang="en-US" b="1" dirty="0" smtClean="0"/>
                        <a:t> , 3</a:t>
                      </a:r>
                      <a:r>
                        <a:rPr lang="en-US" b="1" baseline="30000" dirty="0" smtClean="0"/>
                        <a:t>rd</a:t>
                      </a:r>
                      <a:r>
                        <a:rPr lang="en-US" b="1" dirty="0" smtClean="0"/>
                        <a:t>  </a:t>
                      </a:r>
                      <a:r>
                        <a:rPr lang="en-US" b="1" dirty="0"/>
                        <a:t>and </a:t>
                      </a:r>
                      <a:r>
                        <a:rPr lang="en-US" b="1" dirty="0" smtClean="0"/>
                        <a:t>4</a:t>
                      </a:r>
                      <a:r>
                        <a:rPr lang="en-US" b="1" baseline="30000" dirty="0" smtClean="0"/>
                        <a:t>th</a:t>
                      </a:r>
                      <a:r>
                        <a:rPr lang="en-US" b="1" dirty="0" smtClean="0"/>
                        <a:t> lumbricals-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lateral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plantar </a:t>
                      </a:r>
                      <a:r>
                        <a:rPr lang="en-US" b="1" dirty="0" smtClean="0"/>
                        <a:t>nerve</a:t>
                      </a:r>
                      <a:endParaRPr lang="en-US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Flexion</a:t>
                      </a:r>
                      <a:r>
                        <a:rPr lang="en-US" b="1" dirty="0"/>
                        <a:t> of metatarsophalangeal joint and 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extension</a:t>
                      </a:r>
                      <a:r>
                        <a:rPr lang="en-US" b="1" dirty="0"/>
                        <a:t> of interphalangeal joints</a:t>
                      </a:r>
                      <a:endParaRPr lang="en-US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304800"/>
            <a:ext cx="8534400" cy="523220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 smtClean="0"/>
              <a:t>                  Muscles in the second layer of the sole</a:t>
            </a:r>
            <a:endParaRPr 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7205-2DD9-4444-8E30-CA67C337C6C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                      THIRD LAYER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444C-5013-44BB-9157-F111CB327BA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5562600" cy="5486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Three muscles</a:t>
            </a:r>
            <a:endParaRPr lang="en-US" sz="2800" dirty="0" smtClean="0"/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</a:rPr>
              <a:t>Flexor hallucis brevis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1062990" lvl="2" indent="-514350">
              <a:buFont typeface="Arial" panose="020B0604020202020204" pitchFamily="34" charset="0"/>
              <a:buChar char="•"/>
            </a:pPr>
            <a:r>
              <a:rPr lang="en-US" dirty="0" smtClean="0"/>
              <a:t>Arise fro </a:t>
            </a:r>
            <a:r>
              <a:rPr lang="en-US" dirty="0" err="1" smtClean="0"/>
              <a:t>cuboid</a:t>
            </a:r>
            <a:r>
              <a:rPr lang="en-US" dirty="0" smtClean="0"/>
              <a:t> and lateral cuneiform and insert in to base of proximal phalanx of the great toe</a:t>
            </a:r>
            <a:endParaRPr lang="en-US" dirty="0" smtClean="0"/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</a:rPr>
              <a:t>Adductor hallucis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1062990" lvl="2" indent="-514350">
              <a:buFont typeface="Arial" panose="020B0604020202020204" pitchFamily="34" charset="0"/>
              <a:buChar char="•"/>
            </a:pPr>
            <a:r>
              <a:rPr lang="en-US" sz="1800" dirty="0" smtClean="0"/>
              <a:t>Extend from metatarsals bones 2-4 to base of proximal phalanx of great toe </a:t>
            </a:r>
            <a:endParaRPr lang="en-US" sz="1800" dirty="0" smtClean="0"/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</a:rPr>
              <a:t>Flexor digiti minimi brevis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788670" lvl="1" indent="-514350">
              <a:buFont typeface="Arial" panose="020B0604020202020204" pitchFamily="34" charset="0"/>
              <a:buChar char="•"/>
            </a:pPr>
            <a:r>
              <a:rPr lang="en-US" sz="2000" dirty="0" smtClean="0"/>
              <a:t>Extend from metatarsals bone 5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to base of proximal phalanx of little toe</a:t>
            </a:r>
            <a:endParaRPr lang="en-US" sz="20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 smtClean="0"/>
              <a:t>All are innervated by </a:t>
            </a:r>
            <a:r>
              <a:rPr lang="en-US" sz="2400" b="1" dirty="0" smtClean="0">
                <a:solidFill>
                  <a:srgbClr val="0000FF"/>
                </a:solidFill>
              </a:rPr>
              <a:t>Lateral plantar nerve except FHB(</a:t>
            </a:r>
            <a:r>
              <a:rPr lang="en-US" sz="2400" b="1" dirty="0" err="1" smtClean="0">
                <a:solidFill>
                  <a:srgbClr val="0000FF"/>
                </a:solidFill>
              </a:rPr>
              <a:t>m.plantar</a:t>
            </a:r>
            <a:r>
              <a:rPr lang="en-US" sz="2400" b="1" dirty="0" smtClean="0">
                <a:solidFill>
                  <a:srgbClr val="0000FF"/>
                </a:solidFill>
              </a:rPr>
              <a:t>)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 smtClean="0"/>
              <a:t>They are adductor and flexor of the respective digits </a:t>
            </a:r>
            <a:endParaRPr lang="en-US" sz="24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799137" y="1822450"/>
            <a:ext cx="2019300" cy="38227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304800" y="1143000"/>
          <a:ext cx="8534400" cy="6183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Muscle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Proximal attachment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Distal attachment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Innervation</a:t>
                      </a:r>
                      <a:r>
                        <a:rPr lang="en-US" sz="1800" b="1" baseline="0" dirty="0" smtClean="0"/>
                        <a:t> 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action</a:t>
                      </a:r>
                      <a:endParaRPr lang="en-US" sz="1800" b="1" dirty="0"/>
                    </a:p>
                  </a:txBody>
                  <a:tcPr/>
                </a:tc>
              </a:tr>
              <a:tr h="10820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Flexor hallucis brevis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Plantar surface of </a:t>
                      </a:r>
                      <a:r>
                        <a:rPr lang="en-US" sz="1800" b="1" dirty="0" err="1"/>
                        <a:t>cuboid</a:t>
                      </a:r>
                      <a:r>
                        <a:rPr lang="en-US" sz="1800" b="1" dirty="0"/>
                        <a:t> and lateral </a:t>
                      </a:r>
                      <a:r>
                        <a:rPr lang="en-US" sz="1800" b="1" dirty="0" smtClean="0"/>
                        <a:t>cuneiform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Both sides </a:t>
                      </a:r>
                      <a:r>
                        <a:rPr lang="en-US" sz="1800" b="1" dirty="0"/>
                        <a:t>of base of proximal phalanx of the great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Medial plantar </a:t>
                      </a:r>
                      <a:r>
                        <a:rPr lang="en-US" sz="1800" b="1" dirty="0"/>
                        <a:t>nerve 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Flexes </a:t>
                      </a:r>
                      <a:r>
                        <a:rPr lang="en-US" sz="1800" b="1" dirty="0" err="1"/>
                        <a:t>metatar-sophalangeal</a:t>
                      </a:r>
                      <a:r>
                        <a:rPr lang="en-US" sz="1800" b="1" dirty="0"/>
                        <a:t> joint of the great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  <a:tr h="10820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Adductor </a:t>
                      </a:r>
                      <a:r>
                        <a:rPr lang="en-US" sz="1800" b="1" dirty="0" smtClean="0"/>
                        <a:t>hallucis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1" dirty="0" smtClean="0"/>
                        <a:t>oblique</a:t>
                      </a:r>
                      <a:r>
                        <a:rPr lang="en-US" sz="1800" b="1" i="1" baseline="0" dirty="0" smtClean="0"/>
                        <a:t> head- </a:t>
                      </a:r>
                      <a:r>
                        <a:rPr lang="en-US" sz="1800" b="1" baseline="0" dirty="0" smtClean="0"/>
                        <a:t>bases of metatarsals 2-4</a:t>
                      </a:r>
                      <a:endParaRPr lang="en-US" sz="1800" b="1" baseline="0" dirty="0" smtClean="0"/>
                    </a:p>
                    <a:p>
                      <a:pPr algn="l"/>
                      <a:r>
                        <a:rPr lang="en-US" sz="1800" b="1" i="1" dirty="0" smtClean="0"/>
                        <a:t>Transverse head</a:t>
                      </a:r>
                      <a:r>
                        <a:rPr lang="en-US" sz="1800" b="1" dirty="0" smtClean="0"/>
                        <a:t>-ligaments of  </a:t>
                      </a:r>
                      <a:r>
                        <a:rPr lang="en-US" sz="1800" b="1" dirty="0"/>
                        <a:t>metatarsophalangeal </a:t>
                      </a:r>
                      <a:r>
                        <a:rPr lang="en-US" sz="1800" b="1" dirty="0" smtClean="0"/>
                        <a:t>joints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Lateral side of base of proximal phalanx of great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Lateral plantar </a:t>
                      </a:r>
                      <a:r>
                        <a:rPr lang="en-US" sz="1800" b="1" dirty="0" smtClean="0"/>
                        <a:t>nerve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Adducts great toe at </a:t>
                      </a:r>
                      <a:r>
                        <a:rPr lang="en-US" sz="1800" b="1" dirty="0" err="1"/>
                        <a:t>metatarsopha-langeal</a:t>
                      </a:r>
                      <a:r>
                        <a:rPr lang="en-US" sz="1800" b="1" dirty="0"/>
                        <a:t> joint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  <a:tr h="10820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Flexor digiti minimi brevis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Base of metatarsal V and related sheath of </a:t>
                      </a:r>
                      <a:r>
                        <a:rPr lang="en-US" sz="1800" b="1" dirty="0" err="1"/>
                        <a:t>fibularis</a:t>
                      </a:r>
                      <a:r>
                        <a:rPr lang="en-US" sz="1800" b="1" dirty="0"/>
                        <a:t> longus tendon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smtClean="0"/>
                        <a:t>base </a:t>
                      </a:r>
                      <a:r>
                        <a:rPr lang="en-US" sz="1800" b="1" dirty="0"/>
                        <a:t>of proximal phalanx of little toe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Lateral plantar </a:t>
                      </a:r>
                      <a:r>
                        <a:rPr lang="en-US" sz="1800" b="1" dirty="0" smtClean="0"/>
                        <a:t>nerve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Flexes little toe at metatarsophalangeal joint</a:t>
                      </a:r>
                      <a:endParaRPr lang="en-US" sz="18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228600"/>
            <a:ext cx="8458200" cy="584775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/>
              <a:t>     Muscles in the third layer of the sole</a:t>
            </a:r>
            <a:endParaRPr 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712DE-F9C9-4D7C-89B7-7710A58CE8D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639762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    </a:t>
            </a:r>
            <a:r>
              <a:rPr lang="en-US" b="1" dirty="0" smtClean="0"/>
              <a:t>FOURTH LAYER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BF55-CB9E-411F-9E26-9765DCB38C4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990600"/>
            <a:ext cx="5181600" cy="5867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rgbClr val="0000FF"/>
                </a:solidFill>
              </a:rPr>
              <a:t>The dorsal interossei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1062990" lvl="2" indent="-5143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FF"/>
                </a:solidFill>
              </a:rPr>
              <a:t>Extend from </a:t>
            </a:r>
            <a:r>
              <a:rPr lang="en-US" sz="2400" dirty="0" smtClean="0"/>
              <a:t>Sides of adjacent metatarsals to bases of proximal phalanges of toes II to IV</a:t>
            </a:r>
            <a:endParaRPr lang="en-US" sz="2400" dirty="0" smtClean="0"/>
          </a:p>
          <a:p>
            <a:pPr marL="1062990" lvl="2" indent="-514350">
              <a:buFont typeface="Arial" panose="020B0604020202020204" pitchFamily="34" charset="0"/>
              <a:buChar char="•"/>
            </a:pPr>
            <a:r>
              <a:rPr lang="en-US" sz="2400" dirty="0" smtClean="0"/>
              <a:t>Are abductor and flexor of 2-4 toes </a:t>
            </a:r>
            <a:endParaRPr lang="en-US" sz="2400" dirty="0" smtClean="0"/>
          </a:p>
          <a:p>
            <a:pPr marL="1062990" lvl="2" indent="-514350">
              <a:buFont typeface="Wingdings" panose="05000000000000000000" pitchFamily="2" charset="2"/>
              <a:buChar char="q"/>
            </a:pPr>
            <a:r>
              <a:rPr lang="en-US" sz="2400" dirty="0" smtClean="0"/>
              <a:t>Are innervated by </a:t>
            </a:r>
            <a:r>
              <a:rPr lang="en-US" sz="2400" b="1" dirty="0" smtClean="0">
                <a:solidFill>
                  <a:srgbClr val="0000FF"/>
                </a:solidFill>
              </a:rPr>
              <a:t>Lateral plantar nerve </a:t>
            </a:r>
            <a:endParaRPr lang="en-US" b="1" dirty="0" smtClean="0">
              <a:solidFill>
                <a:srgbClr val="0000FF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7391" y="1066800"/>
            <a:ext cx="3726609" cy="5486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5144-9EEC-4E36-B579-A5C165ACEA8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4572000" cy="5592763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Plantar interossei-3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000FF"/>
                </a:solidFill>
              </a:rPr>
              <a:t>Extend from medial </a:t>
            </a:r>
            <a:r>
              <a:rPr lang="en-US" sz="2400" dirty="0" smtClean="0"/>
              <a:t>Sides of adjacent  3-5 metatarsals to bases of proximal phalanges of 3-5 toes</a:t>
            </a:r>
            <a:endParaRPr lang="en-US" sz="24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 smtClean="0"/>
              <a:t>Are adductor and flexor of 3-5 toes </a:t>
            </a:r>
            <a:endParaRPr lang="en-US" dirty="0" smtClean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2400" dirty="0" smtClean="0"/>
              <a:t>Are innervated by </a:t>
            </a:r>
            <a:r>
              <a:rPr lang="en-US" sz="2400" b="1" dirty="0" smtClean="0">
                <a:solidFill>
                  <a:srgbClr val="0000FF"/>
                </a:solidFill>
              </a:rPr>
              <a:t>Lateral plantar nerve 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888037" y="1749425"/>
            <a:ext cx="1841500" cy="39687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04800" y="228600"/>
            <a:ext cx="8610600" cy="584775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                </a:t>
            </a:r>
            <a:r>
              <a:rPr lang="en-US" sz="3200" b="1" dirty="0" smtClean="0"/>
              <a:t>FOURTH LAYER   cont…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/>
          <p:cNvGraphicFramePr/>
          <p:nvPr/>
        </p:nvGraphicFramePr>
        <p:xfrm>
          <a:off x="304800" y="1143000"/>
          <a:ext cx="8610600" cy="499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  <a:gridCol w="1722120"/>
                <a:gridCol w="1722120"/>
              </a:tblGrid>
              <a:tr h="75495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Muscles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Proximal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Distal attachment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innervation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action</a:t>
                      </a:r>
                      <a:endParaRPr lang="en-US" b="1" dirty="0"/>
                    </a:p>
                  </a:txBody>
                  <a:tcPr/>
                </a:tc>
              </a:tr>
              <a:tr h="2118072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Dorsal interossei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Sides of adjacent metatarsals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Dorsal expansions and bases of proximal phalanges of toes II to IV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Lateral plantar nerve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Abduction of toes II to </a:t>
                      </a:r>
                      <a:r>
                        <a:rPr lang="en-US" sz="2000" b="1" dirty="0" smtClean="0"/>
                        <a:t>IV</a:t>
                      </a:r>
                      <a:endParaRPr lang="en-US" sz="2000" b="1" dirty="0" smtClean="0"/>
                    </a:p>
                    <a:p>
                      <a:pPr algn="l"/>
                      <a:r>
                        <a:rPr lang="en-US" sz="2000" b="1" dirty="0" smtClean="0"/>
                        <a:t>Flex metatarsophalangeal</a:t>
                      </a:r>
                      <a:r>
                        <a:rPr lang="en-US" sz="2000" b="1" baseline="0" dirty="0" smtClean="0"/>
                        <a:t> joint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  <a:tr h="2118072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Plantar interossei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Medial sides of metatarsals of toes III toV</a:t>
                      </a:r>
                      <a:endParaRPr lang="en-US" sz="2000" b="1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Dorsal expansions and bases of proximal phalanges of toes III to V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Lateral plantar nerve 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Adduction of toes III to V </a:t>
                      </a:r>
                      <a:endParaRPr lang="en-US" sz="2000" b="1" dirty="0" smtClean="0"/>
                    </a:p>
                    <a:p>
                      <a:pPr algn="l"/>
                      <a:r>
                        <a:rPr lang="en-US" sz="2000" b="1" dirty="0" smtClean="0"/>
                        <a:t>Flex the metatarsophalangeal joint</a:t>
                      </a:r>
                      <a:endParaRPr lang="en-US" sz="2000" b="1" dirty="0"/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228600"/>
            <a:ext cx="8610600" cy="584775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 smtClean="0"/>
              <a:t>          Muscles in the fourth layer of the sole</a:t>
            </a:r>
            <a:endParaRPr 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E67E8-2015-4769-AE94-6ED942CC48E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            </a:t>
            </a:r>
            <a:r>
              <a:rPr lang="en-US" sz="3600" dirty="0" smtClean="0"/>
              <a:t>ARTERIES OF THE FOOT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C92A-6A62-47A8-AC04-06EDB4C39EB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43000"/>
            <a:ext cx="48006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Blood supply to the foot is by branches of the </a:t>
            </a:r>
            <a:r>
              <a:rPr lang="en-US" b="1" dirty="0" smtClean="0">
                <a:solidFill>
                  <a:srgbClr val="0000FF"/>
                </a:solidFill>
              </a:rPr>
              <a:t>posterior tibial and dorsalis pedis </a:t>
            </a:r>
            <a:r>
              <a:rPr lang="en-US" b="1" dirty="0" smtClean="0"/>
              <a:t>(dorsal artery of the foot) arteries. </a:t>
            </a:r>
            <a:endParaRPr lang="en-US" b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rgbClr val="0000FF"/>
                </a:solidFill>
              </a:rPr>
              <a:t>The posterior tibial artery </a:t>
            </a:r>
            <a:r>
              <a:rPr lang="en-US" dirty="0" smtClean="0"/>
              <a:t>enters the sole and bifurcates into </a:t>
            </a:r>
            <a:r>
              <a:rPr lang="en-US" b="1" dirty="0" smtClean="0">
                <a:solidFill>
                  <a:srgbClr val="0000FF"/>
                </a:solidFill>
              </a:rPr>
              <a:t>lateral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00FF"/>
                </a:solidFill>
              </a:rPr>
              <a:t>medial</a:t>
            </a:r>
            <a:r>
              <a:rPr lang="en-US" dirty="0" smtClean="0"/>
              <a:t> plantar arteries.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lateral plantar </a:t>
            </a:r>
            <a:r>
              <a:rPr lang="en-US" dirty="0" smtClean="0"/>
              <a:t>artery joins with the terminal end of the </a:t>
            </a:r>
            <a:r>
              <a:rPr lang="en-US" dirty="0" smtClean="0">
                <a:solidFill>
                  <a:srgbClr val="0000FF"/>
                </a:solidFill>
              </a:rPr>
              <a:t>dorsalis pedis artery </a:t>
            </a:r>
            <a:r>
              <a:rPr lang="en-US" dirty="0" smtClean="0"/>
              <a:t>(the deep plantar artery) to form the </a:t>
            </a:r>
            <a:r>
              <a:rPr lang="en-US" b="1" i="1" dirty="0" smtClean="0">
                <a:solidFill>
                  <a:srgbClr val="0000FF"/>
                </a:solidFill>
              </a:rPr>
              <a:t>deep plantar arch.</a:t>
            </a:r>
            <a:endParaRPr lang="en-US" b="1" i="1" dirty="0" smtClean="0">
              <a:solidFill>
                <a:srgbClr val="0000FF"/>
              </a:solidFill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143000"/>
            <a:ext cx="3124200" cy="53949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76045" y="1371600"/>
            <a:ext cx="4367954" cy="510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/>
              <a:t>              ARTERIES OF THE FOOT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ACCAD-75D3-4AFC-BF13-9F2B162A93B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4572000" cy="5486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dorsalis pedis </a:t>
            </a:r>
            <a:r>
              <a:rPr lang="en-US" dirty="0" smtClean="0"/>
              <a:t>artery is the continuation of the </a:t>
            </a:r>
            <a:r>
              <a:rPr lang="en-US" dirty="0" smtClean="0">
                <a:solidFill>
                  <a:srgbClr val="0000FF"/>
                </a:solidFill>
              </a:rPr>
              <a:t>anterior tibial artery</a:t>
            </a:r>
            <a:r>
              <a:rPr lang="en-US" dirty="0" smtClean="0"/>
              <a:t>, passes on the dorsal aspect of the foot and then inferiorly, as the </a:t>
            </a:r>
            <a:r>
              <a:rPr lang="en-US" dirty="0" smtClean="0">
                <a:solidFill>
                  <a:srgbClr val="0000FF"/>
                </a:solidFill>
              </a:rPr>
              <a:t>deep plantar artery</a:t>
            </a:r>
            <a:r>
              <a:rPr lang="en-US" dirty="0" smtClean="0"/>
              <a:t>, between metatarsals I and II to enter the sole of the foot.</a:t>
            </a:r>
            <a:endParaRPr lang="en-US" dirty="0" smtClean="0"/>
          </a:p>
          <a:p>
            <a:r>
              <a:rPr lang="en-US" dirty="0" smtClean="0"/>
              <a:t>Branches of the dorsalis pedis artery include </a:t>
            </a:r>
            <a:r>
              <a:rPr lang="en-US" i="1" dirty="0" smtClean="0">
                <a:solidFill>
                  <a:srgbClr val="0000FF"/>
                </a:solidFill>
              </a:rPr>
              <a:t>lateral </a:t>
            </a:r>
            <a:r>
              <a:rPr lang="en-US" dirty="0" smtClean="0"/>
              <a:t>and </a:t>
            </a:r>
            <a:r>
              <a:rPr lang="en-US" i="1" dirty="0" smtClean="0">
                <a:solidFill>
                  <a:srgbClr val="0000FF"/>
                </a:solidFill>
              </a:rPr>
              <a:t>medial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tarsal branches</a:t>
            </a:r>
            <a:r>
              <a:rPr lang="en-US" dirty="0" smtClean="0"/>
              <a:t>, an </a:t>
            </a:r>
            <a:r>
              <a:rPr lang="en-US" dirty="0" err="1" smtClean="0">
                <a:solidFill>
                  <a:srgbClr val="0000FF"/>
                </a:solidFill>
              </a:rPr>
              <a:t>arcuate</a:t>
            </a:r>
            <a:r>
              <a:rPr lang="en-US" dirty="0" smtClean="0">
                <a:solidFill>
                  <a:srgbClr val="0000FF"/>
                </a:solidFill>
              </a:rPr>
              <a:t> artery</a:t>
            </a:r>
            <a:r>
              <a:rPr lang="en-US" dirty="0" smtClean="0"/>
              <a:t>, and a first </a:t>
            </a:r>
            <a:r>
              <a:rPr lang="en-US" dirty="0" smtClean="0">
                <a:solidFill>
                  <a:srgbClr val="0000FF"/>
                </a:solidFill>
              </a:rPr>
              <a:t>dorsal metatarsal </a:t>
            </a:r>
            <a:r>
              <a:rPr lang="en-US" dirty="0" smtClean="0"/>
              <a:t>artery.</a:t>
            </a:r>
            <a:endParaRPr 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007238" y="1447800"/>
            <a:ext cx="3603099" cy="4572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4763"/>
            <a:ext cx="8077200" cy="6848475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283A-FD76-468F-A619-2144B0671D0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             </a:t>
            </a:r>
            <a:r>
              <a:rPr lang="en-US" sz="3600" dirty="0" smtClean="0">
                <a:solidFill>
                  <a:srgbClr val="0000FF"/>
                </a:solidFill>
              </a:rPr>
              <a:t>VEINS OF THE FOOT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035A3-7E57-4A7A-91A4-BFAC5B82C0B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8768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There are interconnected networks of </a:t>
            </a:r>
            <a:r>
              <a:rPr lang="en-US" b="1" dirty="0" smtClean="0">
                <a:solidFill>
                  <a:srgbClr val="0000FF"/>
                </a:solidFill>
              </a:rPr>
              <a:t>deep </a:t>
            </a:r>
            <a:r>
              <a:rPr lang="en-US" b="1" dirty="0" smtClean="0"/>
              <a:t>and </a:t>
            </a:r>
            <a:r>
              <a:rPr lang="en-US" b="1" dirty="0" smtClean="0">
                <a:solidFill>
                  <a:srgbClr val="0000FF"/>
                </a:solidFill>
              </a:rPr>
              <a:t>superficial veins</a:t>
            </a:r>
            <a:r>
              <a:rPr lang="en-US" b="1" dirty="0" smtClean="0"/>
              <a:t> in the foot.</a:t>
            </a:r>
            <a:endParaRPr lang="en-US" b="1" dirty="0" smtClean="0"/>
          </a:p>
          <a:p>
            <a:r>
              <a:rPr lang="en-US" b="1" dirty="0" smtClean="0"/>
              <a:t> The deep veins follow the arteries.</a:t>
            </a:r>
            <a:endParaRPr lang="en-US" b="1" dirty="0" smtClean="0"/>
          </a:p>
          <a:p>
            <a:r>
              <a:rPr lang="en-US" b="1" dirty="0" smtClean="0"/>
              <a:t> Superficial veins drain into a </a:t>
            </a:r>
            <a:r>
              <a:rPr lang="en-US" b="1" dirty="0" smtClean="0">
                <a:solidFill>
                  <a:srgbClr val="0000FF"/>
                </a:solidFill>
              </a:rPr>
              <a:t>dorsal venous arch </a:t>
            </a:r>
            <a:endParaRPr lang="en-US" b="1" dirty="0" smtClean="0">
              <a:solidFill>
                <a:srgbClr val="0000FF"/>
              </a:solidFill>
            </a:endParaRPr>
          </a:p>
          <a:p>
            <a:r>
              <a:rPr lang="en-US" b="1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great saphenous </a:t>
            </a:r>
            <a:r>
              <a:rPr lang="en-US" b="1" dirty="0" smtClean="0"/>
              <a:t>vein originates from the medial side of the arch and passes anterior to the medial malleolus and onto the medial side of the leg; 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small saphenous </a:t>
            </a:r>
            <a:r>
              <a:rPr lang="en-US" b="1" dirty="0" smtClean="0"/>
              <a:t>vein originates from the lateral side of the arch and passes posterior to the lateral malleolus and onto the back of the leg. </a:t>
            </a:r>
            <a:endParaRPr lang="en-US" b="1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957887" y="2254250"/>
            <a:ext cx="1701800" cy="2959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83820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             </a:t>
            </a:r>
            <a:r>
              <a:rPr lang="en-US" b="1" dirty="0" smtClean="0">
                <a:solidFill>
                  <a:srgbClr val="0000FF"/>
                </a:solidFill>
              </a:rPr>
              <a:t>NERVES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0000FF"/>
                </a:solidFill>
              </a:rPr>
              <a:t>OF  THE FOOT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10A53-3F6E-4D07-AA0B-3EF8C39930C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4343400" cy="533400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The foot is supplied by the</a:t>
            </a:r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en-US" sz="2800" b="1" dirty="0" smtClean="0"/>
              <a:t>Tibial</a:t>
            </a:r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en-US" sz="2800" b="1" dirty="0" smtClean="0"/>
              <a:t> Deep fibular</a:t>
            </a:r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en-US" sz="2800" b="1" dirty="0" smtClean="0"/>
              <a:t>Superficial fibular</a:t>
            </a:r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en-US" sz="2800" b="1" dirty="0" smtClean="0"/>
              <a:t> Sural ( origin from tibial and common peroneal)and  </a:t>
            </a:r>
            <a:endParaRPr lang="en-US" sz="2800" b="1" dirty="0" smtClean="0"/>
          </a:p>
          <a:p>
            <a:pPr marL="514350" indent="-514350">
              <a:buAutoNum type="arabicPeriod"/>
            </a:pPr>
            <a:r>
              <a:rPr lang="en-US" sz="2800" b="1" dirty="0" smtClean="0"/>
              <a:t>Saphenous nerves(origin from femoral)</a:t>
            </a:r>
            <a:endParaRPr lang="en-US" sz="2800" b="1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519737" y="1933575"/>
            <a:ext cx="2578100" cy="36004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          </a:t>
            </a:r>
            <a:r>
              <a:rPr lang="en-US" b="1" dirty="0" smtClean="0">
                <a:solidFill>
                  <a:srgbClr val="0000FF"/>
                </a:solidFill>
              </a:rPr>
              <a:t>NERVES OF THE FOOT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0EB6A-BB5B-4426-AD6A-04AEF89266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4724400" cy="54102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 smtClean="0"/>
              <a:t>Tibial nerve</a:t>
            </a:r>
            <a:endParaRPr lang="en-US" sz="2800" b="1" dirty="0" smtClean="0"/>
          </a:p>
          <a:p>
            <a:pPr>
              <a:buNone/>
            </a:pPr>
            <a:r>
              <a:rPr lang="en-US" sz="2800" dirty="0" smtClean="0"/>
              <a:t>   Midway between the medial malleolus and the heel, the tibial nerve bifurcates with the posterior tibial artery into:</a:t>
            </a:r>
            <a:endParaRPr lang="en-US" sz="2800" dirty="0" smtClean="0"/>
          </a:p>
          <a:p>
            <a:r>
              <a:rPr lang="en-US" b="1" dirty="0" smtClean="0">
                <a:solidFill>
                  <a:srgbClr val="0000FF"/>
                </a:solidFill>
              </a:rPr>
              <a:t>large medial plantar nerve</a:t>
            </a:r>
            <a:r>
              <a:rPr lang="en-US" b="1" dirty="0" smtClean="0"/>
              <a:t>; </a:t>
            </a:r>
            <a:endParaRPr lang="en-US" b="1" dirty="0" smtClean="0"/>
          </a:p>
          <a:p>
            <a:r>
              <a:rPr lang="en-US" b="1" dirty="0" smtClean="0">
                <a:solidFill>
                  <a:srgbClr val="0000FF"/>
                </a:solidFill>
              </a:rPr>
              <a:t>a smaller lateral plantar nerve </a:t>
            </a:r>
            <a:endParaRPr lang="en-US" b="1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821362" y="1914525"/>
            <a:ext cx="1974850" cy="36385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           </a:t>
            </a:r>
            <a:r>
              <a:rPr lang="en-US" b="1" dirty="0" smtClean="0">
                <a:solidFill>
                  <a:srgbClr val="0000FF"/>
                </a:solidFill>
              </a:rPr>
              <a:t>NERVES OF THE FOOT 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8D3BF-AF37-4E28-8C9A-11068B6F08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434840" cy="5486400"/>
          </a:xfrm>
          <a:blipFill>
            <a:blip r:embed="rId2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b="1" dirty="0" smtClean="0"/>
              <a:t>deep fibular nerve</a:t>
            </a:r>
            <a:r>
              <a:rPr lang="en-US" sz="2800" dirty="0" smtClean="0"/>
              <a:t> innervates :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extensor digitorum brevis &amp; extensor hallucis brevis, and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supplies general sensory branches to the skin on the adjacent dorsal sides of the </a:t>
            </a:r>
            <a:r>
              <a:rPr lang="en-US" sz="2800" dirty="0" smtClean="0">
                <a:solidFill>
                  <a:srgbClr val="0000FF"/>
                </a:solidFill>
              </a:rPr>
              <a:t>first and second toes </a:t>
            </a:r>
            <a:r>
              <a:rPr lang="en-US" sz="2800" dirty="0" smtClean="0"/>
              <a:t>and to the web space between them.</a:t>
            </a:r>
            <a:endParaRPr lang="en-US" sz="28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748337" y="1857375"/>
            <a:ext cx="2120900" cy="37528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            Cutaneous innervation of the foot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C399-C5B9-446E-93AB-A29F9E74D1E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8" y="1371600"/>
            <a:ext cx="4434844" cy="4800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935662" y="2720975"/>
            <a:ext cx="1746250" cy="20256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868362"/>
          </a:xfr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 smtClean="0"/>
              <a:t>                 ARCHES OF THE FOOT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B82-3C73-45BE-A476-2A4CC3CD0C4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4434840" cy="50292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800" dirty="0" smtClean="0"/>
              <a:t>The bones of the foot do not lie in a horizontal plane.</a:t>
            </a:r>
            <a:endParaRPr lang="en-US" sz="2800" dirty="0" smtClean="0"/>
          </a:p>
          <a:p>
            <a:r>
              <a:rPr lang="en-US" sz="2800" dirty="0" smtClean="0"/>
              <a:t>There are longitudinal and transverse arches which </a:t>
            </a:r>
            <a:r>
              <a:rPr lang="en-US" sz="2800" b="1" dirty="0" smtClean="0">
                <a:solidFill>
                  <a:srgbClr val="FF0000"/>
                </a:solidFill>
              </a:rPr>
              <a:t>absorb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rgbClr val="FF0000"/>
                </a:solidFill>
              </a:rPr>
              <a:t>distribute</a:t>
            </a:r>
            <a:r>
              <a:rPr lang="en-US" sz="2800" dirty="0" smtClean="0"/>
              <a:t> downward forces from the body during standing and moving on different surfaces</a:t>
            </a:r>
            <a:endParaRPr lang="en-US" sz="28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827712" y="2273300"/>
            <a:ext cx="1962150" cy="2921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83820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 smtClean="0"/>
              <a:t>                 THE LONGITUDINAL ARCH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AFD-B08F-4650-ABF3-29397B6D7E8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91000" cy="52578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 smtClean="0"/>
              <a:t>The longitudinal arch is formed between the posterior end of the </a:t>
            </a:r>
            <a:r>
              <a:rPr lang="en-US" sz="2800" dirty="0" err="1" smtClean="0">
                <a:solidFill>
                  <a:srgbClr val="0000FF"/>
                </a:solidFill>
              </a:rPr>
              <a:t>calcaneus</a:t>
            </a:r>
            <a:r>
              <a:rPr lang="en-US" sz="2800" dirty="0" smtClean="0">
                <a:solidFill>
                  <a:srgbClr val="0000FF"/>
                </a:solidFill>
              </a:rPr>
              <a:t> </a:t>
            </a:r>
            <a:r>
              <a:rPr lang="en-US" sz="2800" dirty="0" smtClean="0"/>
              <a:t>and the heads of the </a:t>
            </a:r>
            <a:r>
              <a:rPr lang="en-US" sz="2800" dirty="0" smtClean="0">
                <a:solidFill>
                  <a:srgbClr val="0000FF"/>
                </a:solidFill>
              </a:rPr>
              <a:t>metatarsals</a:t>
            </a:r>
            <a:endParaRPr lang="en-US" sz="2800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 It is </a:t>
            </a:r>
            <a:r>
              <a:rPr lang="en-US" sz="2800" dirty="0" smtClean="0">
                <a:solidFill>
                  <a:srgbClr val="0000FF"/>
                </a:solidFill>
              </a:rPr>
              <a:t>highes</a:t>
            </a:r>
            <a:r>
              <a:rPr lang="en-US" sz="2800" dirty="0" smtClean="0"/>
              <a:t>t on the </a:t>
            </a:r>
            <a:r>
              <a:rPr lang="en-US" sz="2800" dirty="0" smtClean="0">
                <a:solidFill>
                  <a:srgbClr val="0000FF"/>
                </a:solidFill>
              </a:rPr>
              <a:t>medial side </a:t>
            </a:r>
            <a:r>
              <a:rPr lang="en-US" sz="2800" dirty="0" smtClean="0"/>
              <a:t>and </a:t>
            </a:r>
            <a:r>
              <a:rPr lang="en-US" sz="2800" dirty="0" smtClean="0">
                <a:solidFill>
                  <a:srgbClr val="0000FF"/>
                </a:solidFill>
              </a:rPr>
              <a:t>lowest </a:t>
            </a:r>
            <a:r>
              <a:rPr lang="en-US" sz="2800" dirty="0" smtClean="0"/>
              <a:t>on the </a:t>
            </a:r>
            <a:r>
              <a:rPr lang="en-US" sz="2800" dirty="0" smtClean="0">
                <a:solidFill>
                  <a:srgbClr val="0000FF"/>
                </a:solidFill>
              </a:rPr>
              <a:t>lateral side</a:t>
            </a:r>
            <a:endParaRPr lang="en-US" sz="28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630862" y="3067050"/>
            <a:ext cx="2355850" cy="133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 smtClean="0"/>
              <a:t>            THE  TRANSVERSE  ARCH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AF0E-1D22-46AE-9FA1-20782250DB8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4191000" cy="51816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2800" dirty="0" smtClean="0"/>
              <a:t>is </a:t>
            </a:r>
            <a:r>
              <a:rPr lang="en-US" sz="2800" dirty="0" smtClean="0">
                <a:solidFill>
                  <a:srgbClr val="0000FF"/>
                </a:solidFill>
              </a:rPr>
              <a:t>highest</a:t>
            </a:r>
            <a:r>
              <a:rPr lang="en-US" sz="2800" dirty="0" smtClean="0"/>
              <a:t> in a </a:t>
            </a:r>
            <a:r>
              <a:rPr lang="en-US" sz="2800" dirty="0" smtClean="0">
                <a:solidFill>
                  <a:srgbClr val="0000FF"/>
                </a:solidFill>
              </a:rPr>
              <a:t>coronal plane </a:t>
            </a:r>
            <a:r>
              <a:rPr lang="en-US" sz="2800" dirty="0" smtClean="0"/>
              <a:t>that cuts through the head of the talus</a:t>
            </a:r>
            <a:endParaRPr lang="en-US" sz="2800" dirty="0" smtClean="0"/>
          </a:p>
          <a:p>
            <a:r>
              <a:rPr lang="en-US" sz="2800" dirty="0" smtClean="0">
                <a:solidFill>
                  <a:srgbClr val="0000FF"/>
                </a:solidFill>
              </a:rPr>
              <a:t>Disappears</a:t>
            </a:r>
            <a:r>
              <a:rPr lang="en-US" sz="2800" dirty="0" smtClean="0"/>
              <a:t> near the </a:t>
            </a:r>
            <a:r>
              <a:rPr lang="en-US" sz="2800" dirty="0" smtClean="0">
                <a:solidFill>
                  <a:srgbClr val="0000FF"/>
                </a:solidFill>
              </a:rPr>
              <a:t>heads of the metatarsals </a:t>
            </a:r>
            <a:r>
              <a:rPr lang="en-US" sz="2800" dirty="0" smtClean="0"/>
              <a:t>where these bones are held together by the deep transverse metatarsal  ligaments</a:t>
            </a:r>
            <a:endParaRPr lang="en-US" sz="2800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86437" y="2990850"/>
            <a:ext cx="2044700" cy="14859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             SUPPORTS OF THE ARCH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F14E-7338-426C-B464-9E116214EF5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610600" cy="525780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  Ligaments and muscles support the arches of the foot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ligaments that support the arches include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plantar </a:t>
            </a:r>
            <a:r>
              <a:rPr lang="en-US" sz="2800" dirty="0" err="1" smtClean="0"/>
              <a:t>calcaneonavicular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 plantar </a:t>
            </a:r>
            <a:r>
              <a:rPr lang="en-US" sz="2800" dirty="0" err="1" smtClean="0"/>
              <a:t>calcaneocuboid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long plantar ligaments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 the plantar aponeurosis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Muscles that provide dynamic support for the arches during walking include 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the tibialis anterior and posterior, and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 smtClean="0"/>
              <a:t> the fibularis longus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0" y="228600"/>
            <a:ext cx="6763551" cy="6217920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9854E-6379-47AE-A9A3-F524D517562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868362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/>
              <a:t>          Hallux Valgus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3E69-E045-43D6-B5C2-BF802B00894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524000"/>
            <a:ext cx="3749040" cy="4572000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/>
              <a:t>is a foot deformity caused by pressure from footwear and degenerative joint disease; it is characterized by lateral deviation of the great toe.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830887" y="2974975"/>
            <a:ext cx="1955800" cy="151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r>
              <a:rPr lang="en-US" dirty="0" smtClean="0"/>
              <a:t>       </a:t>
            </a:r>
            <a:r>
              <a:rPr lang="en-US" dirty="0" err="1" smtClean="0"/>
              <a:t>Pes</a:t>
            </a:r>
            <a:r>
              <a:rPr lang="en-US" dirty="0" smtClean="0"/>
              <a:t> </a:t>
            </a:r>
            <a:r>
              <a:rPr lang="en-US" dirty="0" err="1" smtClean="0"/>
              <a:t>Planus</a:t>
            </a:r>
            <a:r>
              <a:rPr lang="en-US" dirty="0" smtClean="0"/>
              <a:t> (Flatfeet)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290B-58F5-4B6C-B791-44E39CBF040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3749040" cy="4572000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/>
              <a:t>Acquired flatfeet are likely to be secondary to dysfunction of the tibialis posterior owing to trauma, degeneration with age, or denervation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6081712" y="2444750"/>
            <a:ext cx="145415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762000"/>
          </a:xfrm>
          <a:blipFill>
            <a:blip r:embed="rId1" cstate="print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      JOINTS OF THE LOWER LIMB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448-67FE-4D2F-B9AD-8095197B853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4572000" cy="5486400"/>
          </a:xfrm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BankGothic Lt BT" pitchFamily="34" charset="0"/>
              </a:rPr>
              <a:t>            HIP JOINT</a:t>
            </a:r>
            <a:endParaRPr lang="en-US" b="1" dirty="0" smtClean="0">
              <a:solidFill>
                <a:srgbClr val="FF0000"/>
              </a:solidFill>
              <a:latin typeface="BankGothic Lt BT" pitchFamily="34" charset="0"/>
            </a:endParaRPr>
          </a:p>
          <a:p>
            <a:r>
              <a:rPr lang="en-US" dirty="0" smtClean="0"/>
              <a:t>It is a strong, largest and stable multiaxial ball and socket type of synovial joint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 smtClean="0">
                <a:solidFill>
                  <a:srgbClr val="FF0000"/>
                </a:solidFill>
              </a:rPr>
              <a:t>Articular Surfaces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r>
              <a:rPr lang="en-US" sz="2200" dirty="0" smtClean="0"/>
              <a:t>The head of the femur articulates with the cup-like acetabulum of the hip bone</a:t>
            </a:r>
            <a:endParaRPr lang="en-US" sz="2200" dirty="0" smtClean="0"/>
          </a:p>
          <a:p>
            <a:r>
              <a:rPr lang="en-US" sz="2800" dirty="0" smtClean="0"/>
              <a:t>Joint capsule </a:t>
            </a:r>
            <a:endParaRPr lang="en-US" sz="2800" dirty="0" smtClean="0"/>
          </a:p>
          <a:p>
            <a:pPr lvl="1"/>
            <a:r>
              <a:rPr lang="en-US" dirty="0" smtClean="0"/>
              <a:t>attached proximally to the margins of the acetabulum and to the transverse </a:t>
            </a:r>
            <a:r>
              <a:rPr lang="en-US" dirty="0" err="1" smtClean="0"/>
              <a:t>acetabular</a:t>
            </a:r>
            <a:r>
              <a:rPr lang="en-US" dirty="0" smtClean="0"/>
              <a:t> ligament</a:t>
            </a:r>
            <a:endParaRPr lang="en-US" dirty="0" smtClean="0"/>
          </a:p>
          <a:p>
            <a:pPr lvl="1"/>
            <a:r>
              <a:rPr lang="en-US" dirty="0" smtClean="0"/>
              <a:t>Distally, it is attached to the femoral neck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rgbClr val="FF0000"/>
                </a:solidFill>
              </a:rPr>
              <a:t>The hip joint is reinforced 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</a:rPr>
              <a:t>Anteriorly and superiorly </a:t>
            </a:r>
            <a:r>
              <a:rPr lang="en-US" sz="2000" b="1" dirty="0" smtClean="0"/>
              <a:t>by the strong Y-shaped </a:t>
            </a:r>
            <a:r>
              <a:rPr lang="en-US" sz="2000" b="1" dirty="0" smtClean="0">
                <a:solidFill>
                  <a:srgbClr val="0000FF"/>
                </a:solidFill>
              </a:rPr>
              <a:t>iliofemoral ligament :- </a:t>
            </a:r>
            <a:r>
              <a:rPr lang="en-US" sz="2000" b="1" dirty="0" smtClean="0"/>
              <a:t>prevents hyperextension of the hip joint during  standing </a:t>
            </a:r>
            <a:endParaRPr lang="en-US" sz="2000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</a:rPr>
              <a:t>Inferiorly and anteriorly </a:t>
            </a:r>
            <a:r>
              <a:rPr lang="en-US" sz="2000" b="1" dirty="0" smtClean="0"/>
              <a:t>by the </a:t>
            </a:r>
            <a:r>
              <a:rPr lang="en-US" sz="2000" b="1" dirty="0" smtClean="0">
                <a:solidFill>
                  <a:srgbClr val="0000FF"/>
                </a:solidFill>
              </a:rPr>
              <a:t>pubofemoral ligament</a:t>
            </a:r>
            <a:endParaRPr lang="en-US" sz="2000" b="1" dirty="0" smtClean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FF0000"/>
                </a:solidFill>
              </a:rPr>
              <a:t>Posteriorly </a:t>
            </a:r>
            <a:r>
              <a:rPr lang="en-US" sz="2000" b="1" dirty="0" smtClean="0"/>
              <a:t>by the weak </a:t>
            </a:r>
            <a:r>
              <a:rPr lang="en-US" sz="2000" b="1" dirty="0" err="1" smtClean="0">
                <a:solidFill>
                  <a:srgbClr val="0000FF"/>
                </a:solidFill>
              </a:rPr>
              <a:t>ischiofemoral</a:t>
            </a:r>
            <a:r>
              <a:rPr lang="en-US" sz="2000" b="1" dirty="0" smtClean="0">
                <a:solidFill>
                  <a:srgbClr val="0000FF"/>
                </a:solidFill>
              </a:rPr>
              <a:t> ligament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554662" y="2517775"/>
            <a:ext cx="2508250" cy="24320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928D-9B7A-4626-9B53-A8C99BDCB61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719-05E9-40C9-A74F-FA11B3D4F543}" type="slidenum">
              <a:rPr lang="en-US"/>
            </a:fld>
            <a:endParaRPr 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28600"/>
            <a:ext cx="8229600" cy="5867400"/>
          </a:xfrm>
        </p:spPr>
        <p:txBody>
          <a:bodyPr/>
          <a:lstStyle/>
          <a:p>
            <a:r>
              <a:rPr lang="en-US" dirty="0"/>
              <a:t>Blood supply of the hip joint</a:t>
            </a:r>
            <a:r>
              <a:rPr lang="en-US" b="1" dirty="0"/>
              <a:t> 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Medial and Lateral femoral circumflex artery </a:t>
            </a:r>
            <a:endParaRPr lang="en-US" dirty="0"/>
          </a:p>
          <a:p>
            <a:pPr lvl="1"/>
            <a:r>
              <a:rPr lang="en-US" dirty="0" smtClean="0"/>
              <a:t>Obturator </a:t>
            </a:r>
            <a:r>
              <a:rPr lang="en-US" dirty="0"/>
              <a:t>artery </a:t>
            </a:r>
            <a:endParaRPr lang="en-US" dirty="0"/>
          </a:p>
          <a:p>
            <a:pPr lvl="1"/>
            <a:r>
              <a:rPr lang="en-US" dirty="0"/>
              <a:t>Inferior gluteal artery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2209800"/>
            <a:ext cx="9144000" cy="4413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A615-578B-4D81-80D1-54921D22CB6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1949-9C31-4E25-8337-CA31E47F49D8}" type="slidenum">
              <a:rPr lang="en-US"/>
            </a:fld>
            <a:endParaRPr lang="en-US"/>
          </a:p>
        </p:txBody>
      </p:sp>
      <p:sp>
        <p:nvSpPr>
          <p:cNvPr id="388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28600"/>
            <a:ext cx="8229600" cy="5867400"/>
          </a:xfrm>
        </p:spPr>
        <p:txBody>
          <a:bodyPr/>
          <a:lstStyle/>
          <a:p>
            <a:r>
              <a:rPr lang="en-US" dirty="0"/>
              <a:t>Nerve supply of the hip joint</a:t>
            </a:r>
            <a:endParaRPr lang="en-US" dirty="0"/>
          </a:p>
          <a:p>
            <a:pPr lvl="1"/>
            <a:r>
              <a:rPr lang="en-US" dirty="0"/>
              <a:t>Femoral nerve (by the branch to rectus </a:t>
            </a:r>
            <a:r>
              <a:rPr lang="en-US" dirty="0" err="1"/>
              <a:t>femoris</a:t>
            </a:r>
            <a:r>
              <a:rPr lang="en-US" dirty="0"/>
              <a:t>) </a:t>
            </a:r>
            <a:endParaRPr lang="en-US" dirty="0"/>
          </a:p>
          <a:p>
            <a:pPr lvl="1"/>
            <a:r>
              <a:rPr lang="en-US" dirty="0"/>
              <a:t>Obturator nerve </a:t>
            </a:r>
            <a:endParaRPr lang="en-US" dirty="0"/>
          </a:p>
          <a:p>
            <a:pPr lvl="1"/>
            <a:r>
              <a:rPr lang="en-US" dirty="0"/>
              <a:t>Nerve to quadratus </a:t>
            </a:r>
            <a:r>
              <a:rPr lang="en-US" dirty="0" err="1"/>
              <a:t>femoris</a:t>
            </a:r>
            <a:endParaRPr lang="en-US" dirty="0"/>
          </a:p>
          <a:p>
            <a:pPr lvl="1"/>
            <a:r>
              <a:rPr lang="en-US" dirty="0"/>
              <a:t>Superior gluteal nerve</a:t>
            </a:r>
            <a:endParaRPr lang="en-US" dirty="0"/>
          </a:p>
          <a:p>
            <a:r>
              <a:rPr lang="en-US" dirty="0" smtClean="0"/>
              <a:t>Movements of the hip joint</a:t>
            </a:r>
            <a:r>
              <a:rPr lang="en-US" b="1" dirty="0" smtClean="0"/>
              <a:t> </a:t>
            </a:r>
            <a:endParaRPr lang="en-US" dirty="0" smtClean="0"/>
          </a:p>
          <a:p>
            <a:pPr lvl="1"/>
            <a:r>
              <a:rPr lang="en-US" dirty="0" smtClean="0"/>
              <a:t>Flexion</a:t>
            </a:r>
            <a:endParaRPr lang="en-US" dirty="0" smtClean="0"/>
          </a:p>
          <a:p>
            <a:pPr lvl="1"/>
            <a:r>
              <a:rPr lang="en-US" dirty="0" smtClean="0"/>
              <a:t>Extension</a:t>
            </a:r>
            <a:endParaRPr lang="en-US" dirty="0" smtClean="0"/>
          </a:p>
          <a:p>
            <a:pPr lvl="1"/>
            <a:r>
              <a:rPr lang="en-US" dirty="0" smtClean="0"/>
              <a:t>Abduction</a:t>
            </a:r>
            <a:endParaRPr lang="en-US" dirty="0" smtClean="0"/>
          </a:p>
          <a:p>
            <a:pPr lvl="1"/>
            <a:r>
              <a:rPr lang="en-US" dirty="0" smtClean="0"/>
              <a:t>Adduction</a:t>
            </a:r>
            <a:endParaRPr lang="en-US" dirty="0" smtClean="0"/>
          </a:p>
          <a:p>
            <a:pPr lvl="1"/>
            <a:r>
              <a:rPr lang="en-US" dirty="0" smtClean="0"/>
              <a:t>Medial and lateral rotation</a:t>
            </a:r>
            <a:endParaRPr lang="en-US" dirty="0" smtClean="0"/>
          </a:p>
          <a:p>
            <a:pPr lvl="1"/>
            <a:r>
              <a:rPr lang="en-US" dirty="0" smtClean="0"/>
              <a:t>Circumduction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" y="0"/>
            <a:ext cx="8763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003D-49E2-48EF-9917-DED474E8062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blipFill>
            <a:blip r:embed="rId1" cstate="print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                       </a:t>
            </a:r>
            <a:r>
              <a:rPr lang="en-US" dirty="0" smtClean="0">
                <a:solidFill>
                  <a:schemeClr val="tx1"/>
                </a:solidFill>
              </a:rPr>
              <a:t>JOINTS CONT…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99C15-6980-4700-9EB2-612361156AE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4343400" cy="5486400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500" dirty="0" smtClean="0">
                <a:solidFill>
                  <a:srgbClr val="FF0000"/>
                </a:solidFill>
                <a:latin typeface="BankGothic Lt BT" pitchFamily="34" charset="0"/>
              </a:rPr>
              <a:t>2.KNEE JOINT</a:t>
            </a:r>
            <a:endParaRPr lang="en-US" sz="3500" dirty="0" smtClean="0">
              <a:solidFill>
                <a:srgbClr val="FF0000"/>
              </a:solidFill>
              <a:latin typeface="BankGothic Lt BT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 smtClean="0"/>
              <a:t>Hinge type of synovial joint </a:t>
            </a:r>
            <a:endParaRPr lang="en-US" sz="3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 smtClean="0"/>
              <a:t>Movement:- </a:t>
            </a:r>
            <a:r>
              <a:rPr lang="en-US" dirty="0" smtClean="0"/>
              <a:t>flexion and extension</a:t>
            </a:r>
            <a:endParaRPr lang="en-US" sz="3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 smtClean="0"/>
              <a:t>The articular surfaces</a:t>
            </a:r>
            <a:endParaRPr lang="en-US" sz="3000" dirty="0" smtClean="0"/>
          </a:p>
          <a:p>
            <a:pPr>
              <a:buNone/>
            </a:pPr>
            <a:r>
              <a:rPr lang="en-US" sz="3000" b="1" dirty="0" smtClean="0">
                <a:solidFill>
                  <a:srgbClr val="FF0000"/>
                </a:solidFill>
              </a:rPr>
              <a:t>    three articulations:</a:t>
            </a:r>
            <a:endParaRPr lang="en-US" sz="3000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00FF"/>
                </a:solidFill>
              </a:rPr>
              <a:t>Two femorotibial </a:t>
            </a:r>
            <a:r>
              <a:rPr lang="en-US" dirty="0" smtClean="0"/>
              <a:t>articulations, between the lateral and the medial femoral and </a:t>
            </a:r>
            <a:r>
              <a:rPr lang="en-US" dirty="0" err="1" smtClean="0"/>
              <a:t>tibial</a:t>
            </a:r>
            <a:r>
              <a:rPr lang="en-US" dirty="0" smtClean="0"/>
              <a:t> condyles</a:t>
            </a:r>
            <a:endParaRPr lang="en-US" dirty="0" smtClean="0"/>
          </a:p>
          <a:p>
            <a:r>
              <a:rPr lang="en-US" b="1" dirty="0" smtClean="0">
                <a:solidFill>
                  <a:srgbClr val="0000FF"/>
                </a:solidFill>
              </a:rPr>
              <a:t>One intermediate femoropatellar </a:t>
            </a:r>
            <a:r>
              <a:rPr lang="en-US" dirty="0" smtClean="0"/>
              <a:t>articulation between the patella and the femur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1" y="1905000"/>
            <a:ext cx="4495799" cy="40211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A239D-177C-4925-A028-654CBF5E921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5F928-80AF-4189-B721-F2D861165384}" type="slidenum">
              <a:rPr lang="en-US"/>
            </a:fld>
            <a:endParaRPr lang="en-US"/>
          </a:p>
        </p:txBody>
      </p:sp>
      <p:sp>
        <p:nvSpPr>
          <p:cNvPr id="393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381000"/>
            <a:ext cx="8458200" cy="6172200"/>
          </a:xfrm>
        </p:spPr>
        <p:txBody>
          <a:bodyPr/>
          <a:lstStyle/>
          <a:p>
            <a:r>
              <a:rPr lang="en-US" b="1" dirty="0"/>
              <a:t>Ligaments of the knee</a:t>
            </a:r>
            <a:endParaRPr lang="en-US" b="1" dirty="0"/>
          </a:p>
          <a:p>
            <a:pPr lvl="1"/>
            <a:r>
              <a:rPr lang="en-US" dirty="0" smtClean="0"/>
              <a:t>Tibial </a:t>
            </a:r>
            <a:r>
              <a:rPr lang="en-US" dirty="0"/>
              <a:t>(medial) collateral </a:t>
            </a:r>
            <a:r>
              <a:rPr lang="en-US" dirty="0" smtClean="0"/>
              <a:t>ligament</a:t>
            </a:r>
            <a:endParaRPr lang="en-US" dirty="0"/>
          </a:p>
          <a:p>
            <a:pPr lvl="1"/>
            <a:r>
              <a:rPr lang="en-US" dirty="0" smtClean="0"/>
              <a:t>Fibular </a:t>
            </a:r>
            <a:r>
              <a:rPr lang="en-US" dirty="0"/>
              <a:t>(lateral) collateral ligament </a:t>
            </a:r>
            <a:r>
              <a:rPr lang="en-US" dirty="0" smtClean="0"/>
              <a:t> </a:t>
            </a:r>
            <a:endParaRPr lang="en-US" dirty="0" smtClean="0"/>
          </a:p>
          <a:p>
            <a:pPr lvl="1"/>
            <a:r>
              <a:rPr lang="en-US" dirty="0" smtClean="0"/>
              <a:t>Anterior </a:t>
            </a:r>
            <a:r>
              <a:rPr lang="en-US" dirty="0" err="1" smtClean="0"/>
              <a:t>cruciate</a:t>
            </a:r>
            <a:r>
              <a:rPr lang="en-US" dirty="0" smtClean="0"/>
              <a:t> ligament</a:t>
            </a:r>
            <a:endParaRPr lang="en-US" dirty="0" smtClean="0"/>
          </a:p>
          <a:p>
            <a:pPr lvl="1"/>
            <a:r>
              <a:rPr lang="en-US" dirty="0" smtClean="0"/>
              <a:t>Posterior </a:t>
            </a:r>
            <a:r>
              <a:rPr lang="en-US" dirty="0" err="1" smtClean="0"/>
              <a:t>cruciate</a:t>
            </a:r>
            <a:r>
              <a:rPr lang="en-US" dirty="0" smtClean="0"/>
              <a:t> ligament</a:t>
            </a:r>
            <a:endParaRPr lang="en-US" dirty="0" smtClean="0"/>
          </a:p>
          <a:p>
            <a:pPr lvl="1"/>
            <a:r>
              <a:rPr lang="en-US" dirty="0" smtClean="0"/>
              <a:t>Patellar ligament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28800" y="2819400"/>
            <a:ext cx="642333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" y="304800"/>
            <a:ext cx="89916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FF20-4D0A-4A66-81AA-03A2F27832B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FC07A-36A5-49B2-9E58-48D229450A1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E1B42-2053-43EC-87E3-5212D7479134}" type="slidenum">
              <a:rPr lang="en-US"/>
            </a:fld>
            <a:endParaRPr lang="en-US"/>
          </a:p>
        </p:txBody>
      </p:sp>
      <p:sp>
        <p:nvSpPr>
          <p:cNvPr id="396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381000"/>
            <a:ext cx="8534400" cy="6248400"/>
          </a:xfrm>
        </p:spPr>
        <p:txBody>
          <a:bodyPr>
            <a:normAutofit/>
          </a:bodyPr>
          <a:lstStyle/>
          <a:p>
            <a:r>
              <a:rPr lang="en-US" b="1" dirty="0"/>
              <a:t>Blood supply of the knee joint</a:t>
            </a:r>
            <a:endParaRPr lang="en-US" dirty="0"/>
          </a:p>
          <a:p>
            <a:pPr lvl="1"/>
            <a:r>
              <a:rPr lang="en-US" dirty="0"/>
              <a:t>Vessels form </a:t>
            </a:r>
            <a:r>
              <a:rPr lang="en-US" dirty="0" err="1"/>
              <a:t>genicular</a:t>
            </a:r>
            <a:r>
              <a:rPr lang="en-US" dirty="0"/>
              <a:t> anastomosis around the knee</a:t>
            </a:r>
            <a:endParaRPr lang="en-US" dirty="0"/>
          </a:p>
          <a:p>
            <a:pPr lvl="1"/>
            <a:r>
              <a:rPr lang="en-US" dirty="0" err="1"/>
              <a:t>Genicular</a:t>
            </a:r>
            <a:r>
              <a:rPr lang="en-US" dirty="0"/>
              <a:t> branches of</a:t>
            </a:r>
            <a:endParaRPr lang="en-US" dirty="0"/>
          </a:p>
          <a:p>
            <a:pPr lvl="2"/>
            <a:r>
              <a:rPr lang="en-US" sz="2400" dirty="0"/>
              <a:t>Popliteal artery </a:t>
            </a:r>
            <a:endParaRPr lang="en-US" sz="2400" dirty="0"/>
          </a:p>
          <a:p>
            <a:pPr lvl="2"/>
            <a:r>
              <a:rPr lang="en-US" sz="2400" dirty="0"/>
              <a:t>Femoral artery</a:t>
            </a:r>
            <a:endParaRPr lang="en-US" sz="2400" dirty="0"/>
          </a:p>
          <a:p>
            <a:pPr lvl="2"/>
            <a:r>
              <a:rPr lang="en-US" sz="2400" dirty="0"/>
              <a:t>Anterior </a:t>
            </a:r>
            <a:r>
              <a:rPr lang="en-US" sz="2400" dirty="0" err="1"/>
              <a:t>tibial</a:t>
            </a:r>
            <a:r>
              <a:rPr lang="en-US" sz="2400" dirty="0"/>
              <a:t> recurrent artery </a:t>
            </a:r>
            <a:endParaRPr lang="en-US" sz="2400" dirty="0"/>
          </a:p>
          <a:p>
            <a:pPr lvl="2"/>
            <a:r>
              <a:rPr lang="en-US" sz="2400" dirty="0"/>
              <a:t>Circumflex fibular artery</a:t>
            </a:r>
            <a:endParaRPr lang="en-US" sz="2400" dirty="0"/>
          </a:p>
          <a:p>
            <a:r>
              <a:rPr lang="en-US" b="1" dirty="0" smtClean="0"/>
              <a:t>The nerve supply  </a:t>
            </a:r>
            <a:endParaRPr lang="en-US" dirty="0" smtClean="0"/>
          </a:p>
          <a:p>
            <a:pPr lvl="1"/>
            <a:r>
              <a:rPr lang="en-US" dirty="0" smtClean="0"/>
              <a:t>Articular branches from</a:t>
            </a:r>
            <a:endParaRPr lang="en-US" dirty="0" smtClean="0"/>
          </a:p>
          <a:p>
            <a:pPr lvl="2"/>
            <a:r>
              <a:rPr lang="en-US" sz="2400" dirty="0" smtClean="0"/>
              <a:t>Femoral </a:t>
            </a:r>
            <a:endParaRPr lang="en-US" sz="2400" dirty="0" smtClean="0"/>
          </a:p>
          <a:p>
            <a:pPr lvl="2"/>
            <a:r>
              <a:rPr lang="en-US" sz="2400" dirty="0" smtClean="0"/>
              <a:t>Tibial</a:t>
            </a:r>
            <a:endParaRPr lang="en-US" sz="2400" dirty="0" smtClean="0"/>
          </a:p>
          <a:p>
            <a:pPr lvl="2"/>
            <a:r>
              <a:rPr lang="en-US" sz="2400" dirty="0" smtClean="0"/>
              <a:t>Common fibular</a:t>
            </a:r>
            <a:endParaRPr lang="en-US" sz="2400" dirty="0" smtClean="0"/>
          </a:p>
          <a:p>
            <a:pPr lvl="2"/>
            <a:r>
              <a:rPr lang="en-US" sz="2400" dirty="0" smtClean="0"/>
              <a:t>Saphenous </a:t>
            </a:r>
            <a:endParaRPr lang="en-US" sz="2400" dirty="0" smtClean="0"/>
          </a:p>
          <a:p>
            <a:pPr lvl="2">
              <a:buFont typeface="Wingdings" panose="05000000000000000000" pitchFamily="2" charset="2"/>
              <a:buNone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805680" y="1905000"/>
            <a:ext cx="4338320" cy="464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762000"/>
          </a:xfrm>
          <a:blipFill>
            <a:blip r:embed="rId1" cstate="print"/>
            <a:tile tx="0" ty="0" sx="100000" sy="100000" flip="none" algn="tl"/>
          </a:blip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                        JOINTS CONT…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F540-7E63-45AA-A02B-23F7A6087F6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839200" cy="5287963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en-US" sz="2400" b="1" dirty="0" smtClean="0"/>
              <a:t>3  </a:t>
            </a:r>
            <a:r>
              <a:rPr lang="en-US" sz="2400" b="1" dirty="0" smtClean="0">
                <a:solidFill>
                  <a:srgbClr val="FF0000"/>
                </a:solidFill>
                <a:latin typeface="BankGothic Lt BT" pitchFamily="34" charset="0"/>
              </a:rPr>
              <a:t>THE ANKLE JOINT</a:t>
            </a:r>
            <a:endParaRPr lang="en-US" sz="2400" b="1" dirty="0" smtClean="0">
              <a:solidFill>
                <a:srgbClr val="FF0000"/>
              </a:solidFill>
              <a:latin typeface="BankGothic Lt BT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Hinge synovial joint </a:t>
            </a:r>
            <a:endParaRPr lang="en-US" sz="2800" dirty="0" smtClean="0"/>
          </a:p>
          <a:p>
            <a:r>
              <a:rPr lang="en-US" sz="2800" dirty="0" smtClean="0"/>
              <a:t>Articulation:- </a:t>
            </a:r>
            <a:r>
              <a:rPr lang="en-US" sz="2400" b="1" dirty="0" smtClean="0">
                <a:solidFill>
                  <a:srgbClr val="0000FF"/>
                </a:solidFill>
              </a:rPr>
              <a:t>talus </a:t>
            </a:r>
            <a:r>
              <a:rPr lang="en-US" sz="2400" dirty="0" smtClean="0"/>
              <a:t>with distal end of </a:t>
            </a:r>
            <a:r>
              <a:rPr lang="en-US" sz="2400" b="1" dirty="0" smtClean="0">
                <a:solidFill>
                  <a:srgbClr val="0000FF"/>
                </a:solidFill>
              </a:rPr>
              <a:t>tibia</a:t>
            </a:r>
            <a:r>
              <a:rPr lang="en-US" sz="2400" dirty="0" smtClean="0"/>
              <a:t> and </a:t>
            </a:r>
            <a:r>
              <a:rPr lang="en-US" sz="2400" b="1" dirty="0" smtClean="0">
                <a:solidFill>
                  <a:srgbClr val="0000FF"/>
                </a:solidFill>
              </a:rPr>
              <a:t>fibula</a:t>
            </a:r>
            <a:r>
              <a:rPr lang="en-US" sz="2400" dirty="0" smtClean="0"/>
              <a:t> </a:t>
            </a:r>
            <a:endParaRPr lang="en-US" sz="2800" dirty="0" smtClean="0"/>
          </a:p>
          <a:p>
            <a:r>
              <a:rPr lang="en-US" sz="2800" dirty="0" smtClean="0"/>
              <a:t>Movements :- </a:t>
            </a:r>
            <a:r>
              <a:rPr lang="en-US" sz="2400" dirty="0" smtClean="0">
                <a:solidFill>
                  <a:srgbClr val="0000FF"/>
                </a:solidFill>
              </a:rPr>
              <a:t>dorsiflexion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0000FF"/>
                </a:solidFill>
              </a:rPr>
              <a:t>plantarflexion</a:t>
            </a:r>
            <a:r>
              <a:rPr lang="en-US" sz="2400" dirty="0" smtClean="0"/>
              <a:t> of the foot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7010400" cy="38824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621E-4300-407D-81F8-0402998DA50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1A32-7077-492A-9A5E-0F13739EBFBE}" type="slidenum">
              <a:rPr lang="en-US"/>
            </a:fld>
            <a:endParaRPr lang="en-US"/>
          </a:p>
        </p:txBody>
      </p:sp>
      <p:sp>
        <p:nvSpPr>
          <p:cNvPr id="552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457200"/>
            <a:ext cx="3886200" cy="6096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Ligaments of the ankle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Lateral ligament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Anterior </a:t>
            </a:r>
            <a:r>
              <a:rPr lang="en-US" dirty="0" err="1"/>
              <a:t>talofibular</a:t>
            </a:r>
            <a:r>
              <a:rPr lang="en-US" dirty="0"/>
              <a:t> ligament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Posterior </a:t>
            </a:r>
            <a:r>
              <a:rPr lang="en-US" dirty="0" err="1"/>
              <a:t>talofibular</a:t>
            </a:r>
            <a:r>
              <a:rPr lang="en-US" dirty="0"/>
              <a:t> ligament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 smtClean="0"/>
              <a:t>Calcanofibular</a:t>
            </a:r>
            <a:r>
              <a:rPr lang="en-US" dirty="0" smtClean="0"/>
              <a:t> </a:t>
            </a:r>
            <a:r>
              <a:rPr lang="en-US" dirty="0"/>
              <a:t>ligament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Medial </a:t>
            </a:r>
            <a:r>
              <a:rPr lang="en-US" dirty="0"/>
              <a:t>ligament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Blood supply </a:t>
            </a:r>
            <a:endParaRPr lang="en-US" sz="2800" dirty="0" smtClean="0"/>
          </a:p>
          <a:p>
            <a:pPr marL="1097280" lvl="1" indent="-457200"/>
            <a:r>
              <a:rPr lang="en-US" dirty="0" smtClean="0"/>
              <a:t>Anterior and posterior </a:t>
            </a:r>
            <a:r>
              <a:rPr lang="en-US" dirty="0" err="1" smtClean="0"/>
              <a:t>tibial</a:t>
            </a:r>
            <a:r>
              <a:rPr lang="en-US" dirty="0" smtClean="0"/>
              <a:t> arteries</a:t>
            </a:r>
            <a:endParaRPr lang="en-US" dirty="0" smtClean="0"/>
          </a:p>
          <a:p>
            <a:pPr marL="609600" indent="-60960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Nerve supply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990600" lvl="1" indent="-533400"/>
            <a:r>
              <a:rPr lang="en-US" dirty="0" smtClean="0"/>
              <a:t>derived from the deep </a:t>
            </a:r>
            <a:r>
              <a:rPr lang="en-US" dirty="0" err="1" smtClean="0"/>
              <a:t>peroneal</a:t>
            </a:r>
            <a:r>
              <a:rPr lang="en-US" dirty="0" smtClean="0"/>
              <a:t> and </a:t>
            </a:r>
            <a:r>
              <a:rPr lang="en-US" dirty="0" err="1" smtClean="0"/>
              <a:t>tibial</a:t>
            </a:r>
            <a:r>
              <a:rPr lang="en-US" dirty="0" smtClean="0"/>
              <a:t> nerves</a:t>
            </a:r>
            <a:endParaRPr lang="en-US" dirty="0" smtClean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14800" y="2667000"/>
            <a:ext cx="5257800" cy="39846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4312" y="304800"/>
            <a:ext cx="5766088" cy="6422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9C4-A225-4855-9180-F98D2365570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16E5-D532-4FB8-8D58-EFDA08066D5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40F72-C19D-43A0-8E39-BF4656DD64E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Peripheral pulses in the lower limb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Femoral pulse in the femoral triangle-femoral artery</a:t>
            </a:r>
            <a:endParaRPr lang="en-US" sz="2400" dirty="0" smtClean="0"/>
          </a:p>
          <a:p>
            <a:r>
              <a:rPr lang="en-US" sz="2400" dirty="0" smtClean="0"/>
              <a:t>Popliteal pulse in the popliteal fossa-popliteal artery</a:t>
            </a:r>
            <a:endParaRPr lang="en-US" sz="2400" dirty="0" smtClean="0"/>
          </a:p>
          <a:p>
            <a:r>
              <a:rPr lang="en-US" sz="2400" dirty="0" smtClean="0"/>
              <a:t>Posterior </a:t>
            </a:r>
            <a:r>
              <a:rPr lang="en-US" sz="2400" dirty="0" err="1" smtClean="0"/>
              <a:t>tibial</a:t>
            </a:r>
            <a:r>
              <a:rPr lang="en-US" sz="2400" dirty="0" smtClean="0"/>
              <a:t> pulse in the 'tarsal tunnel'-posterior </a:t>
            </a:r>
            <a:r>
              <a:rPr lang="en-US" sz="2400" dirty="0" err="1" smtClean="0"/>
              <a:t>tibial</a:t>
            </a:r>
            <a:r>
              <a:rPr lang="en-US" sz="2400" dirty="0" smtClean="0"/>
              <a:t> artery</a:t>
            </a:r>
            <a:endParaRPr lang="en-US" sz="2400" dirty="0" smtClean="0"/>
          </a:p>
          <a:p>
            <a:r>
              <a:rPr lang="en-US" sz="2400" dirty="0" err="1" smtClean="0"/>
              <a:t>Dorsalis</a:t>
            </a:r>
            <a:r>
              <a:rPr lang="en-US" sz="2400" dirty="0" smtClean="0"/>
              <a:t> </a:t>
            </a:r>
            <a:r>
              <a:rPr lang="en-US" sz="2400" dirty="0" err="1" smtClean="0"/>
              <a:t>pedis</a:t>
            </a:r>
            <a:r>
              <a:rPr lang="en-US" sz="2400" dirty="0" smtClean="0"/>
              <a:t> pulse on the dorsal aspect of the foot-</a:t>
            </a:r>
            <a:r>
              <a:rPr lang="en-US" sz="2400" dirty="0" err="1" smtClean="0"/>
              <a:t>dorsalis</a:t>
            </a:r>
            <a:r>
              <a:rPr lang="en-US" sz="2400" dirty="0" smtClean="0"/>
              <a:t> </a:t>
            </a:r>
            <a:r>
              <a:rPr lang="en-US" sz="2400" dirty="0" err="1" smtClean="0"/>
              <a:t>pedis</a:t>
            </a:r>
            <a:r>
              <a:rPr lang="en-US" sz="2400" dirty="0" smtClean="0"/>
              <a:t> artery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24709</Words>
  <Application>WPS Presentation</Application>
  <PresentationFormat>On-screen Show (4:3)</PresentationFormat>
  <Paragraphs>1332</Paragraphs>
  <Slides>81</Slides>
  <Notes>94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3" baseType="lpstr">
      <vt:lpstr>Arial</vt:lpstr>
      <vt:lpstr>SimSun</vt:lpstr>
      <vt:lpstr>Wingdings</vt:lpstr>
      <vt:lpstr>Wingdings 2</vt:lpstr>
      <vt:lpstr>Times New Roman</vt:lpstr>
      <vt:lpstr>Microsoft YaHei</vt:lpstr>
      <vt:lpstr>Arial Unicode MS</vt:lpstr>
      <vt:lpstr>Calibri</vt:lpstr>
      <vt:lpstr>BankGothic Lt BT</vt:lpstr>
      <vt:lpstr>Ethiopic Addis</vt:lpstr>
      <vt:lpstr>Courier New</vt:lpstr>
      <vt:lpstr>Equity</vt:lpstr>
      <vt:lpstr>                      NERVES</vt:lpstr>
      <vt:lpstr>                           NERVE</vt:lpstr>
      <vt:lpstr>Vasculature of Gluteal Region and Posterior Thigh</vt:lpstr>
      <vt:lpstr>PowerPoint 演示文稿</vt:lpstr>
      <vt:lpstr>       Nerves of Gluteal Region and Posterior Thigh</vt:lpstr>
      <vt:lpstr>PowerPoint 演示文稿</vt:lpstr>
      <vt:lpstr>PowerPoint 演示文稿</vt:lpstr>
      <vt:lpstr>PowerPoint 演示文稿</vt:lpstr>
      <vt:lpstr>              THE POPLITEAL FOSSA</vt:lpstr>
      <vt:lpstr>PowerPoint 演示文稿</vt:lpstr>
      <vt:lpstr>             THE POPLITEAL FOSSA</vt:lpstr>
      <vt:lpstr>Popliteal artery</vt:lpstr>
      <vt:lpstr>PowerPoint 演示文稿</vt:lpstr>
      <vt:lpstr>Popliteal vein</vt:lpstr>
      <vt:lpstr>PowerPoint 演示文稿</vt:lpstr>
      <vt:lpstr>PowerPoint 演示文稿</vt:lpstr>
      <vt:lpstr>                         THE LEG</vt:lpstr>
      <vt:lpstr>                           THE LEG</vt:lpstr>
      <vt:lpstr>               Anterior Compartment of Leg</vt:lpstr>
      <vt:lpstr>PowerPoint 演示文稿</vt:lpstr>
      <vt:lpstr>             Neurovasculature in the ant. Comp.</vt:lpstr>
      <vt:lpstr>        Neurovasculature in the ant. Comp.</vt:lpstr>
      <vt:lpstr>              Lateral compartment of Leg</vt:lpstr>
      <vt:lpstr>      Lateral compartment of Leg</vt:lpstr>
      <vt:lpstr>       Neurovasculature in the lat. Comp.</vt:lpstr>
      <vt:lpstr>          Posterior Compartment of Leg</vt:lpstr>
      <vt:lpstr>        The superficial group</vt:lpstr>
      <vt:lpstr>PowerPoint 演示文稿</vt:lpstr>
      <vt:lpstr>PowerPoint 演示文稿</vt:lpstr>
      <vt:lpstr>               THE DEEP GROUP</vt:lpstr>
      <vt:lpstr>PowerPoint 演示文稿</vt:lpstr>
      <vt:lpstr>                  Blood vessel and nerves</vt:lpstr>
      <vt:lpstr>        Neurovasculature in the pot. Comp</vt:lpstr>
      <vt:lpstr>PowerPoint 演示文稿</vt:lpstr>
      <vt:lpstr>PowerPoint 演示文稿</vt:lpstr>
      <vt:lpstr>PowerPoint 演示文稿</vt:lpstr>
      <vt:lpstr>Injury to common fibular nerve</vt:lpstr>
      <vt:lpstr>PowerPoint 演示文稿</vt:lpstr>
      <vt:lpstr>PowerPoint 演示文稿</vt:lpstr>
      <vt:lpstr>                 THE FOOT</vt:lpstr>
      <vt:lpstr>PowerPoint 演示文稿</vt:lpstr>
      <vt:lpstr>PowerPoint 演示文稿</vt:lpstr>
      <vt:lpstr>             INTRINSIC MUSCLES OF THE FOOT</vt:lpstr>
      <vt:lpstr>PowerPoint 演示文稿</vt:lpstr>
      <vt:lpstr>        MUSCLES IN THE SOLE</vt:lpstr>
      <vt:lpstr>              FIRST LAYER</vt:lpstr>
      <vt:lpstr>PowerPoint 演示文稿</vt:lpstr>
      <vt:lpstr>                       SECOND LAYER</vt:lpstr>
      <vt:lpstr>PowerPoint 演示文稿</vt:lpstr>
      <vt:lpstr>                       THIRD LAYER</vt:lpstr>
      <vt:lpstr>PowerPoint 演示文稿</vt:lpstr>
      <vt:lpstr>                      FOURTH LAYER</vt:lpstr>
      <vt:lpstr>PowerPoint 演示文稿</vt:lpstr>
      <vt:lpstr>PowerPoint 演示文稿</vt:lpstr>
      <vt:lpstr>            ARTERIES OF THE FOOT</vt:lpstr>
      <vt:lpstr>              ARTERIES OF THE FOOT</vt:lpstr>
      <vt:lpstr>PowerPoint 演示文稿</vt:lpstr>
      <vt:lpstr>             VEINS OF THE FOOT</vt:lpstr>
      <vt:lpstr>             NERVES OF  THE FOOT</vt:lpstr>
      <vt:lpstr>           NERVES OF THE FOOT</vt:lpstr>
      <vt:lpstr>                 NERVES OF THE FOOT </vt:lpstr>
      <vt:lpstr>             Cutaneous innervation of the foot</vt:lpstr>
      <vt:lpstr>                 ARCHES OF THE FOOT</vt:lpstr>
      <vt:lpstr>                 THE LONGITUDINAL ARCH</vt:lpstr>
      <vt:lpstr>            THE  TRANSVERSE  ARCH</vt:lpstr>
      <vt:lpstr>             SUPPORTS OF THE ARCH</vt:lpstr>
      <vt:lpstr>PowerPoint 演示文稿</vt:lpstr>
      <vt:lpstr>          Hallux Valgus</vt:lpstr>
      <vt:lpstr>        Pes Planus (Flatfeet)</vt:lpstr>
      <vt:lpstr>      JOINTS OF THE LOWER LIMB</vt:lpstr>
      <vt:lpstr>PowerPoint 演示文稿</vt:lpstr>
      <vt:lpstr>PowerPoint 演示文稿</vt:lpstr>
      <vt:lpstr>PowerPoint 演示文稿</vt:lpstr>
      <vt:lpstr>                        JOINTS CONT…</vt:lpstr>
      <vt:lpstr>PowerPoint 演示文稿</vt:lpstr>
      <vt:lpstr>PowerPoint 演示文稿</vt:lpstr>
      <vt:lpstr>PowerPoint 演示文稿</vt:lpstr>
      <vt:lpstr>                        JOINTS CONT…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54</cp:revision>
  <dcterms:created xsi:type="dcterms:W3CDTF">2025-10-01T03:43:00Z</dcterms:created>
  <dcterms:modified xsi:type="dcterms:W3CDTF">2026-10-01T23:56:20Z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330BED1F43E645438A12E5265FC2BB52_12</vt:lpwstr>
  </property>
  <property fmtid="{D5CDD505-2E9C-101B-9397-08002B2CF9AE}" pid="3" name="KSOProductBuildVer">
    <vt:lpwstr>1033-12.1.0.28485</vt:lpwstr>
  </property>
</Properties>
</file>