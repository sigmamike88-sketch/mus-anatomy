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6" r:id="rId51"/>
    <p:sldId id="307" r:id="rId52"/>
    <p:sldId id="308" r:id="rId53"/>
    <p:sldId id="309" r:id="rId54"/>
    <p:sldId id="648" r:id="rId5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D2862D-8B54-4CDD-8F85-E7AD9CD9322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F300F-BBDA-4407-AF8A-C7FA6ABBCE8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63525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055370" indent="-210820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477010" indent="-210820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99285" indent="-210820"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320925" indent="-21082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743200" indent="-21082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165475" indent="-21082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587115" indent="-210820" eaLnBrk="0" fontAlgn="base" hangingPunct="0">
              <a:spcBef>
                <a:spcPct val="30000"/>
              </a:spcBef>
              <a:spcAft>
                <a:spcPct val="0"/>
              </a:spcAft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23B26596-2D11-4C8D-AA83-2F6A56DDD449}" type="slidenum">
              <a:rPr lang="th-TH" altLang="en-US" sz="1200">
                <a:solidFill>
                  <a:prstClr val="black"/>
                </a:solidFill>
                <a:latin typeface="Times New Roman" panose="02020603050405020304" pitchFamily="18" charset="0"/>
              </a:rPr>
            </a:fld>
            <a:endParaRPr lang="th-TH" altLang="en-US" sz="120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th-TH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44C11-C584-4F7E-B6BF-F773E27A3577}" type="datetime1">
              <a:rPr lang="en-US" smtClean="0"/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FABE656-228C-406A-9A57-1E237FF79507}" type="slidenum">
              <a:rPr lang="en-US" smtClean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2B08-2F63-41F8-A383-29486B532222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8B01A-E40F-41B6-A05B-AE2D1C4DEECC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ACA23-3469-43D1-A552-179F4BEC6B6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B66BE-CE19-4735-90F2-231AC62970B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E1C05-A31B-4359-8FAE-3CB8B5CFDAF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B3FAE-45AF-439C-A762-EC6468E09085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5D080-A202-46A6-BCC7-3C49A4836C84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3E182-3362-4A56-A8EC-155D9CF3D658}" type="datetime1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smtClean="0">
                <a:solidFill>
                  <a:srgbClr val="F4E7ED"/>
                </a:solidFill>
              </a:rPr>
              <a:t>By: Rebuma S(MSc, MPHE)</a:t>
            </a:r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FABE656-228C-406A-9A57-1E237FF79507}" type="slidenum">
              <a:rPr lang="en-US" smtClean="0">
                <a:solidFill>
                  <a:srgbClr val="F4E7ED"/>
                </a:solidFill>
              </a:rPr>
            </a:fld>
            <a:endParaRPr lang="en-US" dirty="0">
              <a:solidFill>
                <a:srgbClr val="F4E7ED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52A81-38DA-4869-99E7-93B9EF4336C8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2914-A835-49B3-B46C-8AF56C7D74AD}" type="datetime1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>
                <a:solidFill>
                  <a:srgbClr val="B13F9A"/>
                </a:solidFill>
              </a:rPr>
              <a:t>By: Rebuma S(MSc, MPHE)</a:t>
            </a:r>
            <a:endParaRPr lang="en-US" dirty="0">
              <a:solidFill>
                <a:srgbClr val="B13F9A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BE656-228C-406A-9A57-1E237FF79507}" type="slidenum">
              <a:rPr lang="en-US" smtClean="0">
                <a:solidFill>
                  <a:srgbClr val="B13F9A"/>
                </a:solidFill>
              </a:rPr>
            </a:fld>
            <a:endParaRPr lang="en-US" dirty="0">
              <a:solidFill>
                <a:srgbClr val="B13F9A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B9E90-4952-4089-8DAF-AC643F5A865A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2F5B8F-EA73-40E0-A31A-5073FE3D67FE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740CBA6-71A9-4133-9A2A-719A02FDF8B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369D8412-A232-4D6F-BEE2-F8F1A41323BC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0887C-0AD0-4570-984E-713F7989786D}" type="datetime1">
              <a:rPr lang="en-US" smtClean="0">
                <a:solidFill>
                  <a:srgbClr val="696464"/>
                </a:solidFill>
              </a:rPr>
            </a:fld>
            <a:endParaRPr lang="en-US">
              <a:solidFill>
                <a:srgbClr val="696464"/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>
                <a:solidFill>
                  <a:srgbClr val="696464"/>
                </a:solidFill>
              </a:rPr>
              <a:t>By: Rebuma S(MSc, MPHE)</a:t>
            </a:r>
            <a:endParaRPr lang="en-US">
              <a:solidFill>
                <a:srgbClr val="696464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85E59-99A9-49A2-B699-54E56DB16675}" type="slidenum">
              <a:rPr lang="en-US"/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24300"/>
            <a:ext cx="8229600" cy="21717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168A5B9-7AF8-4CD4-82E5-647AB487994D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959A138-7F5E-44B8-877C-D89754D9637E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A59C65B-B0B8-4F08-B9D0-2B8B50D824DE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By: Rebuma S(MSc, MPHE)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9F273128-4E4D-489D-882C-97F09F42428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 panose="05020102010507070707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 panose="05020102010507070707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hyperlink" Target="http://www.usc.edu/hsc/dental/ghisto/skn/c_3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1" Type="http://schemas.openxmlformats.org/officeDocument/2006/relationships/hyperlink" Target="http://www.usc.edu/hsc/dental/ghisto/skn/c_23.html" TargetMode="Externa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hyperlink" Target="http://www.usc.edu/hsc/dental/ghisto/skn/c_1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9.jpeg"/><Relationship Id="rId1" Type="http://schemas.openxmlformats.org/officeDocument/2006/relationships/hyperlink" Target="http://www.usc.edu/hsc/dental/ghisto/skn/d_24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w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7.jpeg"/><Relationship Id="rId1" Type="http://schemas.openxmlformats.org/officeDocument/2006/relationships/hyperlink" Target="http://www.scf-online.com/english/24_e/images24_e/sebum_1_24_big.jpg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8.png"/><Relationship Id="rId1" Type="http://schemas.openxmlformats.org/officeDocument/2006/relationships/oleObject" Target="../embeddings/oleObject1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9.png"/><Relationship Id="rId1" Type="http://schemas.openxmlformats.org/officeDocument/2006/relationships/oleObject" Target="../embeddings/oleObject2.bin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27.jpeg"/><Relationship Id="rId2" Type="http://schemas.openxmlformats.org/officeDocument/2006/relationships/hyperlink" Target="http://www.scf-online.com/english/24_e/images24_e/sebum_1_24_big.jpg" TargetMode="Externa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4.jpeg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8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4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614363"/>
            <a:ext cx="5029200" cy="5786437"/>
          </a:xfrm>
        </p:spPr>
        <p:txBody>
          <a:bodyPr>
            <a:no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our 11 organ systems.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 of two parts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</a:t>
            </a: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(i.e., the cutaneous membrane)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appendages</a:t>
            </a: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(accessory)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2175" lvl="2" indent="-3429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Sweat glands (sudoriferous glands)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Sebaceous glands (oil glands)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1540" lvl="2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Nails 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561E5E-41A8-4709-BB88-3C20DAABF338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4A04A8C-8EB0-4A22-80A2-54AB52A958E2}" type="slidenum">
              <a:rPr lang="en-US" smtClean="0"/>
            </a:fld>
            <a:endParaRPr lang="en-US"/>
          </a:p>
        </p:txBody>
      </p:sp>
      <p:sp>
        <p:nvSpPr>
          <p:cNvPr id="22534" name="TextBox 5"/>
          <p:cNvSpPr txBox="1">
            <a:spLocks noChangeArrowheads="1"/>
          </p:cNvSpPr>
          <p:nvPr/>
        </p:nvSpPr>
        <p:spPr bwMode="auto">
          <a:xfrm>
            <a:off x="228600" y="152400"/>
            <a:ext cx="571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Integumentary system</a:t>
            </a:r>
            <a:endParaRPr lang="en-US" altLang="en-US" sz="2400" b="1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1027" descr="17036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458200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153400" cy="685800"/>
          </a:xfrm>
        </p:spPr>
        <p:txBody>
          <a:bodyPr/>
          <a:lstStyle/>
          <a:p>
            <a:r>
              <a:rPr lang="en-US" altLang="en-US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Facts about Skin</a:t>
            </a:r>
            <a:endParaRPr lang="en-US" altLang="en-US" sz="28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0608E2B-BF61-440F-ADD6-109307C75240}" type="datetime1">
              <a:rPr lang="en-US" altLang="en-US" sz="1400" smtClean="0">
                <a:solidFill>
                  <a:srgbClr val="696464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696464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696464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400" smtClean="0">
              <a:solidFill>
                <a:srgbClr val="69646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304778-6F74-4768-927E-00CFD1321D31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838200"/>
            <a:ext cx="8458200" cy="51816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Symbol" panose="05050102010706020507" pitchFamily="18" charset="2"/>
              <a:buChar char="¨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Constitutes 16% of the body weight and largest system.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¨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Surface area: 1.5-2.0 sq. meters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¨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Thickness: 0.5-3.0 mm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¨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Growth rate of nail: 0.1mm per day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¨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Growth rate of hair: 1.5-2.2 mm per week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Symbol" panose="05050102010706020507" pitchFamily="18" charset="2"/>
              <a:buChar char="¨"/>
              <a:defRPr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Life span of hair: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Eyelashes, axilla- 4 months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Scalp – 4 years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86106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24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Functions of the Integumentary System</a:t>
            </a:r>
            <a:endParaRPr lang="en-US" altLang="en-US" sz="24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ECFBB81-3EE5-4477-AA3B-20BF8978509E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7BFEC-D081-4CAF-BE9C-0C471C524B00}" type="slidenum">
              <a:rPr lang="en-US"/>
            </a:fld>
            <a:endParaRPr 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" y="762000"/>
            <a:ext cx="8229600" cy="5334000"/>
          </a:xfrm>
        </p:spPr>
        <p:txBody>
          <a:bodyPr>
            <a:normAutofit fontScale="92500" lnSpcReduction="10000"/>
          </a:bodyPr>
          <a:lstStyle/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from 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mechanical injury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 protection 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Courier New" panose="02070309020205020404" pitchFamily="49" charset="0"/>
              <a:buChar char="o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 prevention of pathogen entry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Sensation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Thermoregulation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Excretion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Metabolic functions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 2" panose="05020102010507070707"/>
              <a:buChar char="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 good/cosmetics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5720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Types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FA7AFC-B5B7-4437-B5B6-2246392095AC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E7D28C-EF26-4A0B-8472-9513875AF1BB}" type="slidenum">
              <a:rPr lang="en-US"/>
            </a:fld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533400"/>
            <a:ext cx="4451350" cy="5105400"/>
          </a:xfrm>
        </p:spPr>
        <p:txBody>
          <a:bodyPr>
            <a:no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altLang="en-US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Thick Skin</a:t>
            </a:r>
            <a:endParaRPr lang="en-US" altLang="en-US" sz="2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/>
              <a:buChar char=""/>
              <a:defRPr/>
            </a:pPr>
            <a:r>
              <a:rPr lang="en-US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on soles of feet and palms of hands and corresponding parts of fingers and toes.</a:t>
            </a:r>
            <a:endParaRPr lang="en-US" altLang="en-US" sz="2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/>
              <a:buChar char=""/>
              <a:defRPr/>
            </a:pPr>
            <a:r>
              <a:rPr lang="en-US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5 epidermal layers or </a:t>
            </a:r>
            <a:r>
              <a:rPr lang="en-US" altLang="en-US" sz="2000" i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strata </a:t>
            </a:r>
            <a:r>
              <a:rPr lang="en-US" altLang="en-US" sz="2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(“sheets”):</a:t>
            </a:r>
            <a:endParaRPr lang="en-US" altLang="en-US" sz="2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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basale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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spinosum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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granulosum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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lucidum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71600" lvl="2" indent="-4572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Clr>
                <a:schemeClr val="accent3"/>
              </a:buClr>
              <a:buFont typeface="Wingdings 2" panose="05020102010507070707"/>
              <a:buChar char=""/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corneum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7" name="Picture 3" descr="3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999"/>
          <a:stretch>
            <a:fillRect/>
          </a:stretch>
        </p:blipFill>
        <p:spPr bwMode="auto">
          <a:xfrm>
            <a:off x="4527550" y="838200"/>
            <a:ext cx="446405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552722A-501F-4955-9DE2-CF35F3A30E83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9EAEE-06FD-42BC-AC7C-EDCA1FECCECB}" type="slidenum">
              <a:rPr lang="en-US"/>
            </a:fld>
            <a:endParaRPr lang="en-US"/>
          </a:p>
        </p:txBody>
      </p:sp>
      <p:sp>
        <p:nvSpPr>
          <p:cNvPr id="1331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228600"/>
            <a:ext cx="4648200" cy="640080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en-US" b="1" dirty="0" smtClean="0">
                <a:solidFill>
                  <a:srgbClr val="002060"/>
                </a:solidFill>
              </a:rPr>
              <a:t>Thin skin</a:t>
            </a:r>
            <a:endParaRPr lang="en-US" altLang="en-US" b="1" dirty="0" smtClean="0">
              <a:solidFill>
                <a:srgbClr val="002060"/>
              </a:solidFill>
            </a:endParaRPr>
          </a:p>
          <a:p>
            <a:pPr marL="990600" lvl="1" indent="-533400" eaLnBrk="1" hangingPunct="1">
              <a:lnSpc>
                <a:spcPct val="150000"/>
              </a:lnSpc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 everywhere else on the body.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150000"/>
              </a:lnSpc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Contains only 4 layers.  (lacks a stratum lucidum).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150000"/>
              </a:lnSpc>
              <a:defRPr/>
            </a:pPr>
            <a:r>
              <a:rPr lang="en-US" alt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4 layers are thinner than those of thick skin.</a:t>
            </a:r>
            <a:endParaRPr lang="en-US" altLang="en-US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defRPr/>
            </a:pPr>
            <a:r>
              <a:rPr lang="en-US" altLang="en-US" sz="24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thick skin found on the palms and soles?  What is the advantage of that?</a:t>
            </a:r>
            <a:endParaRPr lang="en-US" altLang="en-US" sz="24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buFontTx/>
              <a:buNone/>
              <a:defRPr/>
            </a:pPr>
            <a:endParaRPr lang="en-US" altLang="en-US" b="1" dirty="0" smtClean="0">
              <a:solidFill>
                <a:srgbClr val="FFFFFF"/>
              </a:solidFill>
            </a:endParaRPr>
          </a:p>
          <a:p>
            <a:pPr marL="609600" indent="-609600" eaLnBrk="1" hangingPunct="1">
              <a:buFontTx/>
              <a:buNone/>
              <a:defRPr/>
            </a:pPr>
            <a:endParaRPr lang="en-US" altLang="en-US" b="1" dirty="0" smtClean="0">
              <a:solidFill>
                <a:srgbClr val="FFFFFF"/>
              </a:solidFill>
            </a:endParaRPr>
          </a:p>
        </p:txBody>
      </p:sp>
      <p:pic>
        <p:nvPicPr>
          <p:cNvPr id="26630" name="Picture 3" descr="23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49"/>
          <a:stretch>
            <a:fillRect/>
          </a:stretch>
        </p:blipFill>
        <p:spPr bwMode="auto">
          <a:xfrm>
            <a:off x="4648200" y="1295400"/>
            <a:ext cx="4495800" cy="437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1" name="Text Box 4"/>
          <p:cNvSpPr txBox="1">
            <a:spLocks noChangeArrowheads="1"/>
          </p:cNvSpPr>
          <p:nvPr/>
        </p:nvSpPr>
        <p:spPr bwMode="auto">
          <a:xfrm>
            <a:off x="4648200" y="5486400"/>
            <a:ext cx="4495800" cy="120015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</a:rPr>
              <a:t>Note: this slide is at a higher mag. than the thick skin slide on the previous page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A:\thickskin2.jp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0350"/>
            <a:ext cx="4572000" cy="530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 descr="A:\thin-skin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52600"/>
            <a:ext cx="414178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528763" y="6096000"/>
            <a:ext cx="18113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h-TH" altLang="en-US" sz="2800" b="1" smtClean="0">
                <a:solidFill>
                  <a:prstClr val="black"/>
                </a:solidFill>
                <a:latin typeface="Times New Roman" panose="02020603050405020304" pitchFamily="18" charset="0"/>
                <a:ea typeface="EucrosiaUPC"/>
              </a:rPr>
              <a:t>Thick skin</a:t>
            </a:r>
            <a:endParaRPr lang="th-TH" altLang="en-US" sz="2800" b="1" smtClean="0">
              <a:solidFill>
                <a:prstClr val="black"/>
              </a:solidFill>
              <a:latin typeface="Times New Roman" panose="02020603050405020304" pitchFamily="18" charset="0"/>
              <a:ea typeface="EucrosiaUPC"/>
            </a:endParaRPr>
          </a:p>
        </p:txBody>
      </p:sp>
      <p:sp>
        <p:nvSpPr>
          <p:cNvPr id="27653" name="Text Box 5"/>
          <p:cNvSpPr txBox="1">
            <a:spLocks noChangeArrowheads="1"/>
          </p:cNvSpPr>
          <p:nvPr/>
        </p:nvSpPr>
        <p:spPr bwMode="auto">
          <a:xfrm>
            <a:off x="6415088" y="685800"/>
            <a:ext cx="16525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th-TH" altLang="en-US" sz="2800" b="1" smtClean="0">
                <a:solidFill>
                  <a:prstClr val="black"/>
                </a:solidFill>
                <a:latin typeface="Times New Roman" panose="02020603050405020304" pitchFamily="18" charset="0"/>
                <a:ea typeface="EucrosiaUPC"/>
              </a:rPr>
              <a:t>Thin skin</a:t>
            </a:r>
            <a:endParaRPr lang="th-TH" altLang="en-US" sz="2800" b="1" smtClean="0">
              <a:solidFill>
                <a:prstClr val="black"/>
              </a:solidFill>
              <a:latin typeface="Times New Roman" panose="02020603050405020304" pitchFamily="18" charset="0"/>
              <a:ea typeface="EucrosiaUPC"/>
            </a:endParaRPr>
          </a:p>
        </p:txBody>
      </p:sp>
      <p:sp>
        <p:nvSpPr>
          <p:cNvPr id="27654" name="Line 6"/>
          <p:cNvSpPr>
            <a:spLocks noChangeShapeType="1"/>
          </p:cNvSpPr>
          <p:nvPr/>
        </p:nvSpPr>
        <p:spPr bwMode="auto">
          <a:xfrm>
            <a:off x="7315200" y="12192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5" name="Line 7"/>
          <p:cNvSpPr>
            <a:spLocks noChangeShapeType="1"/>
          </p:cNvSpPr>
          <p:nvPr/>
        </p:nvSpPr>
        <p:spPr bwMode="auto">
          <a:xfrm flipV="1">
            <a:off x="2362200" y="55626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7E02202-65FA-4EDE-9942-6EBC31E3BDA1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tIns="45720" bIns="45720" numCol="1" anchorCtr="0" compatLnSpc="1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fld id="{5A88082E-0FB1-4426-AAA4-D3E12879856E}" type="slidenum">
              <a:rPr lang="en-US" altLang="en-US" sz="1600" smtClean="0">
                <a:solidFill>
                  <a:srgbClr val="FFFFFF"/>
                </a:solidFill>
              </a:rPr>
            </a:fld>
            <a:endParaRPr lang="en-US" altLang="en-US" sz="1600" smtClean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8768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Skin Structure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82563" y="685800"/>
            <a:ext cx="4846637" cy="52578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>
            <a:normAutofit fontScale="92500" lnSpcReduction="10000"/>
          </a:bodyPr>
          <a:lstStyle/>
          <a:p>
            <a:pPr marL="457200" indent="-4572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skin has 2 main layers: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1155" lvl="1" indent="-4572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  <a:defRPr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superficial,  avascular epidermis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means “above” and </a:t>
            </a:r>
            <a:r>
              <a:rPr lang="en-US" sz="22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dermis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means “skin”) consisting of 4-5 layers of epithelial cells resting upon a basement membrane.</a:t>
            </a: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4572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+mj-lt"/>
              <a:buAutoNum type="alphaUcPeriod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deep, vascular dermis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consisting of fibrous connective tissue.  Contains multiple blood vessels, and the accessory appendages.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67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A1FC9BD-F985-4512-AA7B-9DFA48198295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6179B3-AD05-45C0-A7AC-636BA736AEA2}" type="slidenum">
              <a:rPr lang="en-US" smtClean="0"/>
            </a:fld>
            <a:endParaRPr lang="en-US"/>
          </a:p>
        </p:txBody>
      </p:sp>
      <p:pic>
        <p:nvPicPr>
          <p:cNvPr id="28679" name="Picture 6" descr="h9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685800"/>
            <a:ext cx="3810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80" name="Line 9"/>
          <p:cNvSpPr>
            <a:spLocks noChangeShapeType="1"/>
          </p:cNvSpPr>
          <p:nvPr/>
        </p:nvSpPr>
        <p:spPr bwMode="auto">
          <a:xfrm flipH="1">
            <a:off x="5562600" y="1066800"/>
            <a:ext cx="152400" cy="3200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1" name="Line 10"/>
          <p:cNvSpPr>
            <a:spLocks noChangeShapeType="1"/>
          </p:cNvSpPr>
          <p:nvPr/>
        </p:nvSpPr>
        <p:spPr bwMode="auto">
          <a:xfrm>
            <a:off x="6477000" y="4191000"/>
            <a:ext cx="0" cy="2438400"/>
          </a:xfrm>
          <a:prstGeom prst="line">
            <a:avLst/>
          </a:prstGeom>
          <a:noFill/>
          <a:ln w="76200">
            <a:solidFill>
              <a:srgbClr val="00CC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7244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Epidermis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9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77FF04E-5650-4593-BB67-C5F4B7A1305C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929A16E-7E43-4797-9F7F-4129FDDEB758}" type="slidenum">
              <a:rPr lang="en-US"/>
            </a:fld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85800"/>
            <a:ext cx="4800600" cy="6172200"/>
          </a:xfrm>
        </p:spPr>
        <p:txBody>
          <a:bodyPr>
            <a:norm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Keratinized stratified squamous epithelium.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Avascular. 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ü"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4 distinct cell types arranged in 4 or 5 distinct layers.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Epidermal cell types: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Keratinocytes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Melanocytes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pigment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Merkel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sensation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45720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Langerhans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 c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lls 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phagocytes - immune cells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703" name="Picture 3" descr="1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/>
          <a:stretch>
            <a:fillRect/>
          </a:stretch>
        </p:blipFill>
        <p:spPr bwMode="auto">
          <a:xfrm>
            <a:off x="4800600" y="1143000"/>
            <a:ext cx="4191000" cy="443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Line 4"/>
          <p:cNvSpPr>
            <a:spLocks noChangeShapeType="1"/>
          </p:cNvSpPr>
          <p:nvPr/>
        </p:nvSpPr>
        <p:spPr bwMode="auto">
          <a:xfrm>
            <a:off x="6172200" y="1676400"/>
            <a:ext cx="0" cy="990600"/>
          </a:xfrm>
          <a:prstGeom prst="line">
            <a:avLst/>
          </a:prstGeom>
          <a:ln>
            <a:solidFill>
              <a:srgbClr val="FFC000"/>
            </a:solidFill>
            <a:headEnd type="triangle" w="med" len="med"/>
            <a:tailEnd type="triangl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th-TH" sz="2400">
              <a:solidFill>
                <a:prstClr val="black"/>
              </a:solidFill>
            </a:endParaRPr>
          </a:p>
        </p:txBody>
      </p:sp>
      <p:sp>
        <p:nvSpPr>
          <p:cNvPr id="29705" name="Text Box 5"/>
          <p:cNvSpPr txBox="1">
            <a:spLocks noChangeArrowheads="1"/>
          </p:cNvSpPr>
          <p:nvPr/>
        </p:nvSpPr>
        <p:spPr bwMode="auto">
          <a:xfrm>
            <a:off x="4495800" y="5791200"/>
            <a:ext cx="46482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Yellow arrow indicates the epidermis of thick skin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9154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Keratinocytes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09600"/>
            <a:ext cx="4953000" cy="6019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numerous epidermal cell – found in all layers of the epidermis.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Chief function is the production of keratin – a tough fibrous protein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that gives strength and confers a lot of protective ability.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Tightly connected to one another by desmosomes.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continuity, strength, and protection.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72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392FF4-7A98-4622-96AA-DF6C27A3C590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F0DB16-C6C2-427F-930E-85812C8C1130}" type="slidenum">
              <a:rPr lang="en-US" smtClean="0"/>
            </a:fld>
            <a:endParaRPr lang="en-US"/>
          </a:p>
        </p:txBody>
      </p:sp>
      <p:pic>
        <p:nvPicPr>
          <p:cNvPr id="30727" name="Picture 7" descr="24_bb">
            <a:hlinkClick r:id="rId1"/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315"/>
          <a:stretch>
            <a:fillRect/>
          </a:stretch>
        </p:blipFill>
        <p:spPr bwMode="auto">
          <a:xfrm>
            <a:off x="4953000" y="990600"/>
            <a:ext cx="4038600" cy="46704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28" name="Text Box 8"/>
          <p:cNvSpPr txBox="1">
            <a:spLocks noChangeArrowheads="1"/>
          </p:cNvSpPr>
          <p:nvPr/>
        </p:nvSpPr>
        <p:spPr bwMode="auto">
          <a:xfrm>
            <a:off x="4724400" y="5646738"/>
            <a:ext cx="44196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</a:rPr>
              <a:t>Almost all of the epidermal cells in this slide are keratinocytes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0866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Keratinocytes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09600"/>
            <a:ext cx="3810000" cy="518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New cells are continuously made in the deepest layer pushing the older cells up.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the keratinocytes move farther from the deepest layer, they make the keratin that eventually dominates their cell contents.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748" name="Picture 5" descr="cintse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84625" y="762000"/>
            <a:ext cx="4930775" cy="5029200"/>
          </a:xfrm>
          <a:noFill/>
        </p:spPr>
      </p:pic>
      <p:sp>
        <p:nvSpPr>
          <p:cNvPr id="3174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62F116F-DF0C-45F6-BC84-51BD5918312E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1406CC-A8B6-4758-896F-693CECE0ED7D}" type="slidenum">
              <a:rPr lang="en-US" smtClean="0"/>
            </a:fld>
            <a:endParaRPr lang="en-US"/>
          </a:p>
        </p:txBody>
      </p:sp>
      <p:sp>
        <p:nvSpPr>
          <p:cNvPr id="31752" name="Rectangle 7"/>
          <p:cNvSpPr>
            <a:spLocks noChangeArrowheads="1"/>
          </p:cNvSpPr>
          <p:nvPr/>
        </p:nvSpPr>
        <p:spPr bwMode="auto">
          <a:xfrm>
            <a:off x="3505200" y="5715000"/>
            <a:ext cx="5638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</a:rPr>
              <a:t>When they have reached the upper layer, they are nothing more than scale-like bags of keratin.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3" name="Line 8"/>
          <p:cNvSpPr>
            <a:spLocks noChangeShapeType="1"/>
          </p:cNvSpPr>
          <p:nvPr/>
        </p:nvSpPr>
        <p:spPr bwMode="auto">
          <a:xfrm flipV="1">
            <a:off x="6858000" y="1524000"/>
            <a:ext cx="76200" cy="2895600"/>
          </a:xfrm>
          <a:prstGeom prst="line">
            <a:avLst/>
          </a:prstGeom>
          <a:noFill/>
          <a:ln w="38100">
            <a:solidFill>
              <a:srgbClr val="FFFF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0010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Melanocytes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457200"/>
            <a:ext cx="3962400" cy="64008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Spider-shaped epithelial cells that synthesize the protein pigment melanin.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in the deepest layer of the epidermis.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Melanin is made and then packaged into membrane-bound granules called melanosomes.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Granules are transferred to the keratinocytes in the 2 deepest layers of the epidermis.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772" name="Picture 2" descr="192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3"/>
          <a:stretch>
            <a:fillRect/>
          </a:stretch>
        </p:blipFill>
        <p:spPr>
          <a:xfrm>
            <a:off x="4343400" y="838200"/>
            <a:ext cx="4572000" cy="4772025"/>
          </a:xfrm>
          <a:noFill/>
        </p:spPr>
      </p:pic>
      <p:sp>
        <p:nvSpPr>
          <p:cNvPr id="3277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E81FD4E-7578-4FFE-9482-9E3DD9C5F433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E215AB-4813-4952-AE17-8CC8F5C4497C}" type="slidenum">
              <a:rPr lang="en-US" smtClean="0"/>
            </a:fld>
            <a:endParaRPr lang="en-US"/>
          </a:p>
        </p:txBody>
      </p:sp>
      <p:sp>
        <p:nvSpPr>
          <p:cNvPr id="32776" name="Text Box 4"/>
          <p:cNvSpPr txBox="1">
            <a:spLocks noChangeArrowheads="1"/>
          </p:cNvSpPr>
          <p:nvPr/>
        </p:nvSpPr>
        <p:spPr bwMode="auto">
          <a:xfrm>
            <a:off x="4724400" y="5715000"/>
            <a:ext cx="4267200" cy="46196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Arrows indicate 2 melanocytes.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1628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Melanocytes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09600"/>
            <a:ext cx="4648200" cy="5791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Melanin granules accumulate on the “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sunny side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of the nucleus of the keratinocytes.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Would that be the apical or the basal side?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Melanin granules protect the DNA within the nucleus from being damaged by the ultraviolet radiation from the sun.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796" name="Picture 3" descr="epiderm2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6"/>
          <a:stretch>
            <a:fillRect/>
          </a:stretch>
        </p:blipFill>
        <p:spPr>
          <a:xfrm>
            <a:off x="4876800" y="685800"/>
            <a:ext cx="4038600" cy="5943600"/>
          </a:xfrm>
          <a:noFill/>
        </p:spPr>
      </p:pic>
      <p:sp>
        <p:nvSpPr>
          <p:cNvPr id="3379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7DAE069F-CCA2-4EF1-A641-9D9AA34E0A40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B5F848-E4C1-47C6-B484-6E6641B6FC7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10" descr="epidermis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43"/>
          <a:stretch>
            <a:fillRect/>
          </a:stretch>
        </p:blipFill>
        <p:spPr bwMode="auto">
          <a:xfrm>
            <a:off x="228600" y="152400"/>
            <a:ext cx="56388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12" descr="epidermis40x"/>
          <p:cNvPicPr>
            <a:picLocks noGrp="1" noChangeAspect="1" noChangeArrowheads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764" y="609600"/>
            <a:ext cx="3724471" cy="5486400"/>
          </a:xfrm>
          <a:noFill/>
        </p:spPr>
      </p:pic>
      <p:sp>
        <p:nvSpPr>
          <p:cNvPr id="3482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2D5334D-A9D4-4D2A-8E57-8C9A3BC283E2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4F7A87-6DD9-4C2A-9372-8261BB161232}" type="slidenum">
              <a:rPr lang="en-US" smtClean="0"/>
            </a:fld>
            <a:endParaRPr lang="en-US"/>
          </a:p>
        </p:txBody>
      </p:sp>
      <p:sp>
        <p:nvSpPr>
          <p:cNvPr id="34823" name="Text Box 14"/>
          <p:cNvSpPr txBox="1">
            <a:spLocks noChangeArrowheads="1"/>
          </p:cNvSpPr>
          <p:nvPr/>
        </p:nvSpPr>
        <p:spPr bwMode="auto">
          <a:xfrm>
            <a:off x="533400" y="6167438"/>
            <a:ext cx="876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Notice the 4 layers of thin skin in both the cartoon and the photomicrograph</a:t>
            </a: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67056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Basale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843" name="Picture 7" descr="Integl03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95" r="11938" b="11893"/>
          <a:stretch>
            <a:fillRect/>
          </a:stretch>
        </p:blipFill>
        <p:spPr>
          <a:xfrm>
            <a:off x="5486400" y="1066800"/>
            <a:ext cx="3581400" cy="4800600"/>
          </a:xfrm>
          <a:noFill/>
        </p:spPr>
      </p:pic>
      <p:sp>
        <p:nvSpPr>
          <p:cNvPr id="3584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4FA77D6-60E0-46A9-AC9E-3E979537AAEB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43E9DE-B33C-4ADE-A76B-79D0C182221D}" type="slidenum">
              <a:rPr lang="en-US" smtClean="0"/>
            </a:fld>
            <a:endParaRPr 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152400" y="914400"/>
            <a:ext cx="5105400" cy="4724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indent="-609600" algn="just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Single row of cuboidal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indent="-609600" algn="just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keratinocytes with melanocytes Merkel cells interspersed.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indent="-609600" algn="just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Cells in this layer are highly mitotic – they’re dividing often.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indent="-609600" algn="just" fontAlgn="base">
              <a:lnSpc>
                <a:spcPct val="150000"/>
              </a:lnSpc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Due to this fact, this layer is a.k.a. the </a:t>
            </a:r>
            <a:r>
              <a:rPr lang="en-US" sz="2400" b="1" dirty="0">
                <a:solidFill>
                  <a:prstClr val="black"/>
                </a:solidFill>
                <a:latin typeface="Times New Roman" panose="02020603050405020304" pitchFamily="18" charset="0"/>
              </a:rPr>
              <a:t>stratum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prstClr val="black"/>
                </a:solidFill>
                <a:latin typeface="Times New Roman" panose="02020603050405020304" pitchFamily="18" charset="0"/>
              </a:rPr>
              <a:t>germinativum</a:t>
            </a:r>
            <a:r>
              <a:rPr lang="en-US" sz="2400" dirty="0">
                <a:solidFill>
                  <a:prstClr val="black"/>
                </a:solidFill>
                <a:latin typeface="Times New Roman" panose="02020603050405020304" pitchFamily="18" charset="0"/>
              </a:rPr>
              <a:t>.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609600" indent="-6096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609600" indent="-6096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marL="609600" indent="-6096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Tx/>
              <a:buAutoNum type="arabicPeriod"/>
              <a:defRPr/>
            </a:pP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4572000" cy="457200"/>
          </a:xfrm>
          <a:solidFill>
            <a:srgbClr val="FFFFFF"/>
          </a:solidFill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Spinosum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457200"/>
            <a:ext cx="5486400" cy="58674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200" baseline="30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deepest layer.  Consists of 8-10 layers of cells.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of the lower layers can still be mitotic.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cells get pushed upward, they begin to flatten and begin to make the precursors of keratin.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A.k.a. the “</a:t>
            </a:r>
            <a:r>
              <a:rPr lang="en-US" altLang="en-US" sz="2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prickly layer</a:t>
            </a: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” because in tissue sections, they shrink and pull back. 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makes their exposed desmosomes connecting adjacent cells appear to resemble spikes or spines.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6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0377D72-F2DD-42C0-9891-ABC462496BFA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9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64C87A-771F-419F-9FD3-A7A849B3CFD8}" type="slidenum">
              <a:rPr lang="en-US" smtClean="0"/>
            </a:fld>
            <a:endParaRPr lang="en-US"/>
          </a:p>
        </p:txBody>
      </p:sp>
      <p:sp>
        <p:nvSpPr>
          <p:cNvPr id="36871" name="Text Box 5"/>
          <p:cNvSpPr txBox="1">
            <a:spLocks noChangeArrowheads="1"/>
          </p:cNvSpPr>
          <p:nvPr/>
        </p:nvSpPr>
        <p:spPr bwMode="auto">
          <a:xfrm>
            <a:off x="5638800" y="5191125"/>
            <a:ext cx="3581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</a:rPr>
              <a:t>Do you see the spines</a:t>
            </a:r>
            <a:r>
              <a:rPr lang="en-US" altLang="en-US" sz="2800" b="1" smtClean="0">
                <a:solidFill>
                  <a:prstClr val="black"/>
                </a:solidFill>
                <a:latin typeface="Times New Roman" panose="02020603050405020304" pitchFamily="18" charset="0"/>
              </a:rPr>
              <a:t>?</a:t>
            </a:r>
            <a:endParaRPr lang="en-US" altLang="en-US" sz="2800" b="1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6872" name="Picture 8" descr="integl0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938"/>
          <a:stretch>
            <a:fillRect/>
          </a:stretch>
        </p:blipFill>
        <p:spPr bwMode="auto">
          <a:xfrm>
            <a:off x="5791200" y="304800"/>
            <a:ext cx="32004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62484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Granulosum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533400"/>
            <a:ext cx="5562600" cy="5562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3-5 cell layers thick.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 morphology begins to change dramatically as cells continue to flatten and their nuclei and organelles disintegrate.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Accumulate granules containing a precursor of keratin and granules containing a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waterproofing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agent.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water can’t diffuse upward, how would the cells above this layer receive nutrients?  What would happen to them?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892" name="Picture 5" descr="cell0502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518"/>
          <a:stretch>
            <a:fillRect/>
          </a:stretch>
        </p:blipFill>
        <p:spPr>
          <a:xfrm>
            <a:off x="5715000" y="533400"/>
            <a:ext cx="3268663" cy="5715000"/>
          </a:xfrm>
        </p:spPr>
      </p:pic>
      <p:sp>
        <p:nvSpPr>
          <p:cNvPr id="3789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40C79EE-E948-4C90-9AD4-00726B5107AF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C4D033-96C6-4F4F-8514-14843E362E2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57912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Lucidum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838200"/>
            <a:ext cx="4419600" cy="5410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flat, dead keratinocytes appears clear in the light microscope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lacks  nuclei and organelles which typically stain well.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916" name="Picture 3" descr="img009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00" t="52333" r="6558" b="7666"/>
          <a:stretch>
            <a:fillRect/>
          </a:stretch>
        </p:blipFill>
        <p:spPr>
          <a:xfrm>
            <a:off x="4572000" y="762000"/>
            <a:ext cx="4267200" cy="5257800"/>
          </a:xfrm>
          <a:noFill/>
        </p:spPr>
      </p:pic>
      <p:sp>
        <p:nvSpPr>
          <p:cNvPr id="3891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B9026CE-5C0C-46EF-AA4C-F144D5D8BBAD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36B32DC-17E9-4838-87C7-92FD26668A4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55626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Stratum Corneum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143000"/>
            <a:ext cx="4876800" cy="5486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against mechanical abrasion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can absorb impacts and simply flake off if necessary.  Prevents pathogen entry.  Prevents 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desiccation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drying out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A.k.a. the </a:t>
            </a:r>
            <a:r>
              <a:rPr lang="en-US" alt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cornified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layer.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by which cells in the stratum </a:t>
            </a:r>
            <a:r>
              <a:rPr lang="en-US" alt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basale</a:t>
            </a:r>
            <a:r>
              <a:rPr lang="en-US" alt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divide and then advance upward </a:t>
            </a:r>
            <a:endParaRPr lang="en-US" alt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940" name="Picture 3" descr="cell0499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34" b="4199"/>
          <a:stretch>
            <a:fillRect/>
          </a:stretch>
        </p:blipFill>
        <p:spPr>
          <a:xfrm>
            <a:off x="4800600" y="1295400"/>
            <a:ext cx="4343400" cy="4343400"/>
          </a:xfrm>
        </p:spPr>
      </p:pic>
      <p:sp>
        <p:nvSpPr>
          <p:cNvPr id="3994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4688D3B-C12C-4396-8B38-B1934FAF191B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7D4D2A-5C6C-4D70-9079-1E8D84901776}" type="slidenum">
              <a:rPr lang="en-US" smtClean="0"/>
            </a:fld>
            <a:endParaRPr lang="en-US"/>
          </a:p>
        </p:txBody>
      </p:sp>
      <p:sp>
        <p:nvSpPr>
          <p:cNvPr id="39944" name="Rectangle 5"/>
          <p:cNvSpPr>
            <a:spLocks noChangeArrowheads="1"/>
          </p:cNvSpPr>
          <p:nvPr/>
        </p:nvSpPr>
        <p:spPr bwMode="auto">
          <a:xfrm>
            <a:off x="0" y="457200"/>
            <a:ext cx="8915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 2" panose="05020102010507070707" pitchFamily="18" charset="2"/>
              <a:buNone/>
            </a:pPr>
            <a:r>
              <a:rPr lang="en-US" altLang="en-US" sz="2400" smtClean="0">
                <a:solidFill>
                  <a:prstClr val="black"/>
                </a:solidFill>
                <a:latin typeface="Times New Roman" panose="02020603050405020304" pitchFamily="18" charset="0"/>
              </a:rPr>
              <a:t>Outermost stratum.  20 – 30 layers of flat (squamous), highly keratinized, dead cells.</a:t>
            </a:r>
            <a:endParaRPr lang="en-US" alt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5" name="Rectangle 6"/>
          <p:cNvSpPr>
            <a:spLocks noChangeArrowheads="1"/>
          </p:cNvSpPr>
          <p:nvPr/>
        </p:nvSpPr>
        <p:spPr bwMode="auto">
          <a:xfrm>
            <a:off x="3886200" y="5638800"/>
            <a:ext cx="5257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smtClean="0">
                <a:solidFill>
                  <a:srgbClr val="FFFFFF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smtClean="0">
                <a:solidFill>
                  <a:prstClr val="black"/>
                </a:solidFill>
                <a:latin typeface="Times New Roman" panose="02020603050405020304" pitchFamily="18" charset="0"/>
              </a:rPr>
              <a:t>becoming more and more keratinized and less and less alive as they go is known as </a:t>
            </a:r>
            <a:r>
              <a:rPr lang="en-US" altLang="en-US" sz="2000" b="1" smtClean="0">
                <a:solidFill>
                  <a:prstClr val="black"/>
                </a:solidFill>
                <a:latin typeface="Times New Roman" panose="02020603050405020304" pitchFamily="18" charset="0"/>
              </a:rPr>
              <a:t>cornification</a:t>
            </a:r>
            <a:r>
              <a:rPr lang="en-US" altLang="en-US" sz="2400" b="1" smtClean="0">
                <a:solidFill>
                  <a:srgbClr val="002060"/>
                </a:solidFill>
                <a:latin typeface="Times New Roman" panose="02020603050405020304" pitchFamily="18" charset="0"/>
              </a:rPr>
              <a:t>.</a:t>
            </a:r>
            <a:endParaRPr lang="en-US" altLang="en-US" sz="2400" b="1" smtClean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6" name="Line 7"/>
          <p:cNvSpPr>
            <a:spLocks noChangeShapeType="1"/>
          </p:cNvSpPr>
          <p:nvPr/>
        </p:nvSpPr>
        <p:spPr bwMode="auto">
          <a:xfrm>
            <a:off x="6324600" y="1447800"/>
            <a:ext cx="76200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05800" cy="609600"/>
          </a:xfrm>
        </p:spPr>
        <p:txBody>
          <a:bodyPr/>
          <a:lstStyle/>
          <a:p>
            <a:r>
              <a:rPr lang="en-US" altLang="en-US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Thick and thin skin</a:t>
            </a:r>
            <a:endParaRPr lang="en-US" altLang="en-US" sz="28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3" name="Date Placeholder 3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2ED646-B32B-4C8E-856E-8F26AB84E94F}" type="datetime1">
              <a:rPr lang="en-US" altLang="en-US" sz="1400" smtClean="0">
                <a:solidFill>
                  <a:srgbClr val="696464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696464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4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696464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400" smtClean="0">
              <a:solidFill>
                <a:srgbClr val="696464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82B6E53-90CA-4A21-9EF4-A74785CB78FE}" type="slidenum">
              <a:rPr lang="en-US" smtClean="0"/>
            </a:fld>
            <a:endParaRPr lang="en-US"/>
          </a:p>
        </p:txBody>
      </p:sp>
      <p:pic>
        <p:nvPicPr>
          <p:cNvPr id="4096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35" y="762000"/>
            <a:ext cx="8590465" cy="56085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4" descr="hl6-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0" b="8597"/>
          <a:stretch>
            <a:fillRect/>
          </a:stretch>
        </p:blipFill>
        <p:spPr bwMode="auto">
          <a:xfrm>
            <a:off x="2971800" y="304800"/>
            <a:ext cx="59436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Line 5"/>
          <p:cNvSpPr>
            <a:spLocks noChangeShapeType="1"/>
          </p:cNvSpPr>
          <p:nvPr/>
        </p:nvSpPr>
        <p:spPr bwMode="auto">
          <a:xfrm>
            <a:off x="7650163" y="762000"/>
            <a:ext cx="0" cy="41910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Line 8"/>
          <p:cNvSpPr>
            <a:spLocks noChangeShapeType="1"/>
          </p:cNvSpPr>
          <p:nvPr/>
        </p:nvSpPr>
        <p:spPr bwMode="auto">
          <a:xfrm>
            <a:off x="6172200" y="4038600"/>
            <a:ext cx="76200" cy="2133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76200" y="1676400"/>
            <a:ext cx="2590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smtClean="0">
                <a:solidFill>
                  <a:srgbClr val="002060"/>
                </a:solidFill>
                <a:latin typeface="Times New Roman" panose="02020603050405020304" pitchFamily="18" charset="0"/>
              </a:rPr>
              <a:t>Identify the 2 layers indicated by the arrows</a:t>
            </a:r>
            <a:endParaRPr lang="en-US" altLang="en-US" sz="2400" smtClean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DDB19A-1EBF-462B-8099-0C05B3AA6113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67A809-A417-473C-B7F5-E2AC4711B96F}" type="slidenum">
              <a:rPr lang="en-US"/>
            </a:fld>
            <a:endParaRPr 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animBg="1"/>
      <p:bldP spid="3789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4495800" cy="457200"/>
          </a:xfrm>
          <a:solidFill>
            <a:schemeClr val="bg1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Color</a:t>
            </a:r>
            <a:endParaRPr lang="en-US" altLang="en-US" sz="28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85800"/>
            <a:ext cx="5562600" cy="2286000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Due to </a:t>
            </a:r>
            <a:r>
              <a:rPr lang="en-US" alt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pigments: 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Melanin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Carotene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Hemoglobin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these, only melanin is made in the skin</a:t>
            </a:r>
            <a:r>
              <a:rPr lang="en-US" altLang="en-US" sz="2800" smtClean="0"/>
              <a:t>.</a:t>
            </a:r>
            <a:endParaRPr lang="en-US" altLang="en-US" sz="2800" smtClean="0"/>
          </a:p>
          <a:p>
            <a:pPr marL="609600" indent="-609600" eaLnBrk="1" hangingPunct="1">
              <a:lnSpc>
                <a:spcPct val="80000"/>
              </a:lnSpc>
            </a:pPr>
            <a:endParaRPr lang="en-US" altLang="en-US" smtClean="0"/>
          </a:p>
          <a:p>
            <a:pPr marL="609600" indent="-609600" eaLnBrk="1" hangingPunct="1">
              <a:lnSpc>
                <a:spcPct val="80000"/>
              </a:lnSpc>
            </a:pPr>
            <a:endParaRPr lang="en-US" altLang="en-US" sz="2000" smtClean="0">
              <a:solidFill>
                <a:srgbClr val="FFFFFF"/>
              </a:solidFill>
            </a:endParaRPr>
          </a:p>
        </p:txBody>
      </p:sp>
      <p:pic>
        <p:nvPicPr>
          <p:cNvPr id="43012" name="Picture 3" descr="coll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53075" y="152400"/>
            <a:ext cx="3209925" cy="3048000"/>
          </a:xfrm>
          <a:noFill/>
        </p:spPr>
      </p:pic>
      <p:sp>
        <p:nvSpPr>
          <p:cNvPr id="4301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A8819DA-EC6C-435D-9920-1869D180EF36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716918-37C3-4E44-9CF8-E1AD78EAB14E}" type="slidenum">
              <a:rPr lang="en-US" smtClean="0"/>
            </a:fld>
            <a:endParaRPr lang="en-US"/>
          </a:p>
        </p:txBody>
      </p:sp>
      <p:sp>
        <p:nvSpPr>
          <p:cNvPr id="43016" name="Rectangle 5"/>
          <p:cNvSpPr>
            <a:spLocks noChangeArrowheads="1"/>
          </p:cNvSpPr>
          <p:nvPr/>
        </p:nvSpPr>
        <p:spPr bwMode="auto">
          <a:xfrm>
            <a:off x="0" y="2743200"/>
            <a:ext cx="9067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990600" indent="-53340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Calibri" panose="020F0502020204030204" pitchFamily="34" charset="0"/>
              <a:buAutoNum type="arabicPeriod"/>
            </a:pPr>
            <a:r>
              <a:rPr lang="en-US" altLang="en-US" sz="2400" b="1" smtClean="0">
                <a:solidFill>
                  <a:srgbClr val="FF3300"/>
                </a:solidFill>
                <a:latin typeface="Times New Roman" panose="02020603050405020304" pitchFamily="18" charset="0"/>
              </a:rPr>
              <a:t>Melanin</a:t>
            </a:r>
            <a:r>
              <a:rPr lang="en-US" altLang="en-US" sz="2800" smtClean="0">
                <a:solidFill>
                  <a:srgbClr val="002060"/>
                </a:solidFill>
                <a:latin typeface="Times New Roman" panose="02020603050405020304" pitchFamily="18" charset="0"/>
              </a:rPr>
              <a:t>:</a:t>
            </a:r>
            <a:endParaRPr lang="en-US" altLang="en-US" sz="2800" smtClean="0">
              <a:solidFill>
                <a:srgbClr val="002060"/>
              </a:solidFill>
              <a:latin typeface="Times New Roman" panose="02020603050405020304" pitchFamily="18" charset="0"/>
            </a:endParaRPr>
          </a:p>
          <a:p>
            <a:pPr lvl="1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¨"/>
            </a:pPr>
            <a:r>
              <a:rPr lang="en-US" altLang="en-US" sz="2200" smtClean="0">
                <a:solidFill>
                  <a:prstClr val="black"/>
                </a:solidFill>
                <a:latin typeface="Times New Roman" panose="02020603050405020304" pitchFamily="18" charset="0"/>
              </a:rPr>
              <a:t>Polymer of tyrosine amino acids.  Its synthesis is catalyzed by an enzyme called tyrosinase.  Albinos lack this enzyme.</a:t>
            </a:r>
            <a:endParaRPr lang="en-US" altLang="en-US" sz="22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1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¨"/>
            </a:pPr>
            <a:r>
              <a:rPr lang="en-US" altLang="en-US" sz="2200" smtClean="0">
                <a:solidFill>
                  <a:prstClr val="black"/>
                </a:solidFill>
                <a:latin typeface="Times New Roman" panose="02020603050405020304" pitchFamily="18" charset="0"/>
              </a:rPr>
              <a:t>Ranges in color from yellow to reddish brown to black.</a:t>
            </a:r>
            <a:endParaRPr lang="en-US" altLang="en-US" sz="22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1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¨"/>
            </a:pPr>
            <a:r>
              <a:rPr lang="en-US" altLang="en-US" sz="2200" smtClean="0">
                <a:solidFill>
                  <a:prstClr val="black"/>
                </a:solidFill>
                <a:latin typeface="Times New Roman" panose="02020603050405020304" pitchFamily="18" charset="0"/>
              </a:rPr>
              <a:t>All people have the same # of melanocytes, individual variations in skin color are due to how much and what type of melanin is made.</a:t>
            </a:r>
            <a:endParaRPr lang="en-US" altLang="en-US" sz="22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lvl="1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Symbol" panose="05050102010706020507" pitchFamily="18" charset="2"/>
              <a:buChar char="¨"/>
            </a:pPr>
            <a:r>
              <a:rPr lang="en-US" altLang="en-US" sz="2200" b="1" smtClean="0">
                <a:solidFill>
                  <a:prstClr val="black"/>
                </a:solidFill>
                <a:latin typeface="Times New Roman" panose="02020603050405020304" pitchFamily="18" charset="0"/>
              </a:rPr>
              <a:t>Freckles</a:t>
            </a:r>
            <a:r>
              <a:rPr lang="en-US" altLang="en-US" sz="2200" smtClean="0">
                <a:solidFill>
                  <a:prstClr val="black"/>
                </a:solidFill>
                <a:latin typeface="Times New Roman" panose="02020603050405020304" pitchFamily="18" charset="0"/>
              </a:rPr>
              <a:t> and </a:t>
            </a:r>
            <a:r>
              <a:rPr lang="en-US" altLang="en-US" sz="2200" b="1" smtClean="0">
                <a:solidFill>
                  <a:prstClr val="black"/>
                </a:solidFill>
                <a:latin typeface="Times New Roman" panose="02020603050405020304" pitchFamily="18" charset="0"/>
              </a:rPr>
              <a:t>moles </a:t>
            </a:r>
            <a:r>
              <a:rPr lang="en-US" altLang="en-US" sz="2200" smtClean="0">
                <a:solidFill>
                  <a:prstClr val="black"/>
                </a:solidFill>
                <a:latin typeface="Times New Roman" panose="02020603050405020304" pitchFamily="18" charset="0"/>
              </a:rPr>
              <a:t>are local accumulations of melanin.</a:t>
            </a:r>
            <a:endParaRPr lang="en-US" altLang="en-US" sz="22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8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8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  <a:p>
            <a:pPr eaLnBrk="1" fontAlgn="base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8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B4B1DDE-642A-424D-A18D-FF81FC3F4E87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1D78FC-DF66-47BB-B19A-34612A2F534B}" type="slidenum">
              <a:rPr lang="en-US"/>
            </a:fld>
            <a:endParaRPr lang="en-US"/>
          </a:p>
        </p:txBody>
      </p:sp>
      <p:sp>
        <p:nvSpPr>
          <p:cNvPr id="2355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9144000" cy="6858000"/>
          </a:xfrm>
        </p:spPr>
        <p:txBody>
          <a:bodyPr rtlCol="0">
            <a:normAutofit/>
          </a:bodyPr>
          <a:lstStyle/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Carotene</a:t>
            </a:r>
            <a:endParaRPr 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Yellow to orange pigment found in plant products such as carrots.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large amounts are eaten, it can be deposited in the stratum Corneum of thick skin.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Hemoglobin</a:t>
            </a:r>
            <a:endParaRPr lang="en-US" sz="24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Pigmented protein that transports oxygen within the blood.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220" lvl="1" indent="-342900" eaLnBrk="1" fontAlgn="auto" hangingPunct="1">
              <a:lnSpc>
                <a:spcPct val="150000"/>
              </a:lnSpc>
              <a:spcBef>
                <a:spcPts val="37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Caucasians, the fair skin allows the crimson color of oxygenated blood to make the skin have a somewhat pinkish hue.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038" name="Picture 2" descr="j02153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3" y="1752600"/>
            <a:ext cx="2971800" cy="114300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48200" y="228600"/>
            <a:ext cx="44958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Dermis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304800"/>
            <a:ext cx="5410200" cy="6172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Strong, flexible fibrous connective tissue</a:t>
            </a:r>
            <a:r>
              <a:rPr lang="en-US" altLang="en-US" sz="24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Divided into </a:t>
            </a:r>
            <a:r>
              <a:rPr lang="en-US" altLang="en-US" sz="24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papillary dermis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reticular dermis.</a:t>
            </a:r>
            <a:endParaRPr lang="en-US" altLang="en-US" sz="240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Papillary dermis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upper 1/5 of the dermis and consists of loose (areolar) CT.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area for immune cells to fight invaders.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Projects upward (as) to interdigitate and form a strong connection with the epidermis.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Heavily invested with blood vessels – they constrict in cold weather and dilate in warm weather.   Why?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contains multiple sensory receptors. 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060" name="Picture 2" descr="dermis4x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769781"/>
            <a:ext cx="4038600" cy="4156638"/>
          </a:xfrm>
          <a:noFill/>
        </p:spPr>
      </p:pic>
      <p:sp>
        <p:nvSpPr>
          <p:cNvPr id="4506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D871EEF-4866-4452-943B-5EA9C8D90C24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53CBF4-9D58-471D-89F2-D5D8602E9030}" type="slidenum">
              <a:rPr lang="en-US" smtClean="0"/>
            </a:fld>
            <a:endParaRPr lang="en-US"/>
          </a:p>
        </p:txBody>
      </p:sp>
      <p:sp>
        <p:nvSpPr>
          <p:cNvPr id="45064" name="Line 4"/>
          <p:cNvSpPr>
            <a:spLocks noChangeShapeType="1"/>
          </p:cNvSpPr>
          <p:nvPr/>
        </p:nvSpPr>
        <p:spPr bwMode="auto">
          <a:xfrm>
            <a:off x="6430963" y="1219200"/>
            <a:ext cx="381000" cy="2438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5" name="Rectangle 5"/>
          <p:cNvSpPr>
            <a:spLocks noChangeArrowheads="1"/>
          </p:cNvSpPr>
          <p:nvPr/>
        </p:nvSpPr>
        <p:spPr bwMode="auto">
          <a:xfrm>
            <a:off x="5257800" y="757238"/>
            <a:ext cx="25146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smtClean="0">
                <a:solidFill>
                  <a:srgbClr val="00B050"/>
                </a:solidFill>
                <a:latin typeface="Times New Roman" panose="02020603050405020304" pitchFamily="18" charset="0"/>
              </a:rPr>
              <a:t>dermal papillae</a:t>
            </a:r>
            <a:endParaRPr lang="en-US" altLang="en-US" sz="2400" b="1" smtClean="0">
              <a:solidFill>
                <a:srgbClr val="00B05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5638800" y="76200"/>
            <a:ext cx="3048000" cy="762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en-US" b="1" smtClean="0">
                <a:solidFill>
                  <a:srgbClr val="000000"/>
                </a:solidFill>
              </a:rPr>
              <a:t>Dermis</a:t>
            </a:r>
            <a:endParaRPr lang="en-US" altLang="en-US" b="1" smtClean="0">
              <a:solidFill>
                <a:srgbClr val="000000"/>
              </a:solidFill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0"/>
            <a:ext cx="4495800" cy="64008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b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Reticular dermis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lower 4/5 and consists of dense irregular connective tissue.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prominent, horizontally running collagenous fibers give the skin strength and resiliency.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Elastic fibers give the skin the ability to stretch and recoil.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the appendages of the skin are contained within the dermis.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6084" name="Picture 2" descr="Nrml-001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53"/>
          <a:stretch>
            <a:fillRect/>
          </a:stretch>
        </p:blipFill>
        <p:spPr>
          <a:xfrm>
            <a:off x="4572000" y="990600"/>
            <a:ext cx="4495800" cy="4743450"/>
          </a:xfrm>
          <a:noFill/>
        </p:spPr>
      </p:pic>
      <p:sp>
        <p:nvSpPr>
          <p:cNvPr id="4608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69E7302-78D7-44F4-AEFF-F769DE560277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6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CCA520-BB2D-4F76-995F-E27D6D46AE71}" type="slidenum">
              <a:rPr lang="en-US" smtClean="0"/>
            </a:fld>
            <a:endParaRPr lang="en-US"/>
          </a:p>
        </p:txBody>
      </p:sp>
      <p:sp>
        <p:nvSpPr>
          <p:cNvPr id="46088" name="Line 4"/>
          <p:cNvSpPr>
            <a:spLocks noChangeShapeType="1"/>
          </p:cNvSpPr>
          <p:nvPr/>
        </p:nvSpPr>
        <p:spPr bwMode="auto">
          <a:xfrm>
            <a:off x="4800600" y="2590800"/>
            <a:ext cx="0" cy="5334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9" name="Line 5"/>
          <p:cNvSpPr>
            <a:spLocks noChangeShapeType="1"/>
          </p:cNvSpPr>
          <p:nvPr/>
        </p:nvSpPr>
        <p:spPr bwMode="auto">
          <a:xfrm>
            <a:off x="5791200" y="3200400"/>
            <a:ext cx="0" cy="25146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90" name="Text Box 6"/>
          <p:cNvSpPr txBox="1">
            <a:spLocks noChangeArrowheads="1"/>
          </p:cNvSpPr>
          <p:nvPr/>
        </p:nvSpPr>
        <p:spPr bwMode="auto">
          <a:xfrm>
            <a:off x="4419600" y="5692775"/>
            <a:ext cx="5181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smtClean="0">
                <a:solidFill>
                  <a:prstClr val="black"/>
                </a:solidFill>
                <a:latin typeface="Times New Roman" panose="02020603050405020304" pitchFamily="18" charset="0"/>
              </a:rPr>
              <a:t>Red arrow indicates the papillary dermis and blue arrow indicates the reticular dermis</a:t>
            </a:r>
            <a:endParaRPr lang="en-US" altLang="en-US" sz="20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0" y="152400"/>
            <a:ext cx="43434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Subcutaneous Tissue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0"/>
            <a:ext cx="5181600" cy="61722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A.k.a. the </a:t>
            </a:r>
            <a:r>
              <a:rPr lang="en-US" alt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hypodermis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the superficial fascia.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Deep to the dermis.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primarily adipose tissue plus some loose areolar connective tissue.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Stores energy, provides insulation and padding.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Anchors the skin to underlying structures, especially muscles.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distribution between the sexes</a:t>
            </a:r>
            <a:r>
              <a:rPr lang="en-US" altLang="en-US" sz="24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108" name="Picture 2" descr="pik18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609600"/>
            <a:ext cx="3962400" cy="5791200"/>
          </a:xfrm>
          <a:noFill/>
        </p:spPr>
      </p:pic>
      <p:sp>
        <p:nvSpPr>
          <p:cNvPr id="4710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EFFF988-A934-45E4-AC55-2A3DB30442F1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5C3FBA-EF9E-416D-A2B6-379DDB977199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52578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Appendages of the Skin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685800"/>
            <a:ext cx="4343400" cy="5410200"/>
          </a:xfrm>
        </p:spPr>
        <p:txBody>
          <a:bodyPr/>
          <a:lstStyle/>
          <a:p>
            <a:pPr marL="609600" indent="-609600" eaLnBrk="1" hangingPunct="1">
              <a:lnSpc>
                <a:spcPct val="150000"/>
              </a:lnSpc>
              <a:buFont typeface="Franklin Gothic Book" panose="020B0503020102020204" pitchFamily="34" charset="0"/>
              <a:buAutoNum type="alphaUcPeriod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Franklin Gothic Book" panose="020B0503020102020204" pitchFamily="34" charset="0"/>
              <a:buAutoNum type="alphaUcPeriod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Nails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lnSpc>
                <a:spcPct val="150000"/>
              </a:lnSpc>
              <a:buFont typeface="Franklin Gothic Book" panose="020B0503020102020204" pitchFamily="34" charset="0"/>
              <a:buAutoNum type="alphaUcPeriod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 glands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514350" eaLnBrk="1" hangingPunct="1">
              <a:lnSpc>
                <a:spcPct val="150000"/>
              </a:lnSpc>
              <a:buFont typeface="Franklin Gothic Book" panose="020B0503020102020204" pitchFamily="34" charset="0"/>
              <a:buAutoNum type="romanUcPeriod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Sebaceous glands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514350" eaLnBrk="1" hangingPunct="1">
              <a:lnSpc>
                <a:spcPct val="150000"/>
              </a:lnSpc>
              <a:buFont typeface="Franklin Gothic Book" panose="020B0503020102020204" pitchFamily="34" charset="0"/>
              <a:buAutoNum type="romanUcPeriod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Sudoriferous glands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9305" lvl="1" indent="-514350" eaLnBrk="1" hangingPunct="1">
              <a:lnSpc>
                <a:spcPct val="150000"/>
              </a:lnSpc>
              <a:buFont typeface="Franklin Gothic Book" panose="020B0503020102020204" pitchFamily="34" charset="0"/>
              <a:buAutoNum type="romanUcPeriod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Apocrine sweat glands (e.g. Ceruminous glands)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indent="-609600" eaLnBrk="1" hangingPunct="1">
              <a:buFontTx/>
              <a:buNone/>
            </a:pPr>
            <a:endParaRPr lang="en-US" altLang="en-US" b="1" smtClean="0">
              <a:solidFill>
                <a:srgbClr val="002060"/>
              </a:solidFill>
            </a:endParaRPr>
          </a:p>
        </p:txBody>
      </p:sp>
      <p:pic>
        <p:nvPicPr>
          <p:cNvPr id="48132" name="Picture 2" descr="big version">
            <a:hlinkClick r:id="rId1"/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52400"/>
            <a:ext cx="4343400" cy="6324600"/>
          </a:xfrm>
        </p:spPr>
      </p:pic>
      <p:sp>
        <p:nvSpPr>
          <p:cNvPr id="4813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2E8909A-5F17-476E-BF13-CAA9EF0964C6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968B53-1A3F-4277-B68B-9D80F230BC83}" type="slidenum">
              <a:rPr lang="en-US" smtClean="0"/>
            </a:fld>
            <a:endParaRPr lang="en-US"/>
          </a:p>
        </p:txBody>
      </p:sp>
      <p:sp>
        <p:nvSpPr>
          <p:cNvPr id="48136" name="Text Box 4"/>
          <p:cNvSpPr txBox="1">
            <a:spLocks noChangeArrowheads="1"/>
          </p:cNvSpPr>
          <p:nvPr/>
        </p:nvSpPr>
        <p:spPr bwMode="auto">
          <a:xfrm>
            <a:off x="7239000" y="2971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smtClean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endParaRPr lang="en-US" altLang="en-US" sz="2400" b="1" smtClean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7" name="Text Box 5"/>
          <p:cNvSpPr txBox="1">
            <a:spLocks noChangeArrowheads="1"/>
          </p:cNvSpPr>
          <p:nvPr/>
        </p:nvSpPr>
        <p:spPr bwMode="auto">
          <a:xfrm>
            <a:off x="8458200" y="4648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smtClean="0">
                <a:solidFill>
                  <a:srgbClr val="0000CC"/>
                </a:solidFill>
                <a:latin typeface="Times New Roman" panose="02020603050405020304" pitchFamily="18" charset="0"/>
              </a:rPr>
              <a:t>2</a:t>
            </a:r>
            <a:endParaRPr lang="en-US" altLang="en-US" sz="2400" b="1" smtClean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8" name="Text Box 6"/>
          <p:cNvSpPr txBox="1">
            <a:spLocks noChangeArrowheads="1"/>
          </p:cNvSpPr>
          <p:nvPr/>
        </p:nvSpPr>
        <p:spPr bwMode="auto">
          <a:xfrm>
            <a:off x="6477000" y="3581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b="1" smtClean="0">
                <a:solidFill>
                  <a:srgbClr val="0000CC"/>
                </a:solidFill>
                <a:latin typeface="Times New Roman" panose="02020603050405020304" pitchFamily="18" charset="0"/>
              </a:rPr>
              <a:t>4</a:t>
            </a:r>
            <a:endParaRPr lang="en-US" altLang="en-US" sz="2400" b="1" smtClean="0">
              <a:solidFill>
                <a:srgbClr val="0000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74676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 and Hair Follicles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609600"/>
            <a:ext cx="9144000" cy="6248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Hair is a flexible strand made of highly keratinized dead cells.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keratin in both hair and nails is </a:t>
            </a:r>
            <a:r>
              <a:rPr lang="en-US" altLang="en-US" sz="24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 keratin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 stiffer, more compact version of the </a:t>
            </a:r>
            <a:r>
              <a:rPr lang="en-US" altLang="en-US" sz="2400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 keratin</a:t>
            </a:r>
            <a:r>
              <a:rPr lang="en-US" altLang="en-US" sz="2400" i="1" u="sng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dominates the epidermis. 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is tougher and its cells do not individually flake off.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hair is made by the living hair follicle</a:t>
            </a:r>
            <a:r>
              <a:rPr lang="en-US" altLang="en-US" smtClean="0">
                <a:solidFill>
                  <a:srgbClr val="002060"/>
                </a:solidFill>
              </a:rPr>
              <a:t>.</a:t>
            </a:r>
            <a:endParaRPr lang="en-US" altLang="en-US" smtClean="0">
              <a:solidFill>
                <a:srgbClr val="002060"/>
              </a:solidFill>
            </a:endParaRPr>
          </a:p>
          <a:p>
            <a:pPr eaLnBrk="1" hangingPunct="1"/>
            <a:endParaRPr lang="en-US" altLang="en-US" smtClean="0">
              <a:solidFill>
                <a:srgbClr val="002060"/>
              </a:solidFill>
            </a:endParaRPr>
          </a:p>
        </p:txBody>
      </p:sp>
      <p:sp>
        <p:nvSpPr>
          <p:cNvPr id="4915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518879C-70C0-4D57-9765-2382DCF3860D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8C8810-1548-40C5-8F86-1FD0DF29263A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70104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 and Hair Follicles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533400"/>
            <a:ext cx="8915400" cy="5791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Hair consists of a shaft which protrudes from the skin and the root which is within the skin and base, the root gets wider forming the hair bulb.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hair consists of 3 concentric regions: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17855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2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Medulla</a:t>
            </a: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the innermost region consisting of large cells and 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air spaces.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617855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Cortex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surrounds the medulla and consists of flattened 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keratinized cells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617855" lvl="1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Cuticle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outer layer of flat keratinized cells that overlap like shingles with their free edges pointing upward.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18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F293E38-610D-4155-8176-2A5DD7EF7998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7981B8-05B6-4D80-A08A-2D2CFD858129}" type="slidenum">
              <a:rPr lang="en-US" smtClean="0"/>
            </a:fld>
            <a:endParaRPr lang="en-US"/>
          </a:p>
        </p:txBody>
      </p:sp>
      <p:graphicFrame>
        <p:nvGraphicFramePr>
          <p:cNvPr id="2" name="Object 1"/>
          <p:cNvGraphicFramePr>
            <a:graphicFrameLocks noGrp="1" noChangeAspect="1"/>
          </p:cNvGraphicFramePr>
          <p:nvPr/>
        </p:nvGraphicFramePr>
        <p:xfrm>
          <a:off x="304800" y="609600"/>
          <a:ext cx="8305800" cy="548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4" name="Photo Editor Photo" r:id="rId1" imgW="6657975" imgH="4191000" progId="MSPhotoEd.3">
                  <p:embed/>
                </p:oleObj>
              </mc:Choice>
              <mc:Fallback>
                <p:oleObj name="Photo Editor Photo" r:id="rId1" imgW="6657975" imgH="4191000" progId="MSPhotoEd.3">
                  <p:embed/>
                  <p:pic>
                    <p:nvPicPr>
                      <p:cNvPr id="0" name="Picture 110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8000" b="10001"/>
                      <a:stretch>
                        <a:fillRect/>
                      </a:stretch>
                    </p:blipFill>
                    <p:spPr bwMode="auto">
                      <a:xfrm>
                        <a:off x="304800" y="609600"/>
                        <a:ext cx="8305800" cy="548640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 7"/>
          <p:cNvSpPr/>
          <p:nvPr/>
        </p:nvSpPr>
        <p:spPr bwMode="auto">
          <a:xfrm>
            <a:off x="7780338" y="2743200"/>
            <a:ext cx="500062" cy="1355725"/>
          </a:xfrm>
          <a:custGeom>
            <a:avLst/>
            <a:gdLst>
              <a:gd name="T0" fmla="*/ 2147483647 w 315"/>
              <a:gd name="T1" fmla="*/ 0 h 854"/>
              <a:gd name="T2" fmla="*/ 2147483647 w 315"/>
              <a:gd name="T3" fmla="*/ 2147483647 h 854"/>
              <a:gd name="T4" fmla="*/ 2147483647 w 315"/>
              <a:gd name="T5" fmla="*/ 2147483647 h 854"/>
              <a:gd name="T6" fmla="*/ 2147483647 w 315"/>
              <a:gd name="T7" fmla="*/ 2147483647 h 854"/>
              <a:gd name="T8" fmla="*/ 2147483647 w 315"/>
              <a:gd name="T9" fmla="*/ 2147483647 h 854"/>
              <a:gd name="T10" fmla="*/ 2147483647 w 315"/>
              <a:gd name="T11" fmla="*/ 2147483647 h 854"/>
              <a:gd name="T12" fmla="*/ 2147483647 w 315"/>
              <a:gd name="T13" fmla="*/ 2147483647 h 854"/>
              <a:gd name="T14" fmla="*/ 2147483647 w 315"/>
              <a:gd name="T15" fmla="*/ 2147483647 h 854"/>
              <a:gd name="T16" fmla="*/ 2147483647 w 315"/>
              <a:gd name="T17" fmla="*/ 2147483647 h 854"/>
              <a:gd name="T18" fmla="*/ 0 w 315"/>
              <a:gd name="T19" fmla="*/ 2147483647 h 85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15"/>
              <a:gd name="T31" fmla="*/ 0 h 854"/>
              <a:gd name="T32" fmla="*/ 315 w 315"/>
              <a:gd name="T33" fmla="*/ 854 h 854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15" h="854">
                <a:moveTo>
                  <a:pt x="18" y="0"/>
                </a:moveTo>
                <a:cubicBezTo>
                  <a:pt x="51" y="3"/>
                  <a:pt x="85" y="6"/>
                  <a:pt x="118" y="9"/>
                </a:cubicBezTo>
                <a:cubicBezTo>
                  <a:pt x="143" y="12"/>
                  <a:pt x="172" y="4"/>
                  <a:pt x="192" y="18"/>
                </a:cubicBezTo>
                <a:cubicBezTo>
                  <a:pt x="203" y="25"/>
                  <a:pt x="216" y="105"/>
                  <a:pt x="219" y="119"/>
                </a:cubicBezTo>
                <a:cubicBezTo>
                  <a:pt x="224" y="258"/>
                  <a:pt x="172" y="368"/>
                  <a:pt x="301" y="411"/>
                </a:cubicBezTo>
                <a:cubicBezTo>
                  <a:pt x="315" y="455"/>
                  <a:pt x="308" y="461"/>
                  <a:pt x="265" y="475"/>
                </a:cubicBezTo>
                <a:cubicBezTo>
                  <a:pt x="243" y="497"/>
                  <a:pt x="218" y="503"/>
                  <a:pt x="192" y="521"/>
                </a:cubicBezTo>
                <a:cubicBezTo>
                  <a:pt x="200" y="603"/>
                  <a:pt x="231" y="728"/>
                  <a:pt x="201" y="805"/>
                </a:cubicBezTo>
                <a:cubicBezTo>
                  <a:pt x="194" y="823"/>
                  <a:pt x="162" y="813"/>
                  <a:pt x="146" y="823"/>
                </a:cubicBezTo>
                <a:cubicBezTo>
                  <a:pt x="97" y="854"/>
                  <a:pt x="59" y="850"/>
                  <a:pt x="0" y="850"/>
                </a:cubicBezTo>
              </a:path>
            </a:pathLst>
          </a:custGeom>
          <a:noFill/>
          <a:ln w="762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334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 and Hair Follicles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609600"/>
            <a:ext cx="8839200" cy="6248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hair follicle surrounds much of the hair root.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contains an outer CT sheath &amp; inner epithelial root sheath.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 the base of the hair follicle is a single layer of mitotic cells derived from the stratum basale.  This is the hair matrix.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the cells of the hair are derived from the hair matrix.  Just beneath the hair matrix is an obvious dermal papilla called hair follicle.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891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609600" y="762000"/>
          <a:ext cx="7086600" cy="5477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9" name="Photo Editor Photo" r:id="rId1" imgW="4171950" imgH="4048125" progId="MSPhotoEd.3">
                  <p:embed/>
                </p:oleObj>
              </mc:Choice>
              <mc:Fallback>
                <p:oleObj name="Photo Editor Photo" r:id="rId1" imgW="4171950" imgH="4048125" progId="MSPhotoEd.3">
                  <p:embed/>
                  <p:pic>
                    <p:nvPicPr>
                      <p:cNvPr id="0" name="Picture 2128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b="6409"/>
                      <a:stretch>
                        <a:fillRect/>
                      </a:stretch>
                    </p:blipFill>
                    <p:spPr bwMode="auto">
                      <a:xfrm>
                        <a:off x="609600" y="762000"/>
                        <a:ext cx="7086600" cy="5477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DA3747E-F479-4C48-B43B-4024D8AE2CFB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6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B08B08-DE52-4FA6-B9B5-9F05CCA8D149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53340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Hair and Hair Follicles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533400"/>
            <a:ext cx="5486400" cy="61722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Wrapped around the bulb of the follicle is a network of sensory nerve endings known as the hair root plexus. Allow the hairs to serve a sensory function.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Attached to each hair is a bundle of smooth muscle known as an arrector pili muscle. 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times of fright or cold, these muscles contract and cause the hair to stand o</a:t>
            </a:r>
            <a:r>
              <a:rPr lang="en-US" altLang="en-US" sz="24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end – and produces goose bumps.</a:t>
            </a:r>
            <a:endParaRPr lang="en-US" altLang="en-US" sz="240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2228" name="Picture 3" descr="merkel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46895" r="22000"/>
          <a:stretch>
            <a:fillRect/>
          </a:stretch>
        </p:blipFill>
        <p:spPr>
          <a:xfrm>
            <a:off x="5486400" y="152400"/>
            <a:ext cx="3429000" cy="2362200"/>
          </a:xfrm>
          <a:noFill/>
        </p:spPr>
      </p:pic>
      <p:pic>
        <p:nvPicPr>
          <p:cNvPr id="52229" name="Picture 5" descr="big version">
            <a:hlinkClick r:id="rId2"/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83" b="10863"/>
          <a:stretch>
            <a:fillRect/>
          </a:stretch>
        </p:blipFill>
        <p:spPr>
          <a:xfrm>
            <a:off x="5410200" y="2514600"/>
            <a:ext cx="3429000" cy="3810000"/>
          </a:xfrm>
        </p:spPr>
      </p:pic>
      <p:sp>
        <p:nvSpPr>
          <p:cNvPr id="5223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3620E89-734C-42A7-A81D-4CD3EEC8935D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3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7EE064-4148-4E2B-9988-F622A09C075D}" type="slidenum">
              <a:rPr lang="en-US" smtClean="0"/>
            </a:fld>
            <a:endParaRPr lang="en-US"/>
          </a:p>
        </p:txBody>
      </p:sp>
      <p:sp>
        <p:nvSpPr>
          <p:cNvPr id="52233" name="Line 7"/>
          <p:cNvSpPr>
            <a:spLocks noChangeShapeType="1"/>
          </p:cNvSpPr>
          <p:nvPr/>
        </p:nvSpPr>
        <p:spPr bwMode="auto">
          <a:xfrm>
            <a:off x="8077200" y="4953000"/>
            <a:ext cx="152400" cy="762000"/>
          </a:xfrm>
          <a:prstGeom prst="line">
            <a:avLst/>
          </a:prstGeom>
          <a:noFill/>
          <a:ln w="76200">
            <a:solidFill>
              <a:schemeClr val="bg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276225" y="1668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th-TH" altLang="en-US" sz="2400" smtClean="0">
              <a:solidFill>
                <a:prstClr val="black"/>
              </a:solidFill>
              <a:latin typeface="Times New Roman" panose="02020603050405020304" pitchFamily="18" charset="0"/>
              <a:ea typeface="EucrosiaUPC"/>
            </a:endParaRPr>
          </a:p>
        </p:txBody>
      </p:sp>
      <p:pic>
        <p:nvPicPr>
          <p:cNvPr id="53251" name="Picture 4" descr="t14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458200" cy="554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2" name="Rectangle 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915400" cy="1219200"/>
          </a:xfrm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arrow indicates an arrector pili muscle.  In this picture, you should also try to identify the shaft, root, follicle, hair papilla, and sebaceous gland.</a:t>
            </a:r>
            <a:endParaRPr lang="en-US" altLang="en-US" sz="2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25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6E9A72F-BA5C-4910-95CB-A635A1FB1B12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D9CB1-6D2F-4E21-8B68-4EAB6DA95150}" type="slidenum">
              <a:rPr lang="en-US"/>
            </a:fld>
            <a:endParaRPr lang="en-US"/>
          </a:p>
        </p:txBody>
      </p:sp>
      <p:sp>
        <p:nvSpPr>
          <p:cNvPr id="53256" name="Line 7"/>
          <p:cNvSpPr>
            <a:spLocks noChangeShapeType="1"/>
          </p:cNvSpPr>
          <p:nvPr/>
        </p:nvSpPr>
        <p:spPr bwMode="auto">
          <a:xfrm flipV="1">
            <a:off x="6172200" y="4114800"/>
            <a:ext cx="381000" cy="68580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5334000" cy="381000"/>
          </a:xfrm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hair </a:t>
            </a:r>
            <a:endParaRPr lang="en-US" altLang="en-US" sz="2800" b="1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5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C0C0D51-8424-4478-A423-9CFE609E923F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B3527-0D12-4291-8542-EDF4FAF7CECE}" type="slidenum">
              <a:rPr lang="en-US"/>
            </a:fld>
            <a:endParaRPr lang="en-US"/>
          </a:p>
        </p:txBody>
      </p:sp>
      <p:sp>
        <p:nvSpPr>
          <p:cNvPr id="54278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533400"/>
            <a:ext cx="8839200" cy="5943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 all hair is alike, even on one person. Over the course of our lives, we grow three kinds of hair; </a:t>
            </a: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lanugo, vellus 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terminal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Lanugo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fine, downy, unpigmented hair that appears on the fetus in the last 3 months of development.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Vellus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by the time of birth, most of it is replaced by similar fine, unpigmented hair called </a:t>
            </a: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vellus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Except for the eyebrows, eyelashes, and hair of the scalp, all of the hair of children, two-thirds of the hair of women and one-tenth of the hair of men is </a:t>
            </a: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vellus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hair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longer, coarser, and pigmented. It occurs on the scalp, eyebrow, and eyelashes; at puberty it replaces the vellus in the axillary and pubic regions, on the face of males (to from the beard), and to varying degrees on the trunk &amp; limbs.) 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000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6096000" cy="4873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 of Hair</a:t>
            </a:r>
            <a:endParaRPr lang="en-US" altLang="en-US" sz="28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29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0F61AAF-884D-4902-9E0C-18EBF05413D7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00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6E3693-E645-440F-87FA-74DFDF9C2426}" type="slidenum">
              <a:rPr lang="en-US"/>
            </a:fld>
            <a:endParaRPr lang="en-US"/>
          </a:p>
        </p:txBody>
      </p:sp>
      <p:sp>
        <p:nvSpPr>
          <p:cNvPr id="55302" name="Content Placeholder 2"/>
          <p:cNvSpPr>
            <a:spLocks noGrp="1"/>
          </p:cNvSpPr>
          <p:nvPr>
            <p:ph sz="quarter" idx="1"/>
          </p:nvPr>
        </p:nvSpPr>
        <p:spPr>
          <a:xfrm>
            <a:off x="152400" y="609600"/>
            <a:ext cx="8763000" cy="6096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Hair color is due to pigment granules in the cells of the cortex.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Brown and black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hair are colored by a form of melanin called Eumelanin.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Blond hair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 a scanty amount of eumelanin but a moderate amount of sulfur-containing pigments called Pheomelanins.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has a slight amount of eumelanin but an aboundance of pheomelanins. White hair results from a lack of pigments in the cortex and a presence of air in the medulla.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5257800" cy="487362"/>
          </a:xfrm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en-US" b="1" dirty="0" smtClean="0">
                <a:solidFill>
                  <a:srgbClr val="7B9899"/>
                </a:solidFill>
              </a:rPr>
            </a:br>
            <a:br>
              <a:rPr lang="en-US" altLang="en-US" b="1" dirty="0" smtClean="0">
                <a:solidFill>
                  <a:srgbClr val="7B9899"/>
                </a:solidFill>
              </a:rPr>
            </a:br>
            <a:br>
              <a:rPr lang="en-US" altLang="en-US" b="1" dirty="0" smtClean="0">
                <a:solidFill>
                  <a:srgbClr val="7B9899"/>
                </a:solidFill>
              </a:rPr>
            </a:br>
            <a:r>
              <a:rPr lang="en-US" altLang="en-US" sz="2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NAILS</a:t>
            </a:r>
            <a:endParaRPr lang="en-US" altLang="en-US" sz="2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32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361C61F-8B1E-473A-A0C4-9659EDCE450A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EFD3A2-D35B-4582-98CB-A002B9D1B15B}" type="slidenum">
              <a:rPr lang="en-US"/>
            </a:fld>
            <a:endParaRPr lang="en-US"/>
          </a:p>
        </p:txBody>
      </p:sp>
      <p:sp>
        <p:nvSpPr>
          <p:cNvPr id="5632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28600" y="838200"/>
            <a:ext cx="8915400" cy="563880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Plates of stratified squamous epithelial cells with hard keratin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Protect distal ends of phalanges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Cells are keratinized in the nail root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Nail growth occurs in the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lunula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Cuticle is a fold of stratum </a:t>
            </a:r>
            <a:r>
              <a:rPr lang="en-US" alt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corneum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on the proximal end of nail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9"/>
          <p:cNvSpPr>
            <a:spLocks noGrp="1"/>
          </p:cNvSpPr>
          <p:nvPr>
            <p:ph type="title"/>
          </p:nvPr>
        </p:nvSpPr>
        <p:spPr>
          <a:xfrm>
            <a:off x="228600" y="274638"/>
            <a:ext cx="6172200" cy="487362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br>
              <a:rPr lang="en-US" altLang="en-US" b="1" dirty="0" smtClean="0"/>
            </a:br>
            <a:r>
              <a:rPr lang="en-US" altLang="en-US" sz="31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Nails</a:t>
            </a:r>
            <a:endParaRPr lang="en-US" altLang="en-US" sz="31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347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9147004-3C11-4684-85EE-79AE5EE6B9D3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996922-9B60-4C2F-A19A-25B2410598B5}" type="slidenum">
              <a:rPr lang="en-US"/>
            </a:fld>
            <a:endParaRPr lang="en-US"/>
          </a:p>
        </p:txBody>
      </p:sp>
      <p:sp>
        <p:nvSpPr>
          <p:cNvPr id="57350" name="Content Placeholder 10"/>
          <p:cNvSpPr>
            <a:spLocks noGrp="1"/>
          </p:cNvSpPr>
          <p:nvPr>
            <p:ph sz="quarter" idx="1"/>
          </p:nvPr>
        </p:nvSpPr>
        <p:spPr>
          <a:xfrm>
            <a:off x="0" y="609600"/>
            <a:ext cx="5181600" cy="58674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Nail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bed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overlaid by nail plate</a:t>
            </a:r>
            <a:endParaRPr lang="en-US" alt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Nail growth originates from </a:t>
            </a:r>
            <a:r>
              <a:rPr lang="en-US" altLang="en-US" sz="2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root</a:t>
            </a: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cells become keratinized</a:t>
            </a:r>
            <a:endParaRPr lang="en-US" alt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Cuticle is formed from stratum corneum</a:t>
            </a:r>
            <a:endParaRPr lang="en-US" alt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en-US" sz="28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351" name="Picture 2" descr="D:\digital_content\chapt06\art_library\color_art_library\06_07.jpg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3950" y="2327672"/>
            <a:ext cx="3749675" cy="2812256"/>
          </a:xfr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>
          <a:xfrm>
            <a:off x="2209800" y="0"/>
            <a:ext cx="5867400" cy="411163"/>
          </a:xfrm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b="1" smtClean="0"/>
            </a:br>
            <a:r>
              <a:rPr lang="en-US" altLang="en-US" b="1" smtClean="0"/>
              <a:t>Structure of Nails</a:t>
            </a:r>
            <a:br>
              <a:rPr lang="en-US" altLang="en-US" b="1" smtClean="0"/>
            </a:br>
            <a:endParaRPr lang="en-US" altLang="en-US" b="1" smtClean="0"/>
          </a:p>
        </p:txBody>
      </p:sp>
      <p:sp>
        <p:nvSpPr>
          <p:cNvPr id="5837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1F162E-984F-49FC-B18C-AF01C1ABFFF3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BDBB48-CBEF-4AD6-AA9A-C8025FBA46DD}" type="slidenum">
              <a:rPr lang="en-US"/>
            </a:fld>
            <a:endParaRPr lang="en-US"/>
          </a:p>
        </p:txBody>
      </p:sp>
      <p:pic>
        <p:nvPicPr>
          <p:cNvPr id="583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81000"/>
            <a:ext cx="2819400" cy="5867400"/>
          </a:xfrm>
          <a:noFill/>
        </p:spPr>
      </p:pic>
      <p:sp>
        <p:nvSpPr>
          <p:cNvPr id="58375" name="Content Placeholder 4"/>
          <p:cNvSpPr>
            <a:spLocks noGrp="1"/>
          </p:cNvSpPr>
          <p:nvPr>
            <p:ph sz="quarter" idx="2"/>
          </p:nvPr>
        </p:nvSpPr>
        <p:spPr>
          <a:xfrm>
            <a:off x="2743200" y="152400"/>
            <a:ext cx="6248400" cy="5616575"/>
          </a:xfrm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Tightly packed keratinized cells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Nail body: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visible portion pink due to underlying capillaries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free edge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appears white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Nail root: 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buried under skin layers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Lunula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is white due to thickened stratum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basale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Eponychium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cuticle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): stratum </a:t>
            </a:r>
            <a:r>
              <a:rPr lang="en-US" alt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corneum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Hyponychium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–the lower cuticle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D:\Media\Images\ch05\screens\ap1lf0507b_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81000"/>
            <a:ext cx="8686800" cy="5638800"/>
          </a:xfrm>
          <a:prstGeom prst="rect">
            <a:avLst/>
          </a:prstGeom>
          <a:noFill/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76200"/>
            <a:ext cx="84582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Sebaceous Glands</a:t>
            </a:r>
            <a:endParaRPr lang="en-US" altLang="en-US" sz="24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533400"/>
            <a:ext cx="6019800" cy="6324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alveolar glands found everywhere except palms of the hands and soles of the feet.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-285750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the ducts of these glands branch?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8800" lvl="1" indent="-285750" eaLnBrk="1" hangingPunct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these glands exo- or endocrine?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¨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Secrete an oily, lipid-rich secretion called sebum.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¨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Sebum is typically secreted into a hair follicle or occasionally onto the body surface.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¨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Sebum softens and lubricates the skin.  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Symbol" panose="05050102010706020507" pitchFamily="18" charset="2"/>
              <a:buChar char="¨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also decreases the skin’s permeability to water and is quite bactericidal</a:t>
            </a:r>
            <a:r>
              <a:rPr lang="en-US" altLang="en-US" sz="200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0420" name="Picture 3" descr="normal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72200" y="685800"/>
            <a:ext cx="2819400" cy="5486400"/>
          </a:xfrm>
          <a:noFill/>
        </p:spPr>
      </p:pic>
      <p:sp>
        <p:nvSpPr>
          <p:cNvPr id="6042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AB9890E-F597-4549-9642-C98056FE4EA2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E9C289-01AB-46FE-8B36-96A69AE12F22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04800"/>
            <a:ext cx="8610600" cy="609600"/>
          </a:xfrm>
          <a:solidFill>
            <a:schemeClr val="bg1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4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sebaceous gland is indicated by the arrow.  Note how its duct is unbranched and how it empties into a hair follicle.</a:t>
            </a:r>
            <a:endParaRPr lang="en-US" altLang="en-US" sz="240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4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C3E08B-D222-4FBA-A9EC-8BA138021008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07DC34-4CD9-4D20-A949-2A85869B8487}" type="slidenum">
              <a:rPr lang="en-US"/>
            </a:fld>
            <a:endParaRPr lang="en-US"/>
          </a:p>
        </p:txBody>
      </p:sp>
      <p:sp>
        <p:nvSpPr>
          <p:cNvPr id="61446" name="Rectangle 3"/>
          <p:cNvSpPr>
            <a:spLocks noChangeArrowheads="1"/>
          </p:cNvSpPr>
          <p:nvPr/>
        </p:nvSpPr>
        <p:spPr bwMode="auto">
          <a:xfrm>
            <a:off x="276225" y="1668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th-TH" altLang="en-US" sz="2400" smtClean="0">
              <a:solidFill>
                <a:prstClr val="black"/>
              </a:solidFill>
              <a:latin typeface="Times New Roman" panose="02020603050405020304" pitchFamily="18" charset="0"/>
              <a:ea typeface="EucrosiaUPC"/>
            </a:endParaRPr>
          </a:p>
        </p:txBody>
      </p:sp>
      <p:pic>
        <p:nvPicPr>
          <p:cNvPr id="61447" name="Picture 5" descr="t14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914400"/>
            <a:ext cx="8410575" cy="52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8" name="Line 6"/>
          <p:cNvSpPr>
            <a:spLocks noChangeShapeType="1"/>
          </p:cNvSpPr>
          <p:nvPr/>
        </p:nvSpPr>
        <p:spPr bwMode="auto">
          <a:xfrm flipH="1">
            <a:off x="5791200" y="2514600"/>
            <a:ext cx="228600" cy="990600"/>
          </a:xfrm>
          <a:prstGeom prst="line">
            <a:avLst/>
          </a:prstGeom>
          <a:noFill/>
          <a:ln w="7620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6324600" cy="5334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Sudoriferous Glands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533400"/>
            <a:ext cx="4800600" cy="60198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Sweat glands.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over the entire body except the nipples and portions of the external genitalia.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 2.5 million per person.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 2 types: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Merocrine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sweat glands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0600" lvl="1" indent="-533400" eaLnBrk="1" hangingPunct="1">
              <a:lnSpc>
                <a:spcPct val="150000"/>
              </a:lnSpc>
              <a:buFontTx/>
              <a:buAutoNum type="arabicPeriod"/>
            </a:pPr>
            <a:r>
              <a:rPr lang="en-US" altLang="en-US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Apocrine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sweat glands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468" name="Picture 6" descr="section through skin (44K bytes)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90"/>
          <a:stretch>
            <a:fillRect/>
          </a:stretch>
        </p:blipFill>
        <p:spPr>
          <a:xfrm>
            <a:off x="4876800" y="533400"/>
            <a:ext cx="4114800" cy="5867400"/>
          </a:xfrm>
          <a:solidFill>
            <a:srgbClr val="FFFFFF"/>
          </a:solidFill>
        </p:spPr>
      </p:pic>
      <p:sp>
        <p:nvSpPr>
          <p:cNvPr id="6246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9EFCAC-0017-4CBF-8FC8-54BAE9875221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7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F25C1F-5866-445C-B2C2-A9FABE158F25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162800" cy="381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Merocrine Sweat Glands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49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7DBEB39-C266-4487-B412-32CC4C80D9E2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2CF18E-E273-4C35-B76D-21D74F71F6B3}" type="slidenum">
              <a:rPr lang="en-US"/>
            </a:fld>
            <a:endParaRPr lang="en-US"/>
          </a:p>
        </p:txBody>
      </p:sp>
      <p:sp>
        <p:nvSpPr>
          <p:cNvPr id="6349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09600"/>
            <a:ext cx="9144000" cy="5867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More numerous than apocrine sweat glands.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Especially prominent on the palms, soles, and forehead.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Simple, coiled, tubular glands.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Duct empties into a funnel-shaped pore at the skin surface.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Major function of merocrine sweating is to cool the body </a:t>
            </a:r>
            <a:r>
              <a:rPr lang="en-US" altLang="en-US" sz="240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thermoregulation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152400"/>
            <a:ext cx="4800600" cy="5562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Merocrine sweat </a:t>
            </a: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a dilute watery solution of some salts (including NaCl), vitamin C, antibodies, small amounts of nitrogenous wastes (urea, uric acid, and ammonia), and lactic acid.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 of sweat is 4-6 creating a film on the body known as the acid mantle. 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an acidic environment is bacteriostatic – prevents bacterial reproduction and growth.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4515" name="Picture 3" descr="Scalp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5" r="5634"/>
          <a:stretch>
            <a:fillRect/>
          </a:stretch>
        </p:blipFill>
        <p:spPr>
          <a:xfrm>
            <a:off x="5105400" y="381000"/>
            <a:ext cx="3962400" cy="5791200"/>
          </a:xfrm>
          <a:noFill/>
        </p:spPr>
      </p:pic>
      <p:sp>
        <p:nvSpPr>
          <p:cNvPr id="6451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452631A-7492-43B4-92F0-54041E36800C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9CD545F-6FFB-49B8-B7B4-F06F655E2EFD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010400" cy="5334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Apocrine Sweat Glands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53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EB772B2-88EC-40D2-919E-28B506BF82E4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C00E8A-C5D0-41D0-BD40-436A70858970}" type="slidenum">
              <a:rPr lang="en-US"/>
            </a:fld>
            <a:endParaRPr lang="en-US"/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" y="533400"/>
            <a:ext cx="6172200" cy="5562600"/>
          </a:xfrm>
        </p:spPr>
        <p:txBody>
          <a:bodyPr rtlCol="0">
            <a:no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Symbol" panose="05050102010706020507" pitchFamily="18" charset="2"/>
              <a:buChar char="¨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Found primarily in the axillary, pubic, and anal regions of the body.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Symbol" panose="05050102010706020507" pitchFamily="18" charset="2"/>
              <a:buChar char="¨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found in the facial region in men only.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Symbol" panose="05050102010706020507" pitchFamily="18" charset="2"/>
              <a:buChar char="¨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Larger then merocrine sweat glands. 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Symbol" panose="05050102010706020507" pitchFamily="18" charset="2"/>
              <a:buChar char="¨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Ducts empty into hair follicles.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Symbol" panose="05050102010706020507" pitchFamily="18" charset="2"/>
              <a:buChar char="¨"/>
              <a:defRPr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Apocrine sweat is thicker than merocrine sweat since it contains more lipids and proteins. When it’s degraded by epidermal bacteria, foul odors can be produced.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-27432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2400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543" name="Picture 3" descr="f2.jpg (45226 bytes)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07" r="8914"/>
          <a:stretch>
            <a:fillRect/>
          </a:stretch>
        </p:blipFill>
        <p:spPr bwMode="auto">
          <a:xfrm>
            <a:off x="6172200" y="228600"/>
            <a:ext cx="2800350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0866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Apocrine Sweat Glands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574E549-80F0-4D74-A50D-C804AA67583F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36BDAB-0887-4425-9446-ED7BAB7C0F4C}" type="slidenum">
              <a:rPr lang="en-US"/>
            </a:fld>
            <a:endParaRPr lang="en-US"/>
          </a:p>
        </p:txBody>
      </p:sp>
      <p:sp>
        <p:nvSpPr>
          <p:cNvPr id="6656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85800"/>
            <a:ext cx="9144000" cy="41910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Become active at puberty.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Secrete sweat during times of pain, stress, and sexual activity.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May (??) have a possible pheromone-like function.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  <a:buFont typeface="Symbol" panose="05050102010706020507" pitchFamily="18" charset="2"/>
              <a:buChar char="¨"/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Play no role in thermoregulation</a:t>
            </a:r>
            <a:r>
              <a:rPr lang="en-US" altLang="en-US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7" name="Text Box 2"/>
          <p:cNvSpPr txBox="1">
            <a:spLocks noChangeArrowheads="1"/>
          </p:cNvSpPr>
          <p:nvPr/>
        </p:nvSpPr>
        <p:spPr bwMode="auto">
          <a:xfrm>
            <a:off x="76200" y="3459163"/>
            <a:ext cx="891540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400" i="1" u="sng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</a:t>
            </a:r>
            <a:r>
              <a:rPr lang="en-US" altLang="en-US" sz="2400" i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Glands are derivatives of epithelial tissue.  So even though many reside in the dermis, they are not made from connective tissue.</a:t>
            </a:r>
            <a:endParaRPr lang="en-US" altLang="en-US" sz="2400" i="1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6248400" cy="7620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Ceruminous Glands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3305175"/>
            <a:ext cx="9144000" cy="3705225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Secrete a sticky waxy substance called </a:t>
            </a:r>
            <a:r>
              <a:rPr lang="en-US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cerumen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earwax</a:t>
            </a: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 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with sebum and dead epidermal cells to form a bitter compound that offers a barrier to entry of the ear.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7588" name="Picture 3" descr="earwax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57800" y="152400"/>
            <a:ext cx="3657600" cy="2198688"/>
          </a:xfrm>
          <a:noFill/>
        </p:spPr>
      </p:pic>
      <p:sp>
        <p:nvSpPr>
          <p:cNvPr id="67589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DB9723-EA01-4582-A34B-A6C1BBE2DFCB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90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9DD4D0-AF61-4B9F-AC3D-E8B131492D1C}" type="slidenum">
              <a:rPr lang="en-US" smtClean="0"/>
            </a:fld>
            <a:endParaRPr lang="en-US"/>
          </a:p>
        </p:txBody>
      </p:sp>
      <p:sp>
        <p:nvSpPr>
          <p:cNvPr id="67592" name="Rectangle 5"/>
          <p:cNvSpPr>
            <a:spLocks noChangeArrowheads="1"/>
          </p:cNvSpPr>
          <p:nvPr/>
        </p:nvSpPr>
        <p:spPr bwMode="auto">
          <a:xfrm>
            <a:off x="76200" y="2351088"/>
            <a:ext cx="8229600" cy="9540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altLang="en-US" sz="2800" smtClean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Modified apocrine glands found in the inner lining of the external ear canal.</a:t>
            </a:r>
            <a:endParaRPr lang="en-US" altLang="en-US" sz="2800" smtClean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9144000" cy="609600"/>
          </a:xfrm>
          <a:ln>
            <a:solidFill>
              <a:schemeClr val="bg1"/>
            </a:solidFill>
            <a:miter lim="800000"/>
          </a:ln>
        </p:spPr>
        <p:txBody>
          <a:bodyPr/>
          <a:lstStyle/>
          <a:p>
            <a:pPr eaLnBrk="1" hangingPunct="1"/>
            <a:r>
              <a:rPr lang="en-US" altLang="en-US" sz="28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Disorders of the Integumentary System </a:t>
            </a:r>
            <a:endParaRPr lang="en-US" altLang="en-US" sz="2800" b="1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1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C5C7551-2C55-47EF-91A8-15B2B9FA1931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2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CBE015-7E28-4E26-9DBA-9BC3CD81F857}" type="slidenum">
              <a:rPr lang="en-US"/>
            </a:fld>
            <a:endParaRPr lang="en-US"/>
          </a:p>
        </p:txBody>
      </p:sp>
      <p:sp>
        <p:nvSpPr>
          <p:cNvPr id="5632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85800"/>
            <a:ext cx="9144000" cy="61722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Acne vulgaris </a:t>
            </a:r>
            <a:endParaRPr lang="en-US" alt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Caused by increased secretion of oil by sebaceous glands related to increased hormones during puberty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Albinism</a:t>
            </a: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Inherited disorder in which melanin is not produced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Alopecia</a:t>
            </a:r>
            <a:endParaRPr lang="en-US" alt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Baldness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Athlete’s foot</a:t>
            </a:r>
            <a:endParaRPr lang="en-US" alt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Contagious fungal infection of the foot Cellulitis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Bacterial infection of the dermis and subcutaneous layer of the skin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Chloasma</a:t>
            </a:r>
            <a:endParaRPr lang="en-US" alt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Patchy discoloration of the face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dermatitis</a:t>
            </a:r>
            <a:endParaRPr lang="en-US" altLang="en-US" sz="2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Allergic reaction that may occur after initial contact or as an acquired response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b="1" dirty="0" smtClean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b="1" dirty="0" smtClean="0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altLang="en-US" sz="2400" b="1" dirty="0" smtClean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4842BEF-C8F7-4E55-9E91-BC7FDB9E7DBD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5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F63F96-3382-4C89-B1AE-40E9CA9D7D4C}" type="slidenum">
              <a:rPr lang="en-US"/>
            </a:fld>
            <a:endParaRPr lang="en-US"/>
          </a:p>
        </p:txBody>
      </p:sp>
      <p:sp>
        <p:nvSpPr>
          <p:cNvPr id="57349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152400" y="228600"/>
            <a:ext cx="8686800" cy="63246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Dandruff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White flakes of dead skin cells from the scalp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Decubitus ulcers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Sores or areas of inflammation that occur over bony prominences of the body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Eczema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Group of disorders caused by allergic or irritant reactions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Fungal skin infections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Skin infections that live on dead outer surface or epidermis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Furuncle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Boil, or bacterial infection of a hair follicle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Hirsutism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Abnormal amount of hair growth in unusual places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Impetigo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Very contagious bacterial skin infection that occurs most often in children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 typeface="Wingdings 2" panose="05020102010507070707" pitchFamily="18" charset="2"/>
              <a:buNone/>
              <a:defRPr/>
            </a:pPr>
            <a:r>
              <a:rPr lang="en-US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Kaposi’s sarcoma</a:t>
            </a:r>
            <a:endParaRPr lang="en-US" alt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Form of cancer that originates in blood vessels and spreads to skin</a:t>
            </a:r>
            <a:endParaRPr lang="en-US" alt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30695AB-34D1-4A29-A704-2A7D28B3FB7F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0F978A0-2734-4D93-B4E3-0D7C859B1E64}" type="slidenum">
              <a:rPr lang="en-US"/>
            </a:fld>
            <a:endParaRPr lang="en-US"/>
          </a:p>
        </p:txBody>
      </p:sp>
      <p:sp>
        <p:nvSpPr>
          <p:cNvPr id="5837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52400"/>
            <a:ext cx="8382000" cy="6248400"/>
          </a:xfrm>
        </p:spPr>
        <p:txBody>
          <a:bodyPr/>
          <a:lstStyle/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Vitiligo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Condition that causes loss of pigment in the skin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Wart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Papule caused by a viral infection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 cancer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Three forms are basal, squamous, and melanoma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 lesions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Differ in texture, color, location, and rate of growth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 typeface="Wingdings 2" panose="05020102010507070707" pitchFamily="18" charset="2"/>
              <a:buNone/>
              <a:defRPr/>
            </a:pPr>
            <a:r>
              <a:rPr lang="en-US" alt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Streptococcus </a:t>
            </a:r>
            <a:endParaRPr lang="en-US" alt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  <a:defRPr/>
            </a:pPr>
            <a:r>
              <a:rPr lang="en-US" alt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Non-motile bacteria that affect many parts of the body</a:t>
            </a:r>
            <a:endParaRPr lang="en-US" alt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defRPr/>
            </a:pPr>
            <a:endParaRPr lang="en-US" altLang="en-US" sz="2400" b="1" dirty="0" smtClean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54864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Cancer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457200"/>
            <a:ext cx="9144000" cy="31242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its role as our external covering, the skin takes a tremendous amount of abuse.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One serious disorder that can result is skin cancer.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Cancer can be thought of as uncontrolled cell division and growth.  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types of skin cancers </a:t>
            </a: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 will discuss:</a:t>
            </a:r>
            <a:endParaRPr lang="en-US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Basal cell carcinoma</a:t>
            </a:r>
            <a:endParaRPr lang="en-US" altLang="en-US" sz="20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Squamous cell carcinoma</a:t>
            </a:r>
            <a:endParaRPr lang="en-US" altLang="en-US" sz="20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z="20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Malignant melanoma</a:t>
            </a:r>
            <a:endParaRPr lang="en-US" altLang="en-US" sz="2000" b="1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2708" name="Picture 3" descr="what_is_cancer1a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625" y="4495800"/>
            <a:ext cx="1666875" cy="1666875"/>
          </a:xfrm>
          <a:noFill/>
        </p:spPr>
      </p:pic>
      <p:pic>
        <p:nvPicPr>
          <p:cNvPr id="72709" name="Picture 6" descr="what_is_cancer2a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1400" y="4267200"/>
            <a:ext cx="1666875" cy="1666875"/>
          </a:xfrm>
          <a:noFill/>
        </p:spPr>
      </p:pic>
      <p:sp>
        <p:nvSpPr>
          <p:cNvPr id="72710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D9D1D10-61AA-4A22-A960-21432C61ECD3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1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EBFD5B-DD00-4EDE-BBB3-4E7EE305637E}" type="slidenum">
              <a:rPr lang="en-US" smtClean="0"/>
            </a:fld>
            <a:endParaRPr lang="en-US"/>
          </a:p>
        </p:txBody>
      </p:sp>
      <p:pic>
        <p:nvPicPr>
          <p:cNvPr id="72713" name="Picture 9" descr="what_is_cancer3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343400"/>
            <a:ext cx="16668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0" y="6172200"/>
            <a:ext cx="3276600" cy="400050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smtClean="0">
                <a:solidFill>
                  <a:prstClr val="black"/>
                </a:solidFill>
                <a:latin typeface="Times New Roman" panose="02020603050405020304" pitchFamily="18" charset="0"/>
              </a:rPr>
              <a:t>An abnormal cell develops</a:t>
            </a:r>
            <a:endParaRPr lang="en-US" altLang="en-US" sz="20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5" name="Text Box 11"/>
          <p:cNvSpPr txBox="1">
            <a:spLocks noChangeArrowheads="1"/>
          </p:cNvSpPr>
          <p:nvPr/>
        </p:nvSpPr>
        <p:spPr bwMode="auto">
          <a:xfrm>
            <a:off x="3048000" y="6019800"/>
            <a:ext cx="3200400" cy="708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smtClean="0">
                <a:solidFill>
                  <a:prstClr val="black"/>
                </a:solidFill>
                <a:latin typeface="Times New Roman" panose="02020603050405020304" pitchFamily="18" charset="0"/>
              </a:rPr>
              <a:t>From abnormal cells, a cancerous cell develops</a:t>
            </a:r>
            <a:endParaRPr lang="en-US" altLang="en-US" sz="20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6400800" y="6019800"/>
            <a:ext cx="2743200" cy="708025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smtClean="0">
                <a:solidFill>
                  <a:prstClr val="black"/>
                </a:solidFill>
                <a:latin typeface="Times New Roman" panose="02020603050405020304" pitchFamily="18" charset="0"/>
              </a:rPr>
              <a:t>Cancerous cells spread, forming a tumor</a:t>
            </a:r>
            <a:endParaRPr lang="en-US" altLang="en-US" sz="20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7" name="Line 13"/>
          <p:cNvSpPr>
            <a:spLocks noChangeShapeType="1"/>
          </p:cNvSpPr>
          <p:nvPr/>
        </p:nvSpPr>
        <p:spPr bwMode="auto">
          <a:xfrm>
            <a:off x="2286000" y="4800600"/>
            <a:ext cx="1066800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18" name="Line 14"/>
          <p:cNvSpPr>
            <a:spLocks noChangeShapeType="1"/>
          </p:cNvSpPr>
          <p:nvPr/>
        </p:nvSpPr>
        <p:spPr bwMode="auto">
          <a:xfrm>
            <a:off x="5334000" y="4800600"/>
            <a:ext cx="1066800" cy="0"/>
          </a:xfrm>
          <a:prstGeom prst="line">
            <a:avLst/>
          </a:prstGeom>
          <a:noFill/>
          <a:ln w="76200">
            <a:solidFill>
              <a:srgbClr val="FFFFFF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4343400" cy="457200"/>
          </a:xfrm>
          <a:solidFill>
            <a:srgbClr val="FFFFFF"/>
          </a:solidFill>
          <a:ln>
            <a:solidFill>
              <a:schemeClr val="bg1"/>
            </a:solidFill>
            <a:miter lim="800000"/>
          </a:ln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Cancer</a:t>
            </a:r>
            <a:endParaRPr lang="en-US" altLang="en-US" sz="2800" b="1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609600"/>
            <a:ext cx="5562600" cy="53340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sz="24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Basal cell carcinoma</a:t>
            </a:r>
            <a:endParaRPr lang="en-US" altLang="en-US" sz="2400" b="1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(70% of skin cancers)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Least vicious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Usually cured via surgical removal 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uncontrolled growth of cells of the stratum basale.  They’ll proliferate and invade the dermis and hypodermis.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occurs on sun-exposed areas of face and neck</a:t>
            </a:r>
            <a:endParaRPr lang="en-US" altLang="en-US" sz="22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en-US" b="1" smtClean="0">
              <a:solidFill>
                <a:srgbClr val="002060"/>
              </a:solidFill>
            </a:endParaRPr>
          </a:p>
        </p:txBody>
      </p:sp>
      <p:sp>
        <p:nvSpPr>
          <p:cNvPr id="7373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78448E-AE4A-45BA-8003-1196BBC2A3C0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832CE3-D80E-420F-91B8-D356E282075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0"/>
            <a:ext cx="5105400" cy="6553200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US" altLang="en-US" sz="2400" b="1" smtClean="0">
                <a:solidFill>
                  <a:srgbClr val="002060"/>
                </a:solidFill>
              </a:rPr>
              <a:t>Squamous cell carcinoma</a:t>
            </a:r>
            <a:endParaRPr lang="en-US" altLang="en-US" sz="2400" b="1" smtClean="0">
              <a:solidFill>
                <a:srgbClr val="00206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Arises from keratinocytes of stratum spinosum.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25% of cases.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Good prognosis if caught and treated early (surgical excision or radiation).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fatal if it metastasizes to the lymph nodes.</a:t>
            </a:r>
            <a:endParaRPr lang="en-US" altLang="en-US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endParaRPr lang="en-US" altLang="en-US" smtClean="0">
              <a:solidFill>
                <a:srgbClr val="002060"/>
              </a:solidFill>
            </a:endParaRPr>
          </a:p>
        </p:txBody>
      </p:sp>
      <p:pic>
        <p:nvPicPr>
          <p:cNvPr id="74755" name="Picture 3" descr="squacell"/>
          <p:cNvPicPr>
            <a:picLocks noGrp="1" noChangeAspect="1" noChangeArrowheads="1"/>
          </p:cNvPicPr>
          <p:nvPr>
            <p:ph sz="half" idx="2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1828800"/>
            <a:ext cx="3352800" cy="3200400"/>
          </a:xfrm>
          <a:noFill/>
        </p:spPr>
      </p:pic>
      <p:sp>
        <p:nvSpPr>
          <p:cNvPr id="74756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54E7BA1-23CC-4182-8022-D19C6C25450B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7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3BED82-09ED-4422-A8E5-05C1C119D9F7}" type="slidenum">
              <a:rPr lang="en-US" smtClean="0"/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45485D4-D2AA-4A8D-80EC-C2EEE70B1E41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79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081900-AE7E-4873-835A-3F714C82A8EE}" type="slidenum">
              <a:rPr lang="en-US"/>
            </a:fld>
            <a:endParaRPr lang="en-US"/>
          </a:p>
        </p:txBody>
      </p:sp>
      <p:sp>
        <p:nvSpPr>
          <p:cNvPr id="7578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0"/>
            <a:ext cx="6019800" cy="6096000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90000"/>
              </a:lnSpc>
              <a:buFont typeface="Wingdings 2" panose="05020102010507070707" pitchFamily="18" charset="2"/>
              <a:buNone/>
            </a:pPr>
            <a:r>
              <a:rPr lang="en-US" altLang="en-US" sz="2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Malignant melanoma</a:t>
            </a:r>
            <a:endParaRPr lang="en-US" altLang="en-US" sz="2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Least common and most dangerous.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Cancer of melanocytes.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Often arises from a pre-existing mole.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 the ABCD rule for early detection: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symmetry (2 sides do not match)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order irregularity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olor (multiple)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FontTx/>
              <a:buNone/>
            </a:pP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iameter (&gt;6mm is bad!)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782" name="Picture 3" descr="malmel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6" r="6383"/>
          <a:stretch>
            <a:fillRect/>
          </a:stretch>
        </p:blipFill>
        <p:spPr bwMode="auto">
          <a:xfrm>
            <a:off x="4800600" y="2938462"/>
            <a:ext cx="4133850" cy="315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7620000" cy="457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2800" b="1" smtClean="0">
                <a:solidFill>
                  <a:srgbClr val="7B98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and Innovations</a:t>
            </a:r>
            <a:endParaRPr lang="en-US" altLang="en-US" sz="2800" b="1" smtClean="0">
              <a:solidFill>
                <a:srgbClr val="7B98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3" name="Date Placeholder 1"/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36E0D544-7830-4B88-8893-216273CC431F}" type="datetime1">
              <a:rPr lang="en-US" altLang="en-U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</a:fld>
            <a:endParaRPr lang="en-US" altLang="en-US" sz="14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684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compatLnSpc="1"/>
          <a:lstStyle>
            <a:lvl1pPr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smtClean="0">
                <a:solidFill>
                  <a:srgbClr val="FFFFFF"/>
                </a:solidFill>
                <a:latin typeface="Times New Roman" panose="02020603050405020304" pitchFamily="18" charset="0"/>
              </a:rPr>
              <a:t>By: Rebuma S(MSc, MPHE)</a:t>
            </a:r>
            <a:endParaRPr lang="en-US" altLang="en-US" sz="1200" smtClean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F6B0E9-14A7-49EF-AA66-DBB673056561}" type="slidenum">
              <a:rPr lang="en-US"/>
            </a:fld>
            <a:endParaRPr lang="en-US"/>
          </a:p>
        </p:txBody>
      </p:sp>
      <p:sp>
        <p:nvSpPr>
          <p:cNvPr id="7168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762000"/>
            <a:ext cx="9144000" cy="53641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80720" algn="l"/>
              </a:tabLst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Skin and hair care 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680720" algn="l"/>
              </a:tabLst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Skin care products include soap, astringents, and cosmetics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680720" algn="l"/>
              </a:tabLst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Ways to remove hair include wax, depilatory creams, and electrolysis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680720" algn="l"/>
              </a:tabLst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Sun and skin cancer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680720" algn="l"/>
              </a:tabLst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Damage by ultraviolet rays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  <a:tabLst>
                <a:tab pos="680720" algn="l"/>
              </a:tabLst>
            </a:pPr>
            <a:r>
              <a:rPr lang="en-US" altLang="en-US" sz="2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– Types of skin cancer</a:t>
            </a:r>
            <a:endParaRPr lang="en-US" altLang="en-US" sz="24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  <a:tabLst>
                <a:tab pos="680720" algn="l"/>
              </a:tabLst>
            </a:pPr>
            <a:endParaRPr lang="en-US" altLang="en-US" sz="2800" b="1" smtClean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17160</Words>
  <Application>WPS Presentation</Application>
  <PresentationFormat>On-screen Show (4:3)</PresentationFormat>
  <Paragraphs>778</Paragraphs>
  <Slides>52</Slides>
  <Notes>94</Notes>
  <HiddenSlides>0</HiddenSlides>
  <MMClips>0</MMClips>
  <ScaleCrop>false</ScaleCrop>
  <HeadingPairs>
    <vt:vector size="8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52</vt:i4>
      </vt:variant>
    </vt:vector>
  </HeadingPairs>
  <TitlesOfParts>
    <vt:vector size="79" baseType="lpstr">
      <vt:lpstr>Arial</vt:lpstr>
      <vt:lpstr>SimSun</vt:lpstr>
      <vt:lpstr>Wingdings</vt:lpstr>
      <vt:lpstr>Wingdings 2</vt:lpstr>
      <vt:lpstr>Courier New</vt:lpstr>
      <vt:lpstr>Times New Roman</vt:lpstr>
      <vt:lpstr>Wingdings 2</vt:lpstr>
      <vt:lpstr>Perpetua</vt:lpstr>
      <vt:lpstr>Symbol</vt:lpstr>
      <vt:lpstr>Wingdings</vt:lpstr>
      <vt:lpstr>EucrosiaUPC</vt:lpstr>
      <vt:lpstr>Ethiopic Addis</vt:lpstr>
      <vt:lpstr>Calibri</vt:lpstr>
      <vt:lpstr>Microsoft YaHei</vt:lpstr>
      <vt:lpstr>Arial Unicode MS</vt:lpstr>
      <vt:lpstr>Franklin Gothic Book</vt:lpstr>
      <vt:lpstr>Tahoma</vt:lpstr>
      <vt:lpstr>Bookman Old Style</vt:lpstr>
      <vt:lpstr>Algerian</vt:lpstr>
      <vt:lpstr>Baskerville Old Face</vt:lpstr>
      <vt:lpstr>Aharoni</vt:lpstr>
      <vt:lpstr>BankGothic Md BT</vt:lpstr>
      <vt:lpstr>BankGothic Lt BT</vt:lpstr>
      <vt:lpstr>Angsana New</vt:lpstr>
      <vt:lpstr>Equity</vt:lpstr>
      <vt:lpstr>MSPhotoEd.3</vt:lpstr>
      <vt:lpstr>MSPhotoEd.3</vt:lpstr>
      <vt:lpstr>PowerPoint 演示文稿</vt:lpstr>
      <vt:lpstr>Some Facts about Skin</vt:lpstr>
      <vt:lpstr>General Functions of the Integumentary System</vt:lpstr>
      <vt:lpstr>Skin Types</vt:lpstr>
      <vt:lpstr>PowerPoint 演示文稿</vt:lpstr>
      <vt:lpstr>PowerPoint 演示文稿</vt:lpstr>
      <vt:lpstr>Basic Skin Structure</vt:lpstr>
      <vt:lpstr>The Epidermis</vt:lpstr>
      <vt:lpstr>Keratinocytes</vt:lpstr>
      <vt:lpstr>Keratinocytes</vt:lpstr>
      <vt:lpstr>Melanocytes</vt:lpstr>
      <vt:lpstr>Melanocytes</vt:lpstr>
      <vt:lpstr>PowerPoint 演示文稿</vt:lpstr>
      <vt:lpstr>Stratum Basale</vt:lpstr>
      <vt:lpstr>Stratum Spinosum</vt:lpstr>
      <vt:lpstr>Stratum Granulosum</vt:lpstr>
      <vt:lpstr>Stratum Lucidum</vt:lpstr>
      <vt:lpstr>Stratum Corneum</vt:lpstr>
      <vt:lpstr>Thick and thin skin</vt:lpstr>
      <vt:lpstr>PowerPoint 演示文稿</vt:lpstr>
      <vt:lpstr>Skin Color</vt:lpstr>
      <vt:lpstr>PowerPoint 演示文稿</vt:lpstr>
      <vt:lpstr>Dermis</vt:lpstr>
      <vt:lpstr>Dermis</vt:lpstr>
      <vt:lpstr>Subcutaneous Tissue</vt:lpstr>
      <vt:lpstr>Appendages of the Skin</vt:lpstr>
      <vt:lpstr>Hair and Hair Follicles</vt:lpstr>
      <vt:lpstr>Hair and Hair Follicles</vt:lpstr>
      <vt:lpstr>Hair and Hair Follicles</vt:lpstr>
      <vt:lpstr>Hair and Hair Follicles</vt:lpstr>
      <vt:lpstr>The arrow indicates an arrector pili muscle.  In this picture, you should also try to identify the shaft, root, follicle, hair papilla, and sebaceous gland.</vt:lpstr>
      <vt:lpstr>Types of hair </vt:lpstr>
      <vt:lpstr>Color of Hair</vt:lpstr>
      <vt:lpstr>   NAILS</vt:lpstr>
      <vt:lpstr> Nails</vt:lpstr>
      <vt:lpstr> Structure of Nails </vt:lpstr>
      <vt:lpstr>Sebaceous Glands</vt:lpstr>
      <vt:lpstr>The sebaceous gland is indicated by the arrow.  Note how its duct is unbranched and how it empties into a hair follicle.</vt:lpstr>
      <vt:lpstr>Sudoriferous Glands</vt:lpstr>
      <vt:lpstr>Merocrine Sweat Glands</vt:lpstr>
      <vt:lpstr>PowerPoint 演示文稿</vt:lpstr>
      <vt:lpstr>Apocrine Sweat Glands</vt:lpstr>
      <vt:lpstr>Apocrine Sweat Glands</vt:lpstr>
      <vt:lpstr>Ceruminous Glands</vt:lpstr>
      <vt:lpstr>Disorders of the Integumentary System </vt:lpstr>
      <vt:lpstr>PowerPoint 演示文稿</vt:lpstr>
      <vt:lpstr>PowerPoint 演示文稿</vt:lpstr>
      <vt:lpstr>Skin Cancer</vt:lpstr>
      <vt:lpstr>Skin Cancer</vt:lpstr>
      <vt:lpstr>PowerPoint 演示文稿</vt:lpstr>
      <vt:lpstr>PowerPoint 演示文稿</vt:lpstr>
      <vt:lpstr>Issues and Innovations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daved</cp:lastModifiedBy>
  <cp:revision>52</cp:revision>
  <dcterms:created xsi:type="dcterms:W3CDTF">2025-10-01T03:43:00Z</dcterms:created>
  <dcterms:modified xsi:type="dcterms:W3CDTF">2026-10-01T22:44:16Z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45106DF8F437419CA20B08255412436E_12</vt:lpwstr>
  </property>
</Properties>
</file>